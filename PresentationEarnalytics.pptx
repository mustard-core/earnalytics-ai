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Calibri" panose="020F0502020204030204" pitchFamily="34" charset="0"/>
      <p:regular r:id="rId16"/>
      <p:bold r:id="rId17"/>
      <p:italic r:id="rId18"/>
      <p:boldItalic r:id="rId19"/>
    </p:embeddedFont>
    <p:embeddedFont>
      <p:font typeface="Cardo" panose="020B0604020202020204" charset="-79"/>
      <p:regular r:id="rId20"/>
    </p:embeddedFont>
    <p:embeddedFont>
      <p:font typeface="Didact Gothic" panose="020B0604020202020204" charset="0"/>
      <p:regular r:id="rId21"/>
    </p:embeddedFont>
    <p:embeddedFont>
      <p:font typeface="NSimSun" panose="02010609030101010101" pitchFamily="49" charset="-122"/>
      <p:regular r:id="rId22"/>
    </p:embeddedFont>
    <p:embeddedFont>
      <p:font typeface="Palatino Linotype" panose="02040502050505030304" pitchFamily="18" charset="0"/>
      <p:regular r:id="rId23"/>
      <p:bold r:id="rId24"/>
      <p:italic r:id="rId25"/>
      <p:boldItalic r:id="rId26"/>
    </p:embeddedFont>
    <p:embeddedFont>
      <p:font typeface="Public Sans" panose="020B0604020202020204" charset="0"/>
      <p:regular r:id="rId27"/>
    </p:embeddedFont>
    <p:embeddedFont>
      <p:font typeface="Public Sans Bold" panose="020B0604020202020204"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4" d="100"/>
          <a:sy n="54" d="100"/>
        </p:scale>
        <p:origin x="336"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B7AE64-9DFC-4A11-BF9A-DE51B6D44399}" type="datetimeFigureOut">
              <a:rPr lang="en-ZA" smtClean="0"/>
              <a:t>2025/10/20</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7F1A54-8157-4CCB-8FEE-E8BDDA18AA75}" type="slidenum">
              <a:rPr lang="en-ZA" smtClean="0"/>
              <a:t>‹#›</a:t>
            </a:fld>
            <a:endParaRPr lang="en-ZA"/>
          </a:p>
        </p:txBody>
      </p:sp>
    </p:spTree>
    <p:extLst>
      <p:ext uri="{BB962C8B-B14F-4D97-AF65-F5344CB8AC3E}">
        <p14:creationId xmlns:p14="http://schemas.microsoft.com/office/powerpoint/2010/main" val="1574736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347F1A54-8157-4CCB-8FEE-E8BDDA18AA75}" type="slidenum">
              <a:rPr lang="en-ZA" smtClean="0"/>
              <a:t>11</a:t>
            </a:fld>
            <a:endParaRPr lang="en-ZA"/>
          </a:p>
        </p:txBody>
      </p:sp>
    </p:spTree>
    <p:extLst>
      <p:ext uri="{BB962C8B-B14F-4D97-AF65-F5344CB8AC3E}">
        <p14:creationId xmlns:p14="http://schemas.microsoft.com/office/powerpoint/2010/main" val="27169816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4791364">
            <a:off x="9738483" y="5143501"/>
            <a:ext cx="10464870" cy="0"/>
          </a:xfrm>
          <a:prstGeom prst="line">
            <a:avLst/>
          </a:prstGeom>
          <a:ln w="9525" cap="rnd">
            <a:solidFill>
              <a:srgbClr val="5FCBEF"/>
            </a:solidFill>
            <a:prstDash val="solid"/>
            <a:headEnd type="none" w="sm" len="sm"/>
            <a:tailEnd type="none" w="sm" len="sm"/>
          </a:ln>
        </p:spPr>
      </p:sp>
      <p:sp>
        <p:nvSpPr>
          <p:cNvPr id="3" name="AutoShape 3"/>
          <p:cNvSpPr/>
          <p:nvPr/>
        </p:nvSpPr>
        <p:spPr>
          <a:xfrm rot="8776573">
            <a:off x="10406482" y="7904561"/>
            <a:ext cx="8608175" cy="0"/>
          </a:xfrm>
          <a:prstGeom prst="line">
            <a:avLst/>
          </a:prstGeom>
          <a:ln w="9525" cap="rnd">
            <a:solidFill>
              <a:srgbClr val="5FCBEF"/>
            </a:solidFill>
            <a:prstDash val="solid"/>
            <a:headEnd type="none" w="sm" len="sm"/>
            <a:tailEnd type="none" w="sm" len="sm"/>
          </a:ln>
        </p:spPr>
      </p:sp>
      <p:grpSp>
        <p:nvGrpSpPr>
          <p:cNvPr id="4" name="Group 4"/>
          <p:cNvGrpSpPr/>
          <p:nvPr/>
        </p:nvGrpSpPr>
        <p:grpSpPr>
          <a:xfrm>
            <a:off x="13772214" y="-12700"/>
            <a:ext cx="4511024" cy="10299701"/>
            <a:chOff x="0" y="0"/>
            <a:chExt cx="6014698" cy="13732935"/>
          </a:xfrm>
        </p:grpSpPr>
        <p:sp>
          <p:nvSpPr>
            <p:cNvPr id="5" name="Freeform 5"/>
            <p:cNvSpPr/>
            <p:nvPr/>
          </p:nvSpPr>
          <p:spPr>
            <a:xfrm>
              <a:off x="0" y="0"/>
              <a:ext cx="6014720" cy="13732890"/>
            </a:xfrm>
            <a:custGeom>
              <a:avLst/>
              <a:gdLst/>
              <a:ahLst/>
              <a:cxnLst/>
              <a:rect l="l" t="t" r="r" b="b"/>
              <a:pathLst>
                <a:path w="6014720" h="1373289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id="6" name="Group 6"/>
          <p:cNvGrpSpPr/>
          <p:nvPr/>
        </p:nvGrpSpPr>
        <p:grpSpPr>
          <a:xfrm>
            <a:off x="14405163" y="-12700"/>
            <a:ext cx="3882837" cy="10299701"/>
            <a:chOff x="0" y="0"/>
            <a:chExt cx="5177116" cy="13732935"/>
          </a:xfrm>
        </p:grpSpPr>
        <p:sp>
          <p:nvSpPr>
            <p:cNvPr id="7" name="Freeform 7"/>
            <p:cNvSpPr/>
            <p:nvPr/>
          </p:nvSpPr>
          <p:spPr>
            <a:xfrm>
              <a:off x="0" y="0"/>
              <a:ext cx="5177155" cy="13732890"/>
            </a:xfrm>
            <a:custGeom>
              <a:avLst/>
              <a:gdLst/>
              <a:ahLst/>
              <a:cxnLst/>
              <a:rect l="l" t="t" r="r" b="b"/>
              <a:pathLst>
                <a:path w="5177155" h="13732890">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id="8" name="Group 8"/>
          <p:cNvGrpSpPr/>
          <p:nvPr/>
        </p:nvGrpSpPr>
        <p:grpSpPr>
          <a:xfrm>
            <a:off x="13398499" y="4572001"/>
            <a:ext cx="4889501" cy="5715000"/>
            <a:chOff x="0" y="0"/>
            <a:chExt cx="6519334" cy="7620000"/>
          </a:xfrm>
        </p:grpSpPr>
        <p:sp>
          <p:nvSpPr>
            <p:cNvPr id="9" name="Freeform 9"/>
            <p:cNvSpPr/>
            <p:nvPr/>
          </p:nvSpPr>
          <p:spPr>
            <a:xfrm>
              <a:off x="0" y="0"/>
              <a:ext cx="6519291" cy="7620000"/>
            </a:xfrm>
            <a:custGeom>
              <a:avLst/>
              <a:gdLst/>
              <a:ahLst/>
              <a:cxnLst/>
              <a:rect l="l" t="t" r="r" b="b"/>
              <a:pathLst>
                <a:path w="6519291" h="7620000">
                  <a:moveTo>
                    <a:pt x="0" y="7620000"/>
                  </a:moveTo>
                  <a:lnTo>
                    <a:pt x="6519291" y="0"/>
                  </a:lnTo>
                  <a:lnTo>
                    <a:pt x="6519291" y="7620000"/>
                  </a:lnTo>
                  <a:close/>
                </a:path>
              </a:pathLst>
            </a:custGeom>
            <a:solidFill>
              <a:srgbClr val="17B0E4">
                <a:alpha val="43529"/>
              </a:srgbClr>
            </a:solidFill>
          </p:spPr>
        </p:sp>
      </p:grpSp>
      <p:grpSp>
        <p:nvGrpSpPr>
          <p:cNvPr id="10" name="Group 10"/>
          <p:cNvGrpSpPr/>
          <p:nvPr/>
        </p:nvGrpSpPr>
        <p:grpSpPr>
          <a:xfrm>
            <a:off x="14001750" y="-12700"/>
            <a:ext cx="4281489" cy="10299701"/>
            <a:chOff x="0" y="0"/>
            <a:chExt cx="5708652" cy="13732935"/>
          </a:xfrm>
        </p:grpSpPr>
        <p:sp>
          <p:nvSpPr>
            <p:cNvPr id="11" name="Freeform 11"/>
            <p:cNvSpPr/>
            <p:nvPr/>
          </p:nvSpPr>
          <p:spPr>
            <a:xfrm>
              <a:off x="0" y="0"/>
              <a:ext cx="5708650" cy="13732890"/>
            </a:xfrm>
            <a:custGeom>
              <a:avLst/>
              <a:gdLst/>
              <a:ahLst/>
              <a:cxnLst/>
              <a:rect l="l" t="t" r="r" b="b"/>
              <a:pathLst>
                <a:path w="5708650" h="1373289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id="12" name="Group 12"/>
          <p:cNvGrpSpPr/>
          <p:nvPr/>
        </p:nvGrpSpPr>
        <p:grpSpPr>
          <a:xfrm>
            <a:off x="16348095" y="-12700"/>
            <a:ext cx="1935141" cy="10299701"/>
            <a:chOff x="0" y="0"/>
            <a:chExt cx="2580188" cy="13732935"/>
          </a:xfrm>
        </p:grpSpPr>
        <p:sp>
          <p:nvSpPr>
            <p:cNvPr id="13" name="Freeform 13"/>
            <p:cNvSpPr/>
            <p:nvPr/>
          </p:nvSpPr>
          <p:spPr>
            <a:xfrm>
              <a:off x="0" y="0"/>
              <a:ext cx="2580259" cy="13732890"/>
            </a:xfrm>
            <a:custGeom>
              <a:avLst/>
              <a:gdLst/>
              <a:ahLst/>
              <a:cxnLst/>
              <a:rect l="l" t="t" r="r" b="b"/>
              <a:pathLst>
                <a:path w="2580259" h="13732890">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id="14" name="Group 14"/>
          <p:cNvGrpSpPr/>
          <p:nvPr/>
        </p:nvGrpSpPr>
        <p:grpSpPr>
          <a:xfrm>
            <a:off x="16408499" y="-12700"/>
            <a:ext cx="1874737" cy="10299701"/>
            <a:chOff x="0" y="0"/>
            <a:chExt cx="2499650" cy="13732935"/>
          </a:xfrm>
        </p:grpSpPr>
        <p:sp>
          <p:nvSpPr>
            <p:cNvPr id="15" name="Freeform 15"/>
            <p:cNvSpPr/>
            <p:nvPr/>
          </p:nvSpPr>
          <p:spPr>
            <a:xfrm>
              <a:off x="0" y="0"/>
              <a:ext cx="2499614" cy="13732890"/>
            </a:xfrm>
            <a:custGeom>
              <a:avLst/>
              <a:gdLst/>
              <a:ahLst/>
              <a:cxnLst/>
              <a:rect l="l" t="t" r="r" b="b"/>
              <a:pathLst>
                <a:path w="2499614" h="13732890">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id="16" name="Group 16"/>
          <p:cNvGrpSpPr/>
          <p:nvPr/>
        </p:nvGrpSpPr>
        <p:grpSpPr>
          <a:xfrm>
            <a:off x="15557499" y="5384801"/>
            <a:ext cx="2725738" cy="4902200"/>
            <a:chOff x="0" y="0"/>
            <a:chExt cx="3634318" cy="6536266"/>
          </a:xfrm>
        </p:grpSpPr>
        <p:sp>
          <p:nvSpPr>
            <p:cNvPr id="17" name="Freeform 17"/>
            <p:cNvSpPr/>
            <p:nvPr/>
          </p:nvSpPr>
          <p:spPr>
            <a:xfrm>
              <a:off x="0" y="0"/>
              <a:ext cx="3634359" cy="6536309"/>
            </a:xfrm>
            <a:custGeom>
              <a:avLst/>
              <a:gdLst/>
              <a:ahLst/>
              <a:cxnLst/>
              <a:rect l="l" t="t" r="r" b="b"/>
              <a:pathLst>
                <a:path w="3634359" h="6536309">
                  <a:moveTo>
                    <a:pt x="0" y="6536309"/>
                  </a:moveTo>
                  <a:lnTo>
                    <a:pt x="3634359" y="0"/>
                  </a:lnTo>
                  <a:lnTo>
                    <a:pt x="3634359" y="6536309"/>
                  </a:lnTo>
                  <a:close/>
                </a:path>
              </a:pathLst>
            </a:custGeom>
            <a:solidFill>
              <a:srgbClr val="17B0E4">
                <a:alpha val="43529"/>
              </a:srgbClr>
            </a:solidFill>
          </p:spPr>
        </p:sp>
      </p:grpSp>
      <p:grpSp>
        <p:nvGrpSpPr>
          <p:cNvPr id="18" name="Group 18"/>
          <p:cNvGrpSpPr/>
          <p:nvPr/>
        </p:nvGrpSpPr>
        <p:grpSpPr>
          <a:xfrm>
            <a:off x="0" y="6019801"/>
            <a:ext cx="673100" cy="4267200"/>
            <a:chOff x="0" y="0"/>
            <a:chExt cx="897466" cy="5689600"/>
          </a:xfrm>
        </p:grpSpPr>
        <p:sp>
          <p:nvSpPr>
            <p:cNvPr id="19" name="Freeform 19"/>
            <p:cNvSpPr/>
            <p:nvPr/>
          </p:nvSpPr>
          <p:spPr>
            <a:xfrm>
              <a:off x="0" y="0"/>
              <a:ext cx="897509" cy="5689600"/>
            </a:xfrm>
            <a:custGeom>
              <a:avLst/>
              <a:gdLst/>
              <a:ahLst/>
              <a:cxnLst/>
              <a:rect l="l" t="t" r="r" b="b"/>
              <a:pathLst>
                <a:path w="897509" h="5689600">
                  <a:moveTo>
                    <a:pt x="0" y="5689600"/>
                  </a:moveTo>
                  <a:lnTo>
                    <a:pt x="0" y="0"/>
                  </a:lnTo>
                  <a:lnTo>
                    <a:pt x="897509" y="5689600"/>
                  </a:lnTo>
                  <a:close/>
                </a:path>
              </a:pathLst>
            </a:custGeom>
            <a:solidFill>
              <a:srgbClr val="5FCBEF">
                <a:alpha val="48627"/>
              </a:srgbClr>
            </a:solidFill>
          </p:spPr>
        </p:sp>
      </p:grpSp>
      <p:grpSp>
        <p:nvGrpSpPr>
          <p:cNvPr id="20" name="Group 20"/>
          <p:cNvGrpSpPr/>
          <p:nvPr/>
        </p:nvGrpSpPr>
        <p:grpSpPr>
          <a:xfrm>
            <a:off x="0" y="0"/>
            <a:ext cx="18288000" cy="10287000"/>
            <a:chOff x="0" y="0"/>
            <a:chExt cx="24384000" cy="13716000"/>
          </a:xfrm>
        </p:grpSpPr>
        <p:sp>
          <p:nvSpPr>
            <p:cNvPr id="21" name="Freeform 21"/>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8828" b="-8828"/>
              </a:stretch>
            </a:blipFill>
          </p:spPr>
        </p:sp>
      </p:grpSp>
      <p:sp>
        <p:nvSpPr>
          <p:cNvPr id="22" name="TextBox 22"/>
          <p:cNvSpPr txBox="1"/>
          <p:nvPr/>
        </p:nvSpPr>
        <p:spPr>
          <a:xfrm>
            <a:off x="0" y="2353829"/>
            <a:ext cx="12781566" cy="3298507"/>
          </a:xfrm>
          <a:prstGeom prst="rect">
            <a:avLst/>
          </a:prstGeom>
        </p:spPr>
        <p:txBody>
          <a:bodyPr lIns="0" tIns="0" rIns="0" bIns="0" rtlCol="0" anchor="t">
            <a:spAutoFit/>
          </a:bodyPr>
          <a:lstStyle/>
          <a:p>
            <a:pPr algn="l">
              <a:lnSpc>
                <a:spcPts val="12869"/>
              </a:lnSpc>
            </a:pPr>
            <a:r>
              <a:rPr lang="en-US" sz="9899" b="1" dirty="0">
                <a:solidFill>
                  <a:srgbClr val="CDB98D"/>
                </a:solidFill>
                <a:latin typeface="Public Sans Bold"/>
                <a:ea typeface="Public Sans Bold"/>
                <a:cs typeface="Public Sans Bold"/>
                <a:sym typeface="Public Sans Bold"/>
              </a:rPr>
              <a:t>AI-Powered Salary Prediction</a:t>
            </a:r>
          </a:p>
        </p:txBody>
      </p:sp>
      <p:sp>
        <p:nvSpPr>
          <p:cNvPr id="23" name="TextBox 23"/>
          <p:cNvSpPr txBox="1"/>
          <p:nvPr/>
        </p:nvSpPr>
        <p:spPr>
          <a:xfrm>
            <a:off x="397586" y="1941238"/>
            <a:ext cx="9690055" cy="507841"/>
          </a:xfrm>
          <a:prstGeom prst="rect">
            <a:avLst/>
          </a:prstGeom>
        </p:spPr>
        <p:txBody>
          <a:bodyPr lIns="0" tIns="0" rIns="0" bIns="0" rtlCol="0" anchor="t">
            <a:spAutoFit/>
          </a:bodyPr>
          <a:lstStyle/>
          <a:p>
            <a:pPr algn="l">
              <a:lnSpc>
                <a:spcPts val="3640"/>
              </a:lnSpc>
            </a:pPr>
            <a:r>
              <a:rPr lang="en-US" sz="2600" b="1">
                <a:solidFill>
                  <a:srgbClr val="1C0C06"/>
                </a:solidFill>
                <a:latin typeface="Public Sans Bold"/>
                <a:ea typeface="Public Sans Bold"/>
                <a:cs typeface="Public Sans Bold"/>
                <a:sym typeface="Public Sans Bold"/>
              </a:rPr>
              <a:t>TRUSTED PARTNER IN COMPENSATION  PREDICITION </a:t>
            </a:r>
          </a:p>
        </p:txBody>
      </p:sp>
      <p:sp>
        <p:nvSpPr>
          <p:cNvPr id="24" name="TextBox 24"/>
          <p:cNvSpPr txBox="1"/>
          <p:nvPr/>
        </p:nvSpPr>
        <p:spPr>
          <a:xfrm>
            <a:off x="3502011" y="8757535"/>
            <a:ext cx="10903152" cy="944380"/>
          </a:xfrm>
          <a:prstGeom prst="rect">
            <a:avLst/>
          </a:prstGeom>
        </p:spPr>
        <p:txBody>
          <a:bodyPr lIns="0" tIns="0" rIns="0" bIns="0" rtlCol="0" anchor="t">
            <a:spAutoFit/>
          </a:bodyPr>
          <a:lstStyle/>
          <a:p>
            <a:pPr algn="l">
              <a:lnSpc>
                <a:spcPts val="3597"/>
              </a:lnSpc>
            </a:pPr>
            <a:r>
              <a:rPr lang="en-US" sz="2569">
                <a:solidFill>
                  <a:srgbClr val="1C0C06"/>
                </a:solidFill>
                <a:latin typeface="Public Sans"/>
                <a:ea typeface="Public Sans"/>
                <a:cs typeface="Public Sans"/>
                <a:sym typeface="Public Sans"/>
              </a:rPr>
              <a:t>Enhancing fairness in salary prediction and budgeting through AI technology</a:t>
            </a:r>
          </a:p>
        </p:txBody>
      </p:sp>
      <p:grpSp>
        <p:nvGrpSpPr>
          <p:cNvPr id="25" name="Group 25"/>
          <p:cNvGrpSpPr/>
          <p:nvPr/>
        </p:nvGrpSpPr>
        <p:grpSpPr>
          <a:xfrm>
            <a:off x="397586" y="284001"/>
            <a:ext cx="5761174" cy="1088838"/>
            <a:chOff x="0" y="0"/>
            <a:chExt cx="7681565" cy="1451784"/>
          </a:xfrm>
        </p:grpSpPr>
        <p:sp>
          <p:nvSpPr>
            <p:cNvPr id="26" name="Freeform 26"/>
            <p:cNvSpPr/>
            <p:nvPr/>
          </p:nvSpPr>
          <p:spPr>
            <a:xfrm>
              <a:off x="0" y="0"/>
              <a:ext cx="7681595" cy="1451737"/>
            </a:xfrm>
            <a:custGeom>
              <a:avLst/>
              <a:gdLst/>
              <a:ahLst/>
              <a:cxnLst/>
              <a:rect l="l" t="t" r="r" b="b"/>
              <a:pathLst>
                <a:path w="7681595" h="1451737">
                  <a:moveTo>
                    <a:pt x="0" y="0"/>
                  </a:moveTo>
                  <a:lnTo>
                    <a:pt x="7681595" y="0"/>
                  </a:lnTo>
                  <a:lnTo>
                    <a:pt x="7681595" y="1451737"/>
                  </a:lnTo>
                  <a:lnTo>
                    <a:pt x="0" y="1451737"/>
                  </a:lnTo>
                  <a:lnTo>
                    <a:pt x="0" y="0"/>
                  </a:lnTo>
                  <a:close/>
                </a:path>
              </a:pathLst>
            </a:custGeom>
            <a:blipFill>
              <a:blip r:embed="rId3"/>
              <a:stretch>
                <a:fillRect t="-2789" b="-2793"/>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65B6D"/>
        </a:solidFill>
        <a:effectLst/>
      </p:bgPr>
    </p:bg>
    <p:spTree>
      <p:nvGrpSpPr>
        <p:cNvPr id="1" name=""/>
        <p:cNvGrpSpPr/>
        <p:nvPr/>
      </p:nvGrpSpPr>
      <p:grpSpPr>
        <a:xfrm>
          <a:off x="0" y="0"/>
          <a:ext cx="0" cy="0"/>
          <a:chOff x="0" y="0"/>
          <a:chExt cx="0" cy="0"/>
        </a:xfrm>
      </p:grpSpPr>
      <p:grpSp>
        <p:nvGrpSpPr>
          <p:cNvPr id="2" name="Group 2"/>
          <p:cNvGrpSpPr/>
          <p:nvPr/>
        </p:nvGrpSpPr>
        <p:grpSpPr>
          <a:xfrm>
            <a:off x="0" y="206375"/>
            <a:ext cx="5761174" cy="1088838"/>
            <a:chOff x="0" y="0"/>
            <a:chExt cx="7681565" cy="1451784"/>
          </a:xfrm>
        </p:grpSpPr>
        <p:sp>
          <p:nvSpPr>
            <p:cNvPr id="3" name="Freeform 3"/>
            <p:cNvSpPr/>
            <p:nvPr/>
          </p:nvSpPr>
          <p:spPr>
            <a:xfrm>
              <a:off x="0" y="0"/>
              <a:ext cx="7681595" cy="1451737"/>
            </a:xfrm>
            <a:custGeom>
              <a:avLst/>
              <a:gdLst/>
              <a:ahLst/>
              <a:cxnLst/>
              <a:rect l="l" t="t" r="r" b="b"/>
              <a:pathLst>
                <a:path w="7681595" h="1451737">
                  <a:moveTo>
                    <a:pt x="0" y="0"/>
                  </a:moveTo>
                  <a:lnTo>
                    <a:pt x="7681595" y="0"/>
                  </a:lnTo>
                  <a:lnTo>
                    <a:pt x="7681595" y="1451737"/>
                  </a:lnTo>
                  <a:lnTo>
                    <a:pt x="0" y="1451737"/>
                  </a:lnTo>
                  <a:lnTo>
                    <a:pt x="0" y="0"/>
                  </a:lnTo>
                  <a:close/>
                </a:path>
              </a:pathLst>
            </a:custGeom>
            <a:blipFill>
              <a:blip r:embed="rId2"/>
              <a:stretch>
                <a:fillRect t="-2790" b="-2793"/>
              </a:stretch>
            </a:blipFill>
          </p:spPr>
        </p:sp>
      </p:grpSp>
      <p:sp>
        <p:nvSpPr>
          <p:cNvPr id="4" name="Freeform 4"/>
          <p:cNvSpPr/>
          <p:nvPr/>
        </p:nvSpPr>
        <p:spPr>
          <a:xfrm>
            <a:off x="11536454" y="1469575"/>
            <a:ext cx="6480450" cy="5750608"/>
          </a:xfrm>
          <a:custGeom>
            <a:avLst/>
            <a:gdLst/>
            <a:ahLst/>
            <a:cxnLst/>
            <a:rect l="l" t="t" r="r" b="b"/>
            <a:pathLst>
              <a:path w="6480450" h="5750608">
                <a:moveTo>
                  <a:pt x="0" y="0"/>
                </a:moveTo>
                <a:lnTo>
                  <a:pt x="6480450" y="0"/>
                </a:lnTo>
                <a:lnTo>
                  <a:pt x="6480450" y="5750608"/>
                </a:lnTo>
                <a:lnTo>
                  <a:pt x="0" y="5750608"/>
                </a:lnTo>
                <a:lnTo>
                  <a:pt x="0" y="0"/>
                </a:lnTo>
                <a:close/>
              </a:path>
            </a:pathLst>
          </a:custGeom>
          <a:blipFill>
            <a:blip r:embed="rId3">
              <a:alphaModFix amt="85000"/>
            </a:blip>
            <a:stretch>
              <a:fillRect l="-33106"/>
            </a:stretch>
          </a:blipFill>
          <a:ln w="104775" cap="rnd">
            <a:solidFill>
              <a:srgbClr val="41C1BA">
                <a:alpha val="84706"/>
              </a:srgbClr>
            </a:solidFill>
            <a:prstDash val="solid"/>
            <a:round/>
          </a:ln>
        </p:spPr>
      </p:sp>
      <p:sp>
        <p:nvSpPr>
          <p:cNvPr id="5" name="TextBox 5"/>
          <p:cNvSpPr txBox="1"/>
          <p:nvPr/>
        </p:nvSpPr>
        <p:spPr>
          <a:xfrm>
            <a:off x="6560776" y="101600"/>
            <a:ext cx="10410903" cy="1749425"/>
          </a:xfrm>
          <a:prstGeom prst="rect">
            <a:avLst/>
          </a:prstGeom>
        </p:spPr>
        <p:txBody>
          <a:bodyPr lIns="0" tIns="0" rIns="0" bIns="0" rtlCol="0" anchor="t">
            <a:spAutoFit/>
          </a:bodyPr>
          <a:lstStyle/>
          <a:p>
            <a:pPr algn="l">
              <a:lnSpc>
                <a:spcPts val="7000"/>
              </a:lnSpc>
            </a:pPr>
            <a:r>
              <a:rPr lang="en-US" sz="5000" b="1" u="sng">
                <a:solidFill>
                  <a:srgbClr val="F2F1EC"/>
                </a:solidFill>
                <a:latin typeface="Public Sans Bold"/>
                <a:ea typeface="Public Sans Bold"/>
                <a:cs typeface="Public Sans Bold"/>
                <a:sym typeface="Public Sans Bold"/>
              </a:rPr>
              <a:t>Accenture's Business  Background</a:t>
            </a:r>
          </a:p>
        </p:txBody>
      </p:sp>
      <p:sp>
        <p:nvSpPr>
          <p:cNvPr id="6" name="TextBox 6"/>
          <p:cNvSpPr txBox="1"/>
          <p:nvPr/>
        </p:nvSpPr>
        <p:spPr>
          <a:xfrm>
            <a:off x="82901" y="3110918"/>
            <a:ext cx="7793087" cy="497840"/>
          </a:xfrm>
          <a:prstGeom prst="rect">
            <a:avLst/>
          </a:prstGeom>
        </p:spPr>
        <p:txBody>
          <a:bodyPr lIns="0" tIns="0" rIns="0" bIns="0" rtlCol="0" anchor="t">
            <a:spAutoFit/>
          </a:bodyPr>
          <a:lstStyle/>
          <a:p>
            <a:pPr marL="626109" lvl="1" indent="-313054" algn="ctr">
              <a:lnSpc>
                <a:spcPts val="4059"/>
              </a:lnSpc>
              <a:spcBef>
                <a:spcPct val="0"/>
              </a:spcBef>
              <a:buFont typeface="Arial"/>
              <a:buChar char="•"/>
            </a:pPr>
            <a:r>
              <a:rPr lang="en-US" sz="2899">
                <a:solidFill>
                  <a:srgbClr val="F7F7F7"/>
                </a:solidFill>
                <a:latin typeface="Didact Gothic"/>
                <a:ea typeface="Didact Gothic"/>
                <a:cs typeface="Didact Gothic"/>
                <a:sym typeface="Didact Gothic"/>
              </a:rPr>
              <a:t>Accenture is a leading provider of IT services.</a:t>
            </a:r>
          </a:p>
        </p:txBody>
      </p:sp>
      <p:sp>
        <p:nvSpPr>
          <p:cNvPr id="7" name="TextBox 7"/>
          <p:cNvSpPr txBox="1"/>
          <p:nvPr/>
        </p:nvSpPr>
        <p:spPr>
          <a:xfrm>
            <a:off x="82901" y="3989758"/>
            <a:ext cx="8283852" cy="489606"/>
          </a:xfrm>
          <a:prstGeom prst="rect">
            <a:avLst/>
          </a:prstGeom>
        </p:spPr>
        <p:txBody>
          <a:bodyPr lIns="0" tIns="0" rIns="0" bIns="0" rtlCol="0" anchor="t">
            <a:spAutoFit/>
          </a:bodyPr>
          <a:lstStyle/>
          <a:p>
            <a:pPr marL="615135" lvl="1" indent="-307568" algn="ctr">
              <a:lnSpc>
                <a:spcPts val="3988"/>
              </a:lnSpc>
              <a:buFont typeface="Arial"/>
              <a:buChar char="•"/>
            </a:pPr>
            <a:r>
              <a:rPr lang="en-US" sz="2849">
                <a:solidFill>
                  <a:srgbClr val="F7F7F7"/>
                </a:solidFill>
                <a:latin typeface="Didact Gothic"/>
                <a:ea typeface="Didact Gothic"/>
                <a:cs typeface="Didact Gothic"/>
                <a:sym typeface="Didact Gothic"/>
              </a:rPr>
              <a:t>Founded in 1989, its headquarters are in Dublin.</a:t>
            </a:r>
          </a:p>
        </p:txBody>
      </p:sp>
      <p:sp>
        <p:nvSpPr>
          <p:cNvPr id="8" name="TextBox 8"/>
          <p:cNvSpPr txBox="1"/>
          <p:nvPr/>
        </p:nvSpPr>
        <p:spPr>
          <a:xfrm>
            <a:off x="82901" y="4861687"/>
            <a:ext cx="8588425" cy="481330"/>
          </a:xfrm>
          <a:prstGeom prst="rect">
            <a:avLst/>
          </a:prstGeom>
        </p:spPr>
        <p:txBody>
          <a:bodyPr lIns="0" tIns="0" rIns="0" bIns="0" rtlCol="0" anchor="t">
            <a:spAutoFit/>
          </a:bodyPr>
          <a:lstStyle/>
          <a:p>
            <a:pPr marL="604519" lvl="1" indent="-302260" algn="ctr">
              <a:lnSpc>
                <a:spcPts val="3919"/>
              </a:lnSpc>
              <a:spcBef>
                <a:spcPct val="0"/>
              </a:spcBef>
              <a:buFont typeface="Arial"/>
              <a:buChar char="•"/>
            </a:pPr>
            <a:r>
              <a:rPr lang="en-US" sz="2799">
                <a:solidFill>
                  <a:srgbClr val="F7F7F7"/>
                </a:solidFill>
                <a:latin typeface="Didact Gothic"/>
                <a:ea typeface="Didact Gothic"/>
                <a:cs typeface="Didact Gothic"/>
                <a:sym typeface="Didact Gothic"/>
              </a:rPr>
              <a:t>It operates in more than 200 cities and 120 countries </a:t>
            </a:r>
          </a:p>
        </p:txBody>
      </p:sp>
      <p:sp>
        <p:nvSpPr>
          <p:cNvPr id="9" name="TextBox 9"/>
          <p:cNvSpPr txBox="1"/>
          <p:nvPr/>
        </p:nvSpPr>
        <p:spPr>
          <a:xfrm>
            <a:off x="82901" y="5800323"/>
            <a:ext cx="8158907" cy="481330"/>
          </a:xfrm>
          <a:prstGeom prst="rect">
            <a:avLst/>
          </a:prstGeom>
        </p:spPr>
        <p:txBody>
          <a:bodyPr lIns="0" tIns="0" rIns="0" bIns="0" rtlCol="0" anchor="t">
            <a:spAutoFit/>
          </a:bodyPr>
          <a:lstStyle/>
          <a:p>
            <a:pPr marL="604519" lvl="1" indent="-302260" algn="ctr">
              <a:lnSpc>
                <a:spcPts val="3919"/>
              </a:lnSpc>
              <a:spcBef>
                <a:spcPct val="0"/>
              </a:spcBef>
              <a:buFont typeface="Arial"/>
              <a:buChar char="•"/>
            </a:pPr>
            <a:r>
              <a:rPr lang="en-US" sz="2799">
                <a:solidFill>
                  <a:srgbClr val="F7F7F7"/>
                </a:solidFill>
                <a:latin typeface="Didact Gothic"/>
                <a:ea typeface="Didact Gothic"/>
                <a:cs typeface="Didact Gothic"/>
                <a:sym typeface="Didact Gothic"/>
              </a:rPr>
              <a:t>The company provides services in various sectors </a:t>
            </a:r>
          </a:p>
        </p:txBody>
      </p:sp>
      <p:sp>
        <p:nvSpPr>
          <p:cNvPr id="10" name="TextBox 10"/>
          <p:cNvSpPr txBox="1"/>
          <p:nvPr/>
        </p:nvSpPr>
        <p:spPr>
          <a:xfrm>
            <a:off x="82901" y="6738853"/>
            <a:ext cx="8137922" cy="481330"/>
          </a:xfrm>
          <a:prstGeom prst="rect">
            <a:avLst/>
          </a:prstGeom>
        </p:spPr>
        <p:txBody>
          <a:bodyPr lIns="0" tIns="0" rIns="0" bIns="0" rtlCol="0" anchor="t">
            <a:spAutoFit/>
          </a:bodyPr>
          <a:lstStyle/>
          <a:p>
            <a:pPr marL="604519" lvl="1" indent="-302260" algn="ctr">
              <a:lnSpc>
                <a:spcPts val="3919"/>
              </a:lnSpc>
              <a:buFont typeface="Arial"/>
              <a:buChar char="•"/>
            </a:pPr>
            <a:r>
              <a:rPr lang="en-US" sz="2799">
                <a:solidFill>
                  <a:srgbClr val="F7F7F7"/>
                </a:solidFill>
                <a:latin typeface="Didact Gothic"/>
                <a:ea typeface="Didact Gothic"/>
                <a:cs typeface="Didact Gothic"/>
                <a:sym typeface="Didact Gothic"/>
              </a:rPr>
              <a:t> Accenture is currently facing financial challenges </a:t>
            </a:r>
          </a:p>
        </p:txBody>
      </p:sp>
      <p:sp>
        <p:nvSpPr>
          <p:cNvPr id="11" name="TextBox 11"/>
          <p:cNvSpPr txBox="1"/>
          <p:nvPr/>
        </p:nvSpPr>
        <p:spPr>
          <a:xfrm>
            <a:off x="82901" y="7674843"/>
            <a:ext cx="15065557" cy="481330"/>
          </a:xfrm>
          <a:prstGeom prst="rect">
            <a:avLst/>
          </a:prstGeom>
        </p:spPr>
        <p:txBody>
          <a:bodyPr lIns="0" tIns="0" rIns="0" bIns="0" rtlCol="0" anchor="t">
            <a:spAutoFit/>
          </a:bodyPr>
          <a:lstStyle/>
          <a:p>
            <a:pPr marL="604519" lvl="1" indent="-302260" algn="ctr">
              <a:lnSpc>
                <a:spcPts val="3919"/>
              </a:lnSpc>
              <a:buFont typeface="Arial"/>
              <a:buChar char="•"/>
            </a:pPr>
            <a:r>
              <a:rPr lang="en-US" sz="2799">
                <a:solidFill>
                  <a:srgbClr val="F7F7F7"/>
                </a:solidFill>
                <a:latin typeface="Didact Gothic"/>
                <a:ea typeface="Didact Gothic"/>
                <a:cs typeface="Didact Gothic"/>
                <a:sym typeface="Didact Gothic"/>
              </a:rPr>
              <a:t>The report shows that some workers are undercompensated while others are overcompensated</a:t>
            </a:r>
          </a:p>
        </p:txBody>
      </p:sp>
      <p:sp>
        <p:nvSpPr>
          <p:cNvPr id="12" name="TextBox 12"/>
          <p:cNvSpPr txBox="1"/>
          <p:nvPr/>
        </p:nvSpPr>
        <p:spPr>
          <a:xfrm>
            <a:off x="82901" y="8668528"/>
            <a:ext cx="10737528" cy="498656"/>
          </a:xfrm>
          <a:prstGeom prst="rect">
            <a:avLst/>
          </a:prstGeom>
        </p:spPr>
        <p:txBody>
          <a:bodyPr lIns="0" tIns="0" rIns="0" bIns="0" rtlCol="0" anchor="t">
            <a:spAutoFit/>
          </a:bodyPr>
          <a:lstStyle/>
          <a:p>
            <a:pPr marL="619177" lvl="1" indent="-309588" algn="ctr">
              <a:lnSpc>
                <a:spcPts val="4015"/>
              </a:lnSpc>
              <a:buFont typeface="Arial"/>
              <a:buChar char="•"/>
            </a:pPr>
            <a:r>
              <a:rPr lang="en-US" sz="2867">
                <a:solidFill>
                  <a:srgbClr val="F7F7F7"/>
                </a:solidFill>
                <a:latin typeface="Didact Gothic"/>
                <a:ea typeface="Didact Gothic"/>
                <a:cs typeface="Didact Gothic"/>
                <a:sym typeface="Didact Gothic"/>
              </a:rPr>
              <a:t>This has affected project management and employee satisfaction</a:t>
            </a:r>
          </a:p>
        </p:txBody>
      </p:sp>
      <p:sp>
        <p:nvSpPr>
          <p:cNvPr id="13" name="TextBox 13"/>
          <p:cNvSpPr txBox="1"/>
          <p:nvPr/>
        </p:nvSpPr>
        <p:spPr>
          <a:xfrm>
            <a:off x="82901" y="9466252"/>
            <a:ext cx="9859886" cy="481330"/>
          </a:xfrm>
          <a:prstGeom prst="rect">
            <a:avLst/>
          </a:prstGeom>
        </p:spPr>
        <p:txBody>
          <a:bodyPr lIns="0" tIns="0" rIns="0" bIns="0" rtlCol="0" anchor="t">
            <a:spAutoFit/>
          </a:bodyPr>
          <a:lstStyle/>
          <a:p>
            <a:pPr marL="604519" lvl="1" indent="-302260" algn="l">
              <a:lnSpc>
                <a:spcPts val="3919"/>
              </a:lnSpc>
              <a:buFont typeface="Arial"/>
              <a:buChar char="•"/>
            </a:pPr>
            <a:r>
              <a:rPr lang="en-US" sz="2799">
                <a:solidFill>
                  <a:srgbClr val="F7F7F7"/>
                </a:solidFill>
                <a:latin typeface="Didact Gothic"/>
                <a:ea typeface="Didact Gothic"/>
                <a:cs typeface="Didact Gothic"/>
                <a:sym typeface="Didact Gothic"/>
              </a:rPr>
              <a:t>Accenture's main objective is to address this issue </a:t>
            </a:r>
          </a:p>
        </p:txBody>
      </p:sp>
      <p:sp>
        <p:nvSpPr>
          <p:cNvPr id="14" name="AutoShape 14"/>
          <p:cNvSpPr/>
          <p:nvPr/>
        </p:nvSpPr>
        <p:spPr>
          <a:xfrm flipV="1">
            <a:off x="13613939" y="7731993"/>
            <a:ext cx="4674061" cy="2555007"/>
          </a:xfrm>
          <a:prstGeom prst="line">
            <a:avLst/>
          </a:prstGeom>
          <a:ln w="38100" cap="flat">
            <a:solidFill>
              <a:srgbClr val="289DD2"/>
            </a:solidFill>
            <a:prstDash val="solid"/>
            <a:headEnd type="none" w="sm" len="sm"/>
            <a:tailEnd type="none" w="sm" len="sm"/>
          </a:ln>
        </p:spPr>
      </p:sp>
      <p:sp>
        <p:nvSpPr>
          <p:cNvPr id="15" name="AutoShape 15"/>
          <p:cNvSpPr/>
          <p:nvPr/>
        </p:nvSpPr>
        <p:spPr>
          <a:xfrm flipV="1">
            <a:off x="13766339" y="7884393"/>
            <a:ext cx="4674061" cy="2555007"/>
          </a:xfrm>
          <a:prstGeom prst="line">
            <a:avLst/>
          </a:prstGeom>
          <a:ln w="38100" cap="flat">
            <a:solidFill>
              <a:srgbClr val="F7F7F7"/>
            </a:solidFill>
            <a:prstDash val="solid"/>
            <a:headEnd type="none" w="sm" len="sm"/>
            <a:tailEnd type="none" w="sm" len="sm"/>
          </a:ln>
        </p:spPr>
      </p:sp>
      <p:sp>
        <p:nvSpPr>
          <p:cNvPr id="16" name="AutoShape 16"/>
          <p:cNvSpPr/>
          <p:nvPr/>
        </p:nvSpPr>
        <p:spPr>
          <a:xfrm flipV="1">
            <a:off x="13918739" y="8036793"/>
            <a:ext cx="4674061" cy="2555007"/>
          </a:xfrm>
          <a:prstGeom prst="line">
            <a:avLst/>
          </a:prstGeom>
          <a:ln w="38100" cap="flat">
            <a:solidFill>
              <a:srgbClr val="41C1BA"/>
            </a:solidFill>
            <a:prstDash val="solid"/>
            <a:headEnd type="none" w="sm" len="sm"/>
            <a:tailEnd type="none" w="sm" len="sm"/>
          </a:ln>
        </p:spPr>
      </p:sp>
      <p:sp>
        <p:nvSpPr>
          <p:cNvPr id="17" name="AutoShape 17"/>
          <p:cNvSpPr/>
          <p:nvPr/>
        </p:nvSpPr>
        <p:spPr>
          <a:xfrm flipV="1">
            <a:off x="14071139" y="8189193"/>
            <a:ext cx="4674061" cy="2555007"/>
          </a:xfrm>
          <a:prstGeom prst="line">
            <a:avLst/>
          </a:prstGeom>
          <a:ln w="38100" cap="flat">
            <a:solidFill>
              <a:srgbClr val="F7F7F7"/>
            </a:solidFill>
            <a:prstDash val="solid"/>
            <a:headEnd type="none" w="sm" len="sm"/>
            <a:tailEnd type="none" w="sm" len="sm"/>
          </a:ln>
        </p:spPr>
      </p:sp>
      <p:sp>
        <p:nvSpPr>
          <p:cNvPr id="18" name="AutoShape 18"/>
          <p:cNvSpPr/>
          <p:nvPr/>
        </p:nvSpPr>
        <p:spPr>
          <a:xfrm flipV="1">
            <a:off x="14223539" y="8341593"/>
            <a:ext cx="4674061" cy="2555007"/>
          </a:xfrm>
          <a:prstGeom prst="line">
            <a:avLst/>
          </a:prstGeom>
          <a:ln w="38100" cap="flat">
            <a:solidFill>
              <a:srgbClr val="F7F7F7"/>
            </a:solidFill>
            <a:prstDash val="solid"/>
            <a:headEnd type="none" w="sm" len="sm"/>
            <a:tailEnd type="none" w="sm" len="sm"/>
          </a:ln>
        </p:spPr>
      </p:sp>
      <p:sp>
        <p:nvSpPr>
          <p:cNvPr id="19" name="AutoShape 19"/>
          <p:cNvSpPr/>
          <p:nvPr/>
        </p:nvSpPr>
        <p:spPr>
          <a:xfrm flipV="1">
            <a:off x="14375939" y="8493993"/>
            <a:ext cx="4674061" cy="2555007"/>
          </a:xfrm>
          <a:prstGeom prst="line">
            <a:avLst/>
          </a:prstGeom>
          <a:ln w="38100" cap="flat">
            <a:solidFill>
              <a:srgbClr val="289DD2"/>
            </a:solidFill>
            <a:prstDash val="solid"/>
            <a:headEnd type="none" w="sm" len="sm"/>
            <a:tailEnd type="none" w="sm" len="sm"/>
          </a:ln>
        </p:spPr>
      </p:sp>
      <p:sp>
        <p:nvSpPr>
          <p:cNvPr id="20" name="AutoShape 20"/>
          <p:cNvSpPr/>
          <p:nvPr/>
        </p:nvSpPr>
        <p:spPr>
          <a:xfrm flipV="1">
            <a:off x="14528339" y="8646393"/>
            <a:ext cx="4674061" cy="2555007"/>
          </a:xfrm>
          <a:prstGeom prst="line">
            <a:avLst/>
          </a:prstGeom>
          <a:ln w="38100" cap="flat">
            <a:solidFill>
              <a:srgbClr val="F7F7F7"/>
            </a:solidFill>
            <a:prstDash val="solid"/>
            <a:headEnd type="none" w="sm" len="sm"/>
            <a:tailEnd type="none" w="sm" len="sm"/>
          </a:ln>
        </p:spPr>
      </p:sp>
      <p:sp>
        <p:nvSpPr>
          <p:cNvPr id="21" name="AutoShape 21"/>
          <p:cNvSpPr/>
          <p:nvPr/>
        </p:nvSpPr>
        <p:spPr>
          <a:xfrm flipV="1">
            <a:off x="14680739" y="8798793"/>
            <a:ext cx="4674061" cy="2555007"/>
          </a:xfrm>
          <a:prstGeom prst="line">
            <a:avLst/>
          </a:prstGeom>
          <a:ln w="38100" cap="flat">
            <a:solidFill>
              <a:srgbClr val="41C1BA"/>
            </a:solidFill>
            <a:prstDash val="solid"/>
            <a:headEnd type="none" w="sm" len="sm"/>
            <a:tailEnd type="none" w="sm" len="sm"/>
          </a:ln>
        </p:spPr>
      </p:sp>
      <p:sp>
        <p:nvSpPr>
          <p:cNvPr id="22" name="AutoShape 22"/>
          <p:cNvSpPr/>
          <p:nvPr/>
        </p:nvSpPr>
        <p:spPr>
          <a:xfrm flipV="1">
            <a:off x="14833139" y="8951193"/>
            <a:ext cx="4674061" cy="2555007"/>
          </a:xfrm>
          <a:prstGeom prst="line">
            <a:avLst/>
          </a:prstGeom>
          <a:ln w="38100" cap="flat">
            <a:solidFill>
              <a:srgbClr val="F7F7F7"/>
            </a:solidFill>
            <a:prstDash val="solid"/>
            <a:headEnd type="none" w="sm" len="sm"/>
            <a:tailEnd type="none" w="sm" len="sm"/>
          </a:ln>
        </p:spPr>
      </p:sp>
      <p:sp>
        <p:nvSpPr>
          <p:cNvPr id="23" name="AutoShape 23"/>
          <p:cNvSpPr/>
          <p:nvPr/>
        </p:nvSpPr>
        <p:spPr>
          <a:xfrm flipV="1">
            <a:off x="14985539" y="9103593"/>
            <a:ext cx="4674061" cy="2555007"/>
          </a:xfrm>
          <a:prstGeom prst="line">
            <a:avLst/>
          </a:prstGeom>
          <a:ln w="38100" cap="flat">
            <a:solidFill>
              <a:srgbClr val="41C1BA"/>
            </a:solidFill>
            <a:prstDash val="solid"/>
            <a:headEnd type="none" w="sm" len="sm"/>
            <a:tailEnd type="none" w="sm" len="sm"/>
          </a:ln>
        </p:spPr>
      </p:sp>
      <p:sp>
        <p:nvSpPr>
          <p:cNvPr id="24" name="AutoShape 24"/>
          <p:cNvSpPr/>
          <p:nvPr/>
        </p:nvSpPr>
        <p:spPr>
          <a:xfrm flipV="1">
            <a:off x="15137939" y="9255993"/>
            <a:ext cx="4674061" cy="2555007"/>
          </a:xfrm>
          <a:prstGeom prst="line">
            <a:avLst/>
          </a:prstGeom>
          <a:ln w="38100" cap="flat">
            <a:solidFill>
              <a:srgbClr val="F7F7F7"/>
            </a:solidFill>
            <a:prstDash val="solid"/>
            <a:headEnd type="none" w="sm" len="sm"/>
            <a:tailEnd type="none" w="sm" len="sm"/>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65B6D"/>
        </a:solidFill>
        <a:effectLst/>
      </p:bgPr>
    </p:bg>
    <p:spTree>
      <p:nvGrpSpPr>
        <p:cNvPr id="1" name=""/>
        <p:cNvGrpSpPr/>
        <p:nvPr/>
      </p:nvGrpSpPr>
      <p:grpSpPr>
        <a:xfrm>
          <a:off x="0" y="0"/>
          <a:ext cx="0" cy="0"/>
          <a:chOff x="0" y="0"/>
          <a:chExt cx="0" cy="0"/>
        </a:xfrm>
      </p:grpSpPr>
      <p:sp>
        <p:nvSpPr>
          <p:cNvPr id="2" name="AutoShape 2"/>
          <p:cNvSpPr/>
          <p:nvPr/>
        </p:nvSpPr>
        <p:spPr>
          <a:xfrm rot="4791364">
            <a:off x="9738483" y="5143501"/>
            <a:ext cx="10464870" cy="0"/>
          </a:xfrm>
          <a:prstGeom prst="line">
            <a:avLst/>
          </a:prstGeom>
          <a:ln w="9525" cap="rnd">
            <a:solidFill>
              <a:srgbClr val="289DD2"/>
            </a:solidFill>
            <a:prstDash val="solid"/>
            <a:headEnd type="none" w="sm" len="sm"/>
            <a:tailEnd type="none" w="sm" len="sm"/>
          </a:ln>
        </p:spPr>
      </p:sp>
      <p:sp>
        <p:nvSpPr>
          <p:cNvPr id="3" name="AutoShape 3"/>
          <p:cNvSpPr/>
          <p:nvPr/>
        </p:nvSpPr>
        <p:spPr>
          <a:xfrm rot="8776573">
            <a:off x="10406482" y="7904561"/>
            <a:ext cx="8608175" cy="0"/>
          </a:xfrm>
          <a:prstGeom prst="line">
            <a:avLst/>
          </a:prstGeom>
          <a:ln w="9525" cap="rnd">
            <a:solidFill>
              <a:srgbClr val="289DD2"/>
            </a:solidFill>
            <a:prstDash val="solid"/>
            <a:headEnd type="none" w="sm" len="sm"/>
            <a:tailEnd type="none" w="sm" len="sm"/>
          </a:ln>
        </p:spPr>
      </p:sp>
      <p:grpSp>
        <p:nvGrpSpPr>
          <p:cNvPr id="4" name="Group 4"/>
          <p:cNvGrpSpPr/>
          <p:nvPr/>
        </p:nvGrpSpPr>
        <p:grpSpPr>
          <a:xfrm>
            <a:off x="13772214" y="-12700"/>
            <a:ext cx="4511024" cy="10299701"/>
            <a:chOff x="0" y="0"/>
            <a:chExt cx="6014698" cy="13732935"/>
          </a:xfrm>
        </p:grpSpPr>
        <p:sp>
          <p:nvSpPr>
            <p:cNvPr id="5" name="Freeform 5"/>
            <p:cNvSpPr/>
            <p:nvPr/>
          </p:nvSpPr>
          <p:spPr>
            <a:xfrm>
              <a:off x="0" y="0"/>
              <a:ext cx="6014720" cy="13732890"/>
            </a:xfrm>
            <a:custGeom>
              <a:avLst/>
              <a:gdLst/>
              <a:ahLst/>
              <a:cxnLst/>
              <a:rect l="l" t="t" r="r" b="b"/>
              <a:pathLst>
                <a:path w="6014720" h="13732890">
                  <a:moveTo>
                    <a:pt x="4091051" y="0"/>
                  </a:moveTo>
                  <a:lnTo>
                    <a:pt x="6014720" y="0"/>
                  </a:lnTo>
                  <a:lnTo>
                    <a:pt x="6014720" y="13732890"/>
                  </a:lnTo>
                  <a:lnTo>
                    <a:pt x="0" y="13732890"/>
                  </a:lnTo>
                  <a:lnTo>
                    <a:pt x="4091051" y="0"/>
                  </a:lnTo>
                  <a:close/>
                </a:path>
              </a:pathLst>
            </a:custGeom>
            <a:solidFill>
              <a:srgbClr val="289DD2">
                <a:alpha val="12941"/>
              </a:srgbClr>
            </a:solidFill>
          </p:spPr>
        </p:sp>
      </p:grpSp>
      <p:grpSp>
        <p:nvGrpSpPr>
          <p:cNvPr id="6" name="Group 6"/>
          <p:cNvGrpSpPr/>
          <p:nvPr/>
        </p:nvGrpSpPr>
        <p:grpSpPr>
          <a:xfrm>
            <a:off x="14405163" y="-12700"/>
            <a:ext cx="3882837" cy="10299701"/>
            <a:chOff x="0" y="0"/>
            <a:chExt cx="5177116" cy="13732935"/>
          </a:xfrm>
        </p:grpSpPr>
        <p:sp>
          <p:nvSpPr>
            <p:cNvPr id="7" name="Freeform 7"/>
            <p:cNvSpPr/>
            <p:nvPr/>
          </p:nvSpPr>
          <p:spPr>
            <a:xfrm>
              <a:off x="0" y="0"/>
              <a:ext cx="5177155" cy="13732890"/>
            </a:xfrm>
            <a:custGeom>
              <a:avLst/>
              <a:gdLst/>
              <a:ahLst/>
              <a:cxnLst/>
              <a:rect l="l" t="t" r="r" b="b"/>
              <a:pathLst>
                <a:path w="5177155" h="13732890">
                  <a:moveTo>
                    <a:pt x="0" y="0"/>
                  </a:moveTo>
                  <a:lnTo>
                    <a:pt x="5177155" y="0"/>
                  </a:lnTo>
                  <a:lnTo>
                    <a:pt x="5177155" y="13732890"/>
                  </a:lnTo>
                  <a:lnTo>
                    <a:pt x="2418969" y="13732890"/>
                  </a:lnTo>
                  <a:lnTo>
                    <a:pt x="0" y="0"/>
                  </a:lnTo>
                  <a:close/>
                </a:path>
              </a:pathLst>
            </a:custGeom>
            <a:solidFill>
              <a:srgbClr val="289DD2">
                <a:alpha val="3922"/>
              </a:srgbClr>
            </a:solidFill>
          </p:spPr>
        </p:sp>
      </p:grpSp>
      <p:grpSp>
        <p:nvGrpSpPr>
          <p:cNvPr id="8" name="Group 8"/>
          <p:cNvGrpSpPr/>
          <p:nvPr/>
        </p:nvGrpSpPr>
        <p:grpSpPr>
          <a:xfrm>
            <a:off x="13398499" y="4572001"/>
            <a:ext cx="4889501" cy="5715000"/>
            <a:chOff x="0" y="0"/>
            <a:chExt cx="6519334" cy="7620000"/>
          </a:xfrm>
        </p:grpSpPr>
        <p:sp>
          <p:nvSpPr>
            <p:cNvPr id="9" name="Freeform 9"/>
            <p:cNvSpPr/>
            <p:nvPr/>
          </p:nvSpPr>
          <p:spPr>
            <a:xfrm>
              <a:off x="0" y="0"/>
              <a:ext cx="6519291" cy="7620000"/>
            </a:xfrm>
            <a:custGeom>
              <a:avLst/>
              <a:gdLst/>
              <a:ahLst/>
              <a:cxnLst/>
              <a:rect l="l" t="t" r="r" b="b"/>
              <a:pathLst>
                <a:path w="6519291" h="7620000">
                  <a:moveTo>
                    <a:pt x="0" y="7620000"/>
                  </a:moveTo>
                  <a:lnTo>
                    <a:pt x="6519291" y="0"/>
                  </a:lnTo>
                  <a:lnTo>
                    <a:pt x="6519291" y="7620000"/>
                  </a:lnTo>
                  <a:close/>
                </a:path>
              </a:pathLst>
            </a:custGeom>
            <a:solidFill>
              <a:srgbClr val="41C1BA">
                <a:alpha val="43529"/>
              </a:srgbClr>
            </a:solidFill>
          </p:spPr>
        </p:sp>
      </p:grpSp>
      <p:grpSp>
        <p:nvGrpSpPr>
          <p:cNvPr id="10" name="Group 10"/>
          <p:cNvGrpSpPr/>
          <p:nvPr/>
        </p:nvGrpSpPr>
        <p:grpSpPr>
          <a:xfrm>
            <a:off x="10948593" y="2589"/>
            <a:ext cx="4281489" cy="10299701"/>
            <a:chOff x="0" y="0"/>
            <a:chExt cx="5708652" cy="13732935"/>
          </a:xfrm>
        </p:grpSpPr>
        <p:sp>
          <p:nvSpPr>
            <p:cNvPr id="11" name="Freeform 11"/>
            <p:cNvSpPr/>
            <p:nvPr/>
          </p:nvSpPr>
          <p:spPr>
            <a:xfrm>
              <a:off x="0" y="0"/>
              <a:ext cx="5708650" cy="13732890"/>
            </a:xfrm>
            <a:custGeom>
              <a:avLst/>
              <a:gdLst/>
              <a:ahLst/>
              <a:cxnLst/>
              <a:rect l="l" t="t" r="r" b="b"/>
              <a:pathLst>
                <a:path w="5708650" h="13732890">
                  <a:moveTo>
                    <a:pt x="0" y="0"/>
                  </a:moveTo>
                  <a:lnTo>
                    <a:pt x="5708650" y="0"/>
                  </a:lnTo>
                  <a:lnTo>
                    <a:pt x="5708650" y="13732890"/>
                  </a:lnTo>
                  <a:lnTo>
                    <a:pt x="4941443" y="13732890"/>
                  </a:lnTo>
                  <a:lnTo>
                    <a:pt x="0" y="0"/>
                  </a:lnTo>
                  <a:close/>
                </a:path>
              </a:pathLst>
            </a:custGeom>
            <a:solidFill>
              <a:srgbClr val="41C1BA">
                <a:alpha val="24706"/>
              </a:srgbClr>
            </a:solidFill>
          </p:spPr>
        </p:sp>
      </p:grpSp>
      <p:grpSp>
        <p:nvGrpSpPr>
          <p:cNvPr id="12" name="Group 12"/>
          <p:cNvGrpSpPr/>
          <p:nvPr/>
        </p:nvGrpSpPr>
        <p:grpSpPr>
          <a:xfrm>
            <a:off x="16348095" y="-12700"/>
            <a:ext cx="1935141" cy="10299701"/>
            <a:chOff x="0" y="0"/>
            <a:chExt cx="2580188" cy="13732935"/>
          </a:xfrm>
        </p:grpSpPr>
        <p:sp>
          <p:nvSpPr>
            <p:cNvPr id="13" name="Freeform 13"/>
            <p:cNvSpPr/>
            <p:nvPr/>
          </p:nvSpPr>
          <p:spPr>
            <a:xfrm>
              <a:off x="0" y="0"/>
              <a:ext cx="2580259" cy="13732890"/>
            </a:xfrm>
            <a:custGeom>
              <a:avLst/>
              <a:gdLst/>
              <a:ahLst/>
              <a:cxnLst/>
              <a:rect l="l" t="t" r="r" b="b"/>
              <a:pathLst>
                <a:path w="2580259" h="13732890">
                  <a:moveTo>
                    <a:pt x="2039493" y="0"/>
                  </a:moveTo>
                  <a:lnTo>
                    <a:pt x="2580259" y="0"/>
                  </a:lnTo>
                  <a:lnTo>
                    <a:pt x="2580259" y="13732890"/>
                  </a:lnTo>
                  <a:lnTo>
                    <a:pt x="0" y="13732890"/>
                  </a:lnTo>
                  <a:lnTo>
                    <a:pt x="2039493" y="0"/>
                  </a:lnTo>
                  <a:close/>
                </a:path>
              </a:pathLst>
            </a:custGeom>
            <a:solidFill>
              <a:srgbClr val="365B6D">
                <a:alpha val="48627"/>
              </a:srgbClr>
            </a:solidFill>
          </p:spPr>
        </p:sp>
      </p:grpSp>
      <p:grpSp>
        <p:nvGrpSpPr>
          <p:cNvPr id="14" name="Group 14"/>
          <p:cNvGrpSpPr/>
          <p:nvPr/>
        </p:nvGrpSpPr>
        <p:grpSpPr>
          <a:xfrm>
            <a:off x="16408499" y="-12700"/>
            <a:ext cx="1874737" cy="10299701"/>
            <a:chOff x="0" y="0"/>
            <a:chExt cx="2499650" cy="13732935"/>
          </a:xfrm>
        </p:grpSpPr>
        <p:sp>
          <p:nvSpPr>
            <p:cNvPr id="15" name="Freeform 15"/>
            <p:cNvSpPr/>
            <p:nvPr/>
          </p:nvSpPr>
          <p:spPr>
            <a:xfrm>
              <a:off x="0" y="0"/>
              <a:ext cx="2499614" cy="13732890"/>
            </a:xfrm>
            <a:custGeom>
              <a:avLst/>
              <a:gdLst/>
              <a:ahLst/>
              <a:cxnLst/>
              <a:rect l="l" t="t" r="r" b="b"/>
              <a:pathLst>
                <a:path w="2499614" h="13732890">
                  <a:moveTo>
                    <a:pt x="0" y="0"/>
                  </a:moveTo>
                  <a:lnTo>
                    <a:pt x="2499614" y="0"/>
                  </a:lnTo>
                  <a:lnTo>
                    <a:pt x="2499614" y="13732890"/>
                  </a:lnTo>
                  <a:lnTo>
                    <a:pt x="2218817" y="13732890"/>
                  </a:lnTo>
                  <a:lnTo>
                    <a:pt x="0" y="0"/>
                  </a:lnTo>
                  <a:close/>
                </a:path>
              </a:pathLst>
            </a:custGeom>
            <a:solidFill>
              <a:srgbClr val="F7F7F7">
                <a:alpha val="63922"/>
              </a:srgbClr>
            </a:solidFill>
          </p:spPr>
        </p:sp>
      </p:grpSp>
      <p:grpSp>
        <p:nvGrpSpPr>
          <p:cNvPr id="16" name="Group 16"/>
          <p:cNvGrpSpPr/>
          <p:nvPr/>
        </p:nvGrpSpPr>
        <p:grpSpPr>
          <a:xfrm>
            <a:off x="15557499" y="5384801"/>
            <a:ext cx="2725738" cy="4902200"/>
            <a:chOff x="0" y="0"/>
            <a:chExt cx="3634318" cy="6536266"/>
          </a:xfrm>
        </p:grpSpPr>
        <p:sp>
          <p:nvSpPr>
            <p:cNvPr id="17" name="Freeform 17"/>
            <p:cNvSpPr/>
            <p:nvPr/>
          </p:nvSpPr>
          <p:spPr>
            <a:xfrm>
              <a:off x="0" y="0"/>
              <a:ext cx="3634359" cy="6536309"/>
            </a:xfrm>
            <a:custGeom>
              <a:avLst/>
              <a:gdLst/>
              <a:ahLst/>
              <a:cxnLst/>
              <a:rect l="l" t="t" r="r" b="b"/>
              <a:pathLst>
                <a:path w="3634359" h="6536309">
                  <a:moveTo>
                    <a:pt x="0" y="6536309"/>
                  </a:moveTo>
                  <a:lnTo>
                    <a:pt x="3634359" y="0"/>
                  </a:lnTo>
                  <a:lnTo>
                    <a:pt x="3634359" y="6536309"/>
                  </a:lnTo>
                  <a:close/>
                </a:path>
              </a:pathLst>
            </a:custGeom>
            <a:solidFill>
              <a:srgbClr val="41C1BA">
                <a:alpha val="43529"/>
              </a:srgbClr>
            </a:solidFill>
          </p:spPr>
        </p:sp>
      </p:grpSp>
      <p:grpSp>
        <p:nvGrpSpPr>
          <p:cNvPr id="18" name="Group 18"/>
          <p:cNvGrpSpPr/>
          <p:nvPr/>
        </p:nvGrpSpPr>
        <p:grpSpPr>
          <a:xfrm>
            <a:off x="0" y="6019801"/>
            <a:ext cx="673100" cy="4267200"/>
            <a:chOff x="0" y="0"/>
            <a:chExt cx="897466" cy="5689600"/>
          </a:xfrm>
        </p:grpSpPr>
        <p:sp>
          <p:nvSpPr>
            <p:cNvPr id="19" name="Freeform 19"/>
            <p:cNvSpPr/>
            <p:nvPr/>
          </p:nvSpPr>
          <p:spPr>
            <a:xfrm>
              <a:off x="0" y="0"/>
              <a:ext cx="897509" cy="5689600"/>
            </a:xfrm>
            <a:custGeom>
              <a:avLst/>
              <a:gdLst/>
              <a:ahLst/>
              <a:cxnLst/>
              <a:rect l="l" t="t" r="r" b="b"/>
              <a:pathLst>
                <a:path w="897509" h="5689600">
                  <a:moveTo>
                    <a:pt x="0" y="5689600"/>
                  </a:moveTo>
                  <a:lnTo>
                    <a:pt x="0" y="0"/>
                  </a:lnTo>
                  <a:lnTo>
                    <a:pt x="897509" y="5689600"/>
                  </a:lnTo>
                  <a:close/>
                </a:path>
              </a:pathLst>
            </a:custGeom>
            <a:solidFill>
              <a:srgbClr val="289DD2">
                <a:alpha val="48627"/>
              </a:srgbClr>
            </a:solidFill>
          </p:spPr>
        </p:sp>
      </p:grpSp>
      <p:grpSp>
        <p:nvGrpSpPr>
          <p:cNvPr id="20" name="Group 20"/>
          <p:cNvGrpSpPr/>
          <p:nvPr/>
        </p:nvGrpSpPr>
        <p:grpSpPr>
          <a:xfrm>
            <a:off x="201287" y="2589"/>
            <a:ext cx="5761174" cy="1088838"/>
            <a:chOff x="0" y="0"/>
            <a:chExt cx="7681565" cy="1451784"/>
          </a:xfrm>
        </p:grpSpPr>
        <p:sp>
          <p:nvSpPr>
            <p:cNvPr id="21" name="Freeform 21"/>
            <p:cNvSpPr/>
            <p:nvPr/>
          </p:nvSpPr>
          <p:spPr>
            <a:xfrm>
              <a:off x="0" y="0"/>
              <a:ext cx="7681595" cy="1451737"/>
            </a:xfrm>
            <a:custGeom>
              <a:avLst/>
              <a:gdLst/>
              <a:ahLst/>
              <a:cxnLst/>
              <a:rect l="l" t="t" r="r" b="b"/>
              <a:pathLst>
                <a:path w="7681595" h="1451737">
                  <a:moveTo>
                    <a:pt x="0" y="0"/>
                  </a:moveTo>
                  <a:lnTo>
                    <a:pt x="7681595" y="0"/>
                  </a:lnTo>
                  <a:lnTo>
                    <a:pt x="7681595" y="1451737"/>
                  </a:lnTo>
                  <a:lnTo>
                    <a:pt x="0" y="1451737"/>
                  </a:lnTo>
                  <a:lnTo>
                    <a:pt x="0" y="0"/>
                  </a:lnTo>
                  <a:close/>
                </a:path>
              </a:pathLst>
            </a:custGeom>
            <a:blipFill>
              <a:blip r:embed="rId2"/>
              <a:stretch>
                <a:fillRect t="-2789" b="-2793"/>
              </a:stretch>
            </a:blipFill>
          </p:spPr>
        </p:sp>
      </p:grpSp>
      <p:sp>
        <p:nvSpPr>
          <p:cNvPr id="23" name="TextBox 23"/>
          <p:cNvSpPr txBox="1"/>
          <p:nvPr/>
        </p:nvSpPr>
        <p:spPr>
          <a:xfrm>
            <a:off x="5602550" y="1081902"/>
            <a:ext cx="6571533" cy="1838325"/>
          </a:xfrm>
          <a:prstGeom prst="rect">
            <a:avLst/>
          </a:prstGeom>
        </p:spPr>
        <p:txBody>
          <a:bodyPr lIns="0" tIns="0" rIns="0" bIns="0" rtlCol="0" anchor="t">
            <a:spAutoFit/>
          </a:bodyPr>
          <a:lstStyle/>
          <a:p>
            <a:pPr algn="l">
              <a:lnSpc>
                <a:spcPts val="7200"/>
              </a:lnSpc>
            </a:pPr>
            <a:r>
              <a:rPr lang="en-US" sz="6000" u="sng" spc="-150">
                <a:solidFill>
                  <a:srgbClr val="F7F7F7"/>
                </a:solidFill>
                <a:latin typeface="Cardo"/>
                <a:ea typeface="Cardo"/>
                <a:cs typeface="Cardo"/>
                <a:sym typeface="Cardo"/>
              </a:rPr>
              <a:t> Accenture’s</a:t>
            </a:r>
          </a:p>
          <a:p>
            <a:pPr algn="l">
              <a:lnSpc>
                <a:spcPts val="7200"/>
              </a:lnSpc>
            </a:pPr>
            <a:r>
              <a:rPr lang="en-US" sz="6000" u="sng" spc="-150">
                <a:solidFill>
                  <a:srgbClr val="F7F7F7"/>
                </a:solidFill>
                <a:latin typeface="Cardo"/>
                <a:ea typeface="Cardo"/>
                <a:cs typeface="Cardo"/>
                <a:sym typeface="Cardo"/>
              </a:rPr>
              <a:t> Problem Statement</a:t>
            </a:r>
          </a:p>
        </p:txBody>
      </p:sp>
      <p:sp>
        <p:nvSpPr>
          <p:cNvPr id="24" name="TextBox 24"/>
          <p:cNvSpPr txBox="1"/>
          <p:nvPr/>
        </p:nvSpPr>
        <p:spPr>
          <a:xfrm>
            <a:off x="-1611" y="4655820"/>
            <a:ext cx="9363122" cy="481330"/>
          </a:xfrm>
          <a:prstGeom prst="rect">
            <a:avLst/>
          </a:prstGeom>
        </p:spPr>
        <p:txBody>
          <a:bodyPr lIns="0" tIns="0" rIns="0" bIns="0" rtlCol="0" anchor="t">
            <a:spAutoFit/>
          </a:bodyPr>
          <a:lstStyle/>
          <a:p>
            <a:pPr marL="604519" lvl="1" indent="-302260" algn="ctr">
              <a:lnSpc>
                <a:spcPts val="3919"/>
              </a:lnSpc>
              <a:buFont typeface="Arial"/>
              <a:buChar char="•"/>
            </a:pPr>
            <a:r>
              <a:rPr lang="en-US" sz="2799" spc="111">
                <a:solidFill>
                  <a:srgbClr val="F7F7F7"/>
                </a:solidFill>
                <a:latin typeface="Didact Gothic"/>
                <a:ea typeface="Didact Gothic"/>
                <a:cs typeface="Didact Gothic"/>
                <a:sym typeface="Didact Gothic"/>
              </a:rPr>
              <a:t>Setting fair salaries is crucial for stability and morale</a:t>
            </a:r>
          </a:p>
        </p:txBody>
      </p:sp>
      <p:sp>
        <p:nvSpPr>
          <p:cNvPr id="25" name="TextBox 25"/>
          <p:cNvSpPr txBox="1"/>
          <p:nvPr/>
        </p:nvSpPr>
        <p:spPr>
          <a:xfrm>
            <a:off x="-31565" y="5371886"/>
            <a:ext cx="11130757" cy="462178"/>
          </a:xfrm>
          <a:prstGeom prst="rect">
            <a:avLst/>
          </a:prstGeom>
        </p:spPr>
        <p:txBody>
          <a:bodyPr lIns="0" tIns="0" rIns="0" bIns="0" rtlCol="0" anchor="t">
            <a:spAutoFit/>
          </a:bodyPr>
          <a:lstStyle/>
          <a:p>
            <a:pPr marL="604519" lvl="1" indent="-302260" algn="ctr">
              <a:lnSpc>
                <a:spcPts val="3919"/>
              </a:lnSpc>
              <a:buFont typeface="Arial"/>
              <a:buChar char="•"/>
            </a:pPr>
            <a:r>
              <a:rPr lang="en-US" sz="2799" spc="111" dirty="0">
                <a:solidFill>
                  <a:srgbClr val="F7F7F7"/>
                </a:solidFill>
                <a:latin typeface="Didact Gothic"/>
                <a:ea typeface="Didact Gothic"/>
                <a:cs typeface="Didact Gothic"/>
                <a:sym typeface="Didact Gothic"/>
              </a:rPr>
              <a:t>Current methods rely on outdated systems and human judgment</a:t>
            </a:r>
          </a:p>
        </p:txBody>
      </p:sp>
      <p:sp>
        <p:nvSpPr>
          <p:cNvPr id="26" name="TextBox 26"/>
          <p:cNvSpPr txBox="1"/>
          <p:nvPr/>
        </p:nvSpPr>
        <p:spPr>
          <a:xfrm>
            <a:off x="12266" y="6228142"/>
            <a:ext cx="6843881" cy="481330"/>
          </a:xfrm>
          <a:prstGeom prst="rect">
            <a:avLst/>
          </a:prstGeom>
        </p:spPr>
        <p:txBody>
          <a:bodyPr lIns="0" tIns="0" rIns="0" bIns="0" rtlCol="0" anchor="t">
            <a:spAutoFit/>
          </a:bodyPr>
          <a:lstStyle/>
          <a:p>
            <a:pPr marL="604519" lvl="1" indent="-302260" algn="l">
              <a:lnSpc>
                <a:spcPts val="3919"/>
              </a:lnSpc>
              <a:buFont typeface="Arial"/>
              <a:buChar char="•"/>
            </a:pPr>
            <a:r>
              <a:rPr lang="en-US" sz="2799" spc="111" dirty="0">
                <a:solidFill>
                  <a:srgbClr val="F7F7F7"/>
                </a:solidFill>
                <a:latin typeface="Didact Gothic"/>
                <a:ea typeface="Didact Gothic"/>
                <a:cs typeface="Didact Gothic"/>
                <a:sym typeface="Didact Gothic"/>
              </a:rPr>
              <a:t>Leads to unfairness and inefficiency</a:t>
            </a:r>
          </a:p>
        </p:txBody>
      </p:sp>
      <p:sp>
        <p:nvSpPr>
          <p:cNvPr id="27" name="TextBox 27"/>
          <p:cNvSpPr txBox="1"/>
          <p:nvPr/>
        </p:nvSpPr>
        <p:spPr>
          <a:xfrm>
            <a:off x="32169" y="7101231"/>
            <a:ext cx="6051500" cy="481330"/>
          </a:xfrm>
          <a:prstGeom prst="rect">
            <a:avLst/>
          </a:prstGeom>
        </p:spPr>
        <p:txBody>
          <a:bodyPr lIns="0" tIns="0" rIns="0" bIns="0" rtlCol="0" anchor="t">
            <a:spAutoFit/>
          </a:bodyPr>
          <a:lstStyle/>
          <a:p>
            <a:pPr marL="604519" lvl="1" indent="-302260" algn="ctr">
              <a:lnSpc>
                <a:spcPts val="3919"/>
              </a:lnSpc>
              <a:buFont typeface="Arial"/>
              <a:buChar char="•"/>
            </a:pPr>
            <a:r>
              <a:rPr lang="en-US" sz="2799" spc="111" dirty="0">
                <a:solidFill>
                  <a:srgbClr val="F7F7F7"/>
                </a:solidFill>
                <a:latin typeface="Didact Gothic"/>
                <a:ea typeface="Didact Gothic"/>
                <a:cs typeface="Didact Gothic"/>
                <a:sym typeface="Didact Gothic"/>
              </a:rPr>
              <a:t>Budget planning struggles by HR</a:t>
            </a:r>
          </a:p>
        </p:txBody>
      </p:sp>
      <p:sp>
        <p:nvSpPr>
          <p:cNvPr id="28" name="TextBox 28"/>
          <p:cNvSpPr txBox="1"/>
          <p:nvPr/>
        </p:nvSpPr>
        <p:spPr>
          <a:xfrm>
            <a:off x="12266" y="7966650"/>
            <a:ext cx="7540526" cy="481330"/>
          </a:xfrm>
          <a:prstGeom prst="rect">
            <a:avLst/>
          </a:prstGeom>
        </p:spPr>
        <p:txBody>
          <a:bodyPr lIns="0" tIns="0" rIns="0" bIns="0" rtlCol="0" anchor="t">
            <a:spAutoFit/>
          </a:bodyPr>
          <a:lstStyle/>
          <a:p>
            <a:pPr marL="604519" lvl="1" indent="-302260" algn="ctr">
              <a:lnSpc>
                <a:spcPts val="3919"/>
              </a:lnSpc>
              <a:buFont typeface="Arial"/>
              <a:buChar char="•"/>
            </a:pPr>
            <a:r>
              <a:rPr lang="en-US" sz="2799" spc="111" dirty="0">
                <a:solidFill>
                  <a:srgbClr val="F7F7F7"/>
                </a:solidFill>
                <a:latin typeface="Didact Gothic"/>
                <a:ea typeface="Didact Gothic"/>
                <a:cs typeface="Didact Gothic"/>
                <a:sym typeface="Didact Gothic"/>
              </a:rPr>
              <a:t>Employees lack transparency and fairness</a:t>
            </a:r>
          </a:p>
        </p:txBody>
      </p:sp>
      <p:sp>
        <p:nvSpPr>
          <p:cNvPr id="29" name="TextBox 29"/>
          <p:cNvSpPr txBox="1"/>
          <p:nvPr/>
        </p:nvSpPr>
        <p:spPr>
          <a:xfrm>
            <a:off x="12528" y="8839739"/>
            <a:ext cx="4859380" cy="481330"/>
          </a:xfrm>
          <a:prstGeom prst="rect">
            <a:avLst/>
          </a:prstGeom>
        </p:spPr>
        <p:txBody>
          <a:bodyPr lIns="0" tIns="0" rIns="0" bIns="0" rtlCol="0" anchor="t">
            <a:spAutoFit/>
          </a:bodyPr>
          <a:lstStyle/>
          <a:p>
            <a:pPr marL="604519" lvl="1" indent="-302260" algn="ctr">
              <a:lnSpc>
                <a:spcPts val="3919"/>
              </a:lnSpc>
              <a:buFont typeface="Arial"/>
              <a:buChar char="•"/>
            </a:pPr>
            <a:r>
              <a:rPr lang="en-US" sz="2799" spc="111" dirty="0">
                <a:solidFill>
                  <a:srgbClr val="F7F7F7"/>
                </a:solidFill>
                <a:latin typeface="Didact Gothic"/>
                <a:ea typeface="Didact Gothic"/>
                <a:cs typeface="Didact Gothic"/>
                <a:sym typeface="Didact Gothic"/>
              </a:rPr>
              <a:t>Low trust from employees</a:t>
            </a:r>
          </a:p>
        </p:txBody>
      </p:sp>
      <p:pic>
        <p:nvPicPr>
          <p:cNvPr id="1026" name="Picture 2" descr="How to Write a Problem Statement: Hands-On Guide With Examples">
            <a:extLst>
              <a:ext uri="{FF2B5EF4-FFF2-40B4-BE49-F238E27FC236}">
                <a16:creationId xmlns:a16="http://schemas.microsoft.com/office/drawing/2014/main" id="{029B02F2-F5A6-4411-9FF5-BC671E7813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01413" y="5851337"/>
            <a:ext cx="6768670" cy="443307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65B6D"/>
        </a:solidFill>
        <a:effectLst/>
      </p:bgPr>
    </p:bg>
    <p:spTree>
      <p:nvGrpSpPr>
        <p:cNvPr id="1" name=""/>
        <p:cNvGrpSpPr/>
        <p:nvPr/>
      </p:nvGrpSpPr>
      <p:grpSpPr>
        <a:xfrm>
          <a:off x="0" y="0"/>
          <a:ext cx="0" cy="0"/>
          <a:chOff x="0" y="0"/>
          <a:chExt cx="0" cy="0"/>
        </a:xfrm>
      </p:grpSpPr>
      <p:sp>
        <p:nvSpPr>
          <p:cNvPr id="2" name="AutoShape 2"/>
          <p:cNvSpPr/>
          <p:nvPr/>
        </p:nvSpPr>
        <p:spPr>
          <a:xfrm rot="4791364">
            <a:off x="9738483" y="5143501"/>
            <a:ext cx="10464870" cy="0"/>
          </a:xfrm>
          <a:prstGeom prst="line">
            <a:avLst/>
          </a:prstGeom>
          <a:ln w="9525" cap="rnd">
            <a:solidFill>
              <a:srgbClr val="6C9286"/>
            </a:solidFill>
            <a:prstDash val="solid"/>
            <a:headEnd type="none" w="sm" len="sm"/>
            <a:tailEnd type="none" w="sm" len="sm"/>
          </a:ln>
        </p:spPr>
      </p:sp>
      <p:sp>
        <p:nvSpPr>
          <p:cNvPr id="3" name="AutoShape 3"/>
          <p:cNvSpPr/>
          <p:nvPr/>
        </p:nvSpPr>
        <p:spPr>
          <a:xfrm rot="8776573">
            <a:off x="10406482" y="7904561"/>
            <a:ext cx="8608175" cy="0"/>
          </a:xfrm>
          <a:prstGeom prst="line">
            <a:avLst/>
          </a:prstGeom>
          <a:ln w="9525" cap="rnd">
            <a:solidFill>
              <a:srgbClr val="6C9286"/>
            </a:solidFill>
            <a:prstDash val="solid"/>
            <a:headEnd type="none" w="sm" len="sm"/>
            <a:tailEnd type="none" w="sm" len="sm"/>
          </a:ln>
        </p:spPr>
      </p:sp>
      <p:grpSp>
        <p:nvGrpSpPr>
          <p:cNvPr id="4" name="Group 4"/>
          <p:cNvGrpSpPr/>
          <p:nvPr/>
        </p:nvGrpSpPr>
        <p:grpSpPr>
          <a:xfrm>
            <a:off x="13772214" y="-12700"/>
            <a:ext cx="4511024" cy="10299701"/>
            <a:chOff x="0" y="0"/>
            <a:chExt cx="6014698" cy="13732935"/>
          </a:xfrm>
        </p:grpSpPr>
        <p:sp>
          <p:nvSpPr>
            <p:cNvPr id="5" name="Freeform 5"/>
            <p:cNvSpPr/>
            <p:nvPr/>
          </p:nvSpPr>
          <p:spPr>
            <a:xfrm>
              <a:off x="0" y="0"/>
              <a:ext cx="6014720" cy="13732890"/>
            </a:xfrm>
            <a:custGeom>
              <a:avLst/>
              <a:gdLst/>
              <a:ahLst/>
              <a:cxnLst/>
              <a:rect l="l" t="t" r="r" b="b"/>
              <a:pathLst>
                <a:path w="6014720" h="13732890">
                  <a:moveTo>
                    <a:pt x="4091051" y="0"/>
                  </a:moveTo>
                  <a:lnTo>
                    <a:pt x="6014720" y="0"/>
                  </a:lnTo>
                  <a:lnTo>
                    <a:pt x="6014720" y="13732890"/>
                  </a:lnTo>
                  <a:lnTo>
                    <a:pt x="0" y="13732890"/>
                  </a:lnTo>
                  <a:lnTo>
                    <a:pt x="4091051" y="0"/>
                  </a:lnTo>
                  <a:close/>
                </a:path>
              </a:pathLst>
            </a:custGeom>
            <a:solidFill>
              <a:srgbClr val="6C9286">
                <a:alpha val="12941"/>
              </a:srgbClr>
            </a:solidFill>
          </p:spPr>
        </p:sp>
      </p:grpSp>
      <p:grpSp>
        <p:nvGrpSpPr>
          <p:cNvPr id="6" name="Group 6"/>
          <p:cNvGrpSpPr/>
          <p:nvPr/>
        </p:nvGrpSpPr>
        <p:grpSpPr>
          <a:xfrm>
            <a:off x="14405163" y="-12700"/>
            <a:ext cx="3882837" cy="10299701"/>
            <a:chOff x="0" y="0"/>
            <a:chExt cx="5177116" cy="13732935"/>
          </a:xfrm>
        </p:grpSpPr>
        <p:sp>
          <p:nvSpPr>
            <p:cNvPr id="7" name="Freeform 7"/>
            <p:cNvSpPr/>
            <p:nvPr/>
          </p:nvSpPr>
          <p:spPr>
            <a:xfrm>
              <a:off x="0" y="0"/>
              <a:ext cx="5177155" cy="13732890"/>
            </a:xfrm>
            <a:custGeom>
              <a:avLst/>
              <a:gdLst/>
              <a:ahLst/>
              <a:cxnLst/>
              <a:rect l="l" t="t" r="r" b="b"/>
              <a:pathLst>
                <a:path w="5177155" h="13732890">
                  <a:moveTo>
                    <a:pt x="0" y="0"/>
                  </a:moveTo>
                  <a:lnTo>
                    <a:pt x="5177155" y="0"/>
                  </a:lnTo>
                  <a:lnTo>
                    <a:pt x="5177155" y="13732890"/>
                  </a:lnTo>
                  <a:lnTo>
                    <a:pt x="2418969" y="13732890"/>
                  </a:lnTo>
                  <a:lnTo>
                    <a:pt x="0" y="0"/>
                  </a:lnTo>
                  <a:close/>
                </a:path>
              </a:pathLst>
            </a:custGeom>
            <a:solidFill>
              <a:srgbClr val="6C9286">
                <a:alpha val="3922"/>
              </a:srgbClr>
            </a:solidFill>
          </p:spPr>
        </p:sp>
      </p:grpSp>
      <p:grpSp>
        <p:nvGrpSpPr>
          <p:cNvPr id="8" name="Group 8"/>
          <p:cNvGrpSpPr/>
          <p:nvPr/>
        </p:nvGrpSpPr>
        <p:grpSpPr>
          <a:xfrm>
            <a:off x="13398499" y="4572001"/>
            <a:ext cx="4889501" cy="5715000"/>
            <a:chOff x="0" y="0"/>
            <a:chExt cx="6519334" cy="7620000"/>
          </a:xfrm>
        </p:grpSpPr>
        <p:sp>
          <p:nvSpPr>
            <p:cNvPr id="9" name="Freeform 9"/>
            <p:cNvSpPr/>
            <p:nvPr/>
          </p:nvSpPr>
          <p:spPr>
            <a:xfrm>
              <a:off x="0" y="0"/>
              <a:ext cx="6519291" cy="7620000"/>
            </a:xfrm>
            <a:custGeom>
              <a:avLst/>
              <a:gdLst/>
              <a:ahLst/>
              <a:cxnLst/>
              <a:rect l="l" t="t" r="r" b="b"/>
              <a:pathLst>
                <a:path w="6519291" h="7620000">
                  <a:moveTo>
                    <a:pt x="0" y="7620000"/>
                  </a:moveTo>
                  <a:lnTo>
                    <a:pt x="6519291" y="0"/>
                  </a:lnTo>
                  <a:lnTo>
                    <a:pt x="6519291" y="7620000"/>
                  </a:lnTo>
                  <a:close/>
                </a:path>
              </a:pathLst>
            </a:custGeom>
            <a:solidFill>
              <a:srgbClr val="1D4355">
                <a:alpha val="43529"/>
              </a:srgbClr>
            </a:solidFill>
          </p:spPr>
        </p:sp>
      </p:grpSp>
      <p:grpSp>
        <p:nvGrpSpPr>
          <p:cNvPr id="10" name="Group 10"/>
          <p:cNvGrpSpPr/>
          <p:nvPr/>
        </p:nvGrpSpPr>
        <p:grpSpPr>
          <a:xfrm>
            <a:off x="14001750" y="-12700"/>
            <a:ext cx="4281489" cy="10299701"/>
            <a:chOff x="0" y="0"/>
            <a:chExt cx="5708652" cy="13732935"/>
          </a:xfrm>
        </p:grpSpPr>
        <p:sp>
          <p:nvSpPr>
            <p:cNvPr id="11" name="Freeform 11"/>
            <p:cNvSpPr/>
            <p:nvPr/>
          </p:nvSpPr>
          <p:spPr>
            <a:xfrm>
              <a:off x="0" y="0"/>
              <a:ext cx="5708650" cy="13732890"/>
            </a:xfrm>
            <a:custGeom>
              <a:avLst/>
              <a:gdLst/>
              <a:ahLst/>
              <a:cxnLst/>
              <a:rect l="l" t="t" r="r" b="b"/>
              <a:pathLst>
                <a:path w="5708650" h="13732890">
                  <a:moveTo>
                    <a:pt x="0" y="0"/>
                  </a:moveTo>
                  <a:lnTo>
                    <a:pt x="5708650" y="0"/>
                  </a:lnTo>
                  <a:lnTo>
                    <a:pt x="5708650" y="13732890"/>
                  </a:lnTo>
                  <a:lnTo>
                    <a:pt x="4941443" y="13732890"/>
                  </a:lnTo>
                  <a:lnTo>
                    <a:pt x="0" y="0"/>
                  </a:lnTo>
                  <a:close/>
                </a:path>
              </a:pathLst>
            </a:custGeom>
            <a:solidFill>
              <a:srgbClr val="1D4355">
                <a:alpha val="24706"/>
              </a:srgbClr>
            </a:solidFill>
          </p:spPr>
        </p:sp>
      </p:grpSp>
      <p:grpSp>
        <p:nvGrpSpPr>
          <p:cNvPr id="12" name="Group 12"/>
          <p:cNvGrpSpPr/>
          <p:nvPr/>
        </p:nvGrpSpPr>
        <p:grpSpPr>
          <a:xfrm>
            <a:off x="16348095" y="-12700"/>
            <a:ext cx="1935141" cy="10299701"/>
            <a:chOff x="0" y="0"/>
            <a:chExt cx="2580188" cy="13732935"/>
          </a:xfrm>
        </p:grpSpPr>
        <p:sp>
          <p:nvSpPr>
            <p:cNvPr id="13" name="Freeform 13"/>
            <p:cNvSpPr/>
            <p:nvPr/>
          </p:nvSpPr>
          <p:spPr>
            <a:xfrm>
              <a:off x="0" y="0"/>
              <a:ext cx="2580259" cy="13732890"/>
            </a:xfrm>
            <a:custGeom>
              <a:avLst/>
              <a:gdLst/>
              <a:ahLst/>
              <a:cxnLst/>
              <a:rect l="l" t="t" r="r" b="b"/>
              <a:pathLst>
                <a:path w="2580259" h="13732890">
                  <a:moveTo>
                    <a:pt x="2039493" y="0"/>
                  </a:moveTo>
                  <a:lnTo>
                    <a:pt x="2580259" y="0"/>
                  </a:lnTo>
                  <a:lnTo>
                    <a:pt x="2580259" y="13732890"/>
                  </a:lnTo>
                  <a:lnTo>
                    <a:pt x="0" y="13732890"/>
                  </a:lnTo>
                  <a:lnTo>
                    <a:pt x="2039493" y="0"/>
                  </a:lnTo>
                  <a:close/>
                </a:path>
              </a:pathLst>
            </a:custGeom>
            <a:solidFill>
              <a:srgbClr val="365B6D">
                <a:alpha val="48627"/>
              </a:srgbClr>
            </a:solidFill>
          </p:spPr>
        </p:sp>
      </p:grpSp>
      <p:grpSp>
        <p:nvGrpSpPr>
          <p:cNvPr id="14" name="Group 14"/>
          <p:cNvGrpSpPr/>
          <p:nvPr/>
        </p:nvGrpSpPr>
        <p:grpSpPr>
          <a:xfrm>
            <a:off x="16408499" y="-12700"/>
            <a:ext cx="1874737" cy="10299701"/>
            <a:chOff x="0" y="0"/>
            <a:chExt cx="2499650" cy="13732935"/>
          </a:xfrm>
        </p:grpSpPr>
        <p:sp>
          <p:nvSpPr>
            <p:cNvPr id="15" name="Freeform 15"/>
            <p:cNvSpPr/>
            <p:nvPr/>
          </p:nvSpPr>
          <p:spPr>
            <a:xfrm>
              <a:off x="0" y="0"/>
              <a:ext cx="2499614" cy="13732890"/>
            </a:xfrm>
            <a:custGeom>
              <a:avLst/>
              <a:gdLst/>
              <a:ahLst/>
              <a:cxnLst/>
              <a:rect l="l" t="t" r="r" b="b"/>
              <a:pathLst>
                <a:path w="2499614" h="13732890">
                  <a:moveTo>
                    <a:pt x="0" y="0"/>
                  </a:moveTo>
                  <a:lnTo>
                    <a:pt x="2499614" y="0"/>
                  </a:lnTo>
                  <a:lnTo>
                    <a:pt x="2499614" y="13732890"/>
                  </a:lnTo>
                  <a:lnTo>
                    <a:pt x="2218817" y="13732890"/>
                  </a:lnTo>
                  <a:lnTo>
                    <a:pt x="0" y="0"/>
                  </a:lnTo>
                  <a:close/>
                </a:path>
              </a:pathLst>
            </a:custGeom>
            <a:solidFill>
              <a:srgbClr val="6C9286">
                <a:alpha val="63922"/>
              </a:srgbClr>
            </a:solidFill>
          </p:spPr>
        </p:sp>
      </p:grpSp>
      <p:grpSp>
        <p:nvGrpSpPr>
          <p:cNvPr id="16" name="Group 16"/>
          <p:cNvGrpSpPr/>
          <p:nvPr/>
        </p:nvGrpSpPr>
        <p:grpSpPr>
          <a:xfrm>
            <a:off x="15557499" y="5384801"/>
            <a:ext cx="2725738" cy="4902200"/>
            <a:chOff x="0" y="0"/>
            <a:chExt cx="3634318" cy="6536266"/>
          </a:xfrm>
        </p:grpSpPr>
        <p:sp>
          <p:nvSpPr>
            <p:cNvPr id="17" name="Freeform 17"/>
            <p:cNvSpPr/>
            <p:nvPr/>
          </p:nvSpPr>
          <p:spPr>
            <a:xfrm>
              <a:off x="0" y="0"/>
              <a:ext cx="3634359" cy="6536309"/>
            </a:xfrm>
            <a:custGeom>
              <a:avLst/>
              <a:gdLst/>
              <a:ahLst/>
              <a:cxnLst/>
              <a:rect l="l" t="t" r="r" b="b"/>
              <a:pathLst>
                <a:path w="3634359" h="6536309">
                  <a:moveTo>
                    <a:pt x="0" y="6536309"/>
                  </a:moveTo>
                  <a:lnTo>
                    <a:pt x="3634359" y="0"/>
                  </a:lnTo>
                  <a:lnTo>
                    <a:pt x="3634359" y="6536309"/>
                  </a:lnTo>
                  <a:close/>
                </a:path>
              </a:pathLst>
            </a:custGeom>
            <a:solidFill>
              <a:srgbClr val="1D4355">
                <a:alpha val="43529"/>
              </a:srgbClr>
            </a:solidFill>
          </p:spPr>
        </p:sp>
      </p:grpSp>
      <p:grpSp>
        <p:nvGrpSpPr>
          <p:cNvPr id="18" name="Group 18"/>
          <p:cNvGrpSpPr/>
          <p:nvPr/>
        </p:nvGrpSpPr>
        <p:grpSpPr>
          <a:xfrm>
            <a:off x="0" y="6019801"/>
            <a:ext cx="673100" cy="4267200"/>
            <a:chOff x="0" y="0"/>
            <a:chExt cx="897466" cy="5689600"/>
          </a:xfrm>
        </p:grpSpPr>
        <p:sp>
          <p:nvSpPr>
            <p:cNvPr id="19" name="Freeform 19"/>
            <p:cNvSpPr/>
            <p:nvPr/>
          </p:nvSpPr>
          <p:spPr>
            <a:xfrm>
              <a:off x="0" y="0"/>
              <a:ext cx="897509" cy="5689600"/>
            </a:xfrm>
            <a:custGeom>
              <a:avLst/>
              <a:gdLst/>
              <a:ahLst/>
              <a:cxnLst/>
              <a:rect l="l" t="t" r="r" b="b"/>
              <a:pathLst>
                <a:path w="897509" h="5689600">
                  <a:moveTo>
                    <a:pt x="0" y="5689600"/>
                  </a:moveTo>
                  <a:lnTo>
                    <a:pt x="0" y="0"/>
                  </a:lnTo>
                  <a:lnTo>
                    <a:pt x="897509" y="5689600"/>
                  </a:lnTo>
                  <a:close/>
                </a:path>
              </a:pathLst>
            </a:custGeom>
            <a:solidFill>
              <a:srgbClr val="6C9286">
                <a:alpha val="48627"/>
              </a:srgbClr>
            </a:solidFill>
          </p:spPr>
        </p:sp>
      </p:grpSp>
      <p:grpSp>
        <p:nvGrpSpPr>
          <p:cNvPr id="20" name="Group 20"/>
          <p:cNvGrpSpPr/>
          <p:nvPr/>
        </p:nvGrpSpPr>
        <p:grpSpPr>
          <a:xfrm>
            <a:off x="204739" y="291434"/>
            <a:ext cx="5761174" cy="1088838"/>
            <a:chOff x="0" y="0"/>
            <a:chExt cx="7681565" cy="1451784"/>
          </a:xfrm>
        </p:grpSpPr>
        <p:sp>
          <p:nvSpPr>
            <p:cNvPr id="21" name="Freeform 21"/>
            <p:cNvSpPr/>
            <p:nvPr/>
          </p:nvSpPr>
          <p:spPr>
            <a:xfrm>
              <a:off x="0" y="0"/>
              <a:ext cx="7681595" cy="1451737"/>
            </a:xfrm>
            <a:custGeom>
              <a:avLst/>
              <a:gdLst/>
              <a:ahLst/>
              <a:cxnLst/>
              <a:rect l="l" t="t" r="r" b="b"/>
              <a:pathLst>
                <a:path w="7681595" h="1451737">
                  <a:moveTo>
                    <a:pt x="0" y="0"/>
                  </a:moveTo>
                  <a:lnTo>
                    <a:pt x="7681595" y="0"/>
                  </a:lnTo>
                  <a:lnTo>
                    <a:pt x="7681595" y="1451737"/>
                  </a:lnTo>
                  <a:lnTo>
                    <a:pt x="0" y="1451737"/>
                  </a:lnTo>
                  <a:lnTo>
                    <a:pt x="0" y="0"/>
                  </a:lnTo>
                  <a:close/>
                </a:path>
              </a:pathLst>
            </a:custGeom>
            <a:blipFill>
              <a:blip r:embed="rId2"/>
              <a:stretch>
                <a:fillRect t="-2789" b="-2793"/>
              </a:stretch>
            </a:blipFill>
          </p:spPr>
        </p:sp>
      </p:grpSp>
      <p:grpSp>
        <p:nvGrpSpPr>
          <p:cNvPr id="22" name="Group 22"/>
          <p:cNvGrpSpPr/>
          <p:nvPr/>
        </p:nvGrpSpPr>
        <p:grpSpPr>
          <a:xfrm>
            <a:off x="1028700" y="1730280"/>
            <a:ext cx="5292813" cy="5349213"/>
            <a:chOff x="0" y="0"/>
            <a:chExt cx="7057085" cy="7132284"/>
          </a:xfrm>
        </p:grpSpPr>
        <p:sp>
          <p:nvSpPr>
            <p:cNvPr id="23" name="Freeform 23"/>
            <p:cNvSpPr/>
            <p:nvPr/>
          </p:nvSpPr>
          <p:spPr>
            <a:xfrm>
              <a:off x="0" y="0"/>
              <a:ext cx="7057062" cy="7132310"/>
            </a:xfrm>
            <a:custGeom>
              <a:avLst/>
              <a:gdLst/>
              <a:ahLst/>
              <a:cxnLst/>
              <a:rect l="l" t="t" r="r" b="b"/>
              <a:pathLst>
                <a:path w="7057062" h="7132310">
                  <a:moveTo>
                    <a:pt x="1463528" y="0"/>
                  </a:moveTo>
                  <a:lnTo>
                    <a:pt x="5593535" y="0"/>
                  </a:lnTo>
                  <a:cubicBezTo>
                    <a:pt x="5981686" y="0"/>
                    <a:pt x="6353940" y="154193"/>
                    <a:pt x="6628405" y="428657"/>
                  </a:cubicBezTo>
                  <a:cubicBezTo>
                    <a:pt x="6902869" y="703122"/>
                    <a:pt x="7057062" y="1075376"/>
                    <a:pt x="7057062" y="1463528"/>
                  </a:cubicBezTo>
                  <a:lnTo>
                    <a:pt x="7057062" y="5668783"/>
                  </a:lnTo>
                  <a:cubicBezTo>
                    <a:pt x="7057062" y="6477067"/>
                    <a:pt x="6401819" y="7132310"/>
                    <a:pt x="5593535" y="7132310"/>
                  </a:cubicBezTo>
                  <a:lnTo>
                    <a:pt x="1463528" y="7132310"/>
                  </a:lnTo>
                  <a:cubicBezTo>
                    <a:pt x="655244" y="7132310"/>
                    <a:pt x="0" y="6477067"/>
                    <a:pt x="0" y="5668783"/>
                  </a:cubicBezTo>
                  <a:lnTo>
                    <a:pt x="0" y="1463528"/>
                  </a:lnTo>
                  <a:cubicBezTo>
                    <a:pt x="0" y="655244"/>
                    <a:pt x="655244" y="0"/>
                    <a:pt x="1463528" y="0"/>
                  </a:cubicBezTo>
                  <a:close/>
                </a:path>
              </a:pathLst>
            </a:custGeom>
            <a:blipFill>
              <a:blip r:embed="rId3"/>
              <a:stretch>
                <a:fillRect l="-39836" r="-39837"/>
              </a:stretch>
            </a:blipFill>
          </p:spPr>
        </p:sp>
      </p:grpSp>
      <p:sp>
        <p:nvSpPr>
          <p:cNvPr id="24" name="TextBox 24"/>
          <p:cNvSpPr txBox="1"/>
          <p:nvPr/>
        </p:nvSpPr>
        <p:spPr>
          <a:xfrm>
            <a:off x="10008410" y="2419325"/>
            <a:ext cx="9719882" cy="1533560"/>
          </a:xfrm>
          <a:prstGeom prst="rect">
            <a:avLst/>
          </a:prstGeom>
        </p:spPr>
        <p:txBody>
          <a:bodyPr lIns="0" tIns="0" rIns="0" bIns="0" rtlCol="0" anchor="t">
            <a:spAutoFit/>
          </a:bodyPr>
          <a:lstStyle/>
          <a:p>
            <a:pPr algn="l">
              <a:lnSpc>
                <a:spcPts val="12024"/>
              </a:lnSpc>
            </a:pPr>
            <a:r>
              <a:rPr lang="en-US" sz="10020" b="1" u="sng">
                <a:solidFill>
                  <a:srgbClr val="F7F7F7"/>
                </a:solidFill>
                <a:latin typeface="Public Sans Bold"/>
                <a:ea typeface="Public Sans Bold"/>
                <a:cs typeface="Public Sans Bold"/>
                <a:sym typeface="Public Sans Bold"/>
              </a:rPr>
              <a:t>Solution</a:t>
            </a:r>
          </a:p>
        </p:txBody>
      </p:sp>
      <p:sp>
        <p:nvSpPr>
          <p:cNvPr id="25" name="TextBox 25"/>
          <p:cNvSpPr txBox="1"/>
          <p:nvPr/>
        </p:nvSpPr>
        <p:spPr>
          <a:xfrm>
            <a:off x="8275537" y="4486276"/>
            <a:ext cx="9719882" cy="1422435"/>
          </a:xfrm>
          <a:prstGeom prst="rect">
            <a:avLst/>
          </a:prstGeom>
        </p:spPr>
        <p:txBody>
          <a:bodyPr lIns="0" tIns="0" rIns="0" bIns="0" rtlCol="0" anchor="t">
            <a:spAutoFit/>
          </a:bodyPr>
          <a:lstStyle/>
          <a:p>
            <a:pPr algn="l">
              <a:lnSpc>
                <a:spcPts val="5465"/>
              </a:lnSpc>
            </a:pPr>
            <a:r>
              <a:rPr lang="en-US" sz="3903" u="sng">
                <a:solidFill>
                  <a:srgbClr val="F7F7F7"/>
                </a:solidFill>
                <a:latin typeface="Public Sans"/>
                <a:ea typeface="Public Sans"/>
                <a:cs typeface="Public Sans"/>
                <a:sym typeface="Public Sans"/>
              </a:rPr>
              <a:t>Utilizing AI to ensure fair and accurate salary assessments</a:t>
            </a:r>
          </a:p>
        </p:txBody>
      </p:sp>
      <p:sp>
        <p:nvSpPr>
          <p:cNvPr id="26" name="TextBox 26"/>
          <p:cNvSpPr txBox="1"/>
          <p:nvPr/>
        </p:nvSpPr>
        <p:spPr>
          <a:xfrm>
            <a:off x="673100" y="7460493"/>
            <a:ext cx="16230600" cy="2555240"/>
          </a:xfrm>
          <a:prstGeom prst="rect">
            <a:avLst/>
          </a:prstGeom>
        </p:spPr>
        <p:txBody>
          <a:bodyPr lIns="0" tIns="0" rIns="0" bIns="0" rtlCol="0" anchor="t">
            <a:spAutoFit/>
          </a:bodyPr>
          <a:lstStyle/>
          <a:p>
            <a:pPr algn="ctr">
              <a:lnSpc>
                <a:spcPts val="4059"/>
              </a:lnSpc>
              <a:spcBef>
                <a:spcPct val="0"/>
              </a:spcBef>
            </a:pPr>
            <a:r>
              <a:rPr lang="en-US" sz="2899">
                <a:solidFill>
                  <a:srgbClr val="F7F7F7"/>
                </a:solidFill>
                <a:latin typeface="Didact Gothic"/>
                <a:ea typeface="Didact Gothic"/>
                <a:cs typeface="Didact Gothic"/>
                <a:sym typeface="Didact Gothic"/>
              </a:rPr>
              <a:t>Earnalytics is a salary prediction AI designed to support financial planning and equitable compensation. It estimates salaries using age, gender, years of experience, and education. For managing company budgets, this AI enables accurate payroll forecasting while advancing fairness and transparency. This not only guards against underpayment but also improves financial stability and strengthens trust between management and staff.</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65B6D"/>
        </a:solidFill>
        <a:effectLst/>
      </p:bgPr>
    </p:bg>
    <p:spTree>
      <p:nvGrpSpPr>
        <p:cNvPr id="1" name=""/>
        <p:cNvGrpSpPr/>
        <p:nvPr/>
      </p:nvGrpSpPr>
      <p:grpSpPr>
        <a:xfrm>
          <a:off x="0" y="0"/>
          <a:ext cx="0" cy="0"/>
          <a:chOff x="0" y="0"/>
          <a:chExt cx="0" cy="0"/>
        </a:xfrm>
      </p:grpSpPr>
      <p:sp>
        <p:nvSpPr>
          <p:cNvPr id="2" name="AutoShape 2"/>
          <p:cNvSpPr/>
          <p:nvPr/>
        </p:nvSpPr>
        <p:spPr>
          <a:xfrm rot="4791364">
            <a:off x="9738483" y="5143501"/>
            <a:ext cx="10464870" cy="0"/>
          </a:xfrm>
          <a:prstGeom prst="line">
            <a:avLst/>
          </a:prstGeom>
          <a:ln w="9525" cap="rnd">
            <a:solidFill>
              <a:srgbClr val="6C9286"/>
            </a:solidFill>
            <a:prstDash val="solid"/>
            <a:headEnd type="none" w="sm" len="sm"/>
            <a:tailEnd type="none" w="sm" len="sm"/>
          </a:ln>
        </p:spPr>
      </p:sp>
      <p:sp>
        <p:nvSpPr>
          <p:cNvPr id="3" name="AutoShape 3"/>
          <p:cNvSpPr/>
          <p:nvPr/>
        </p:nvSpPr>
        <p:spPr>
          <a:xfrm rot="8776573">
            <a:off x="10406482" y="7904561"/>
            <a:ext cx="8608175" cy="0"/>
          </a:xfrm>
          <a:prstGeom prst="line">
            <a:avLst/>
          </a:prstGeom>
          <a:ln w="9525" cap="rnd">
            <a:solidFill>
              <a:srgbClr val="6C9286"/>
            </a:solidFill>
            <a:prstDash val="solid"/>
            <a:headEnd type="none" w="sm" len="sm"/>
            <a:tailEnd type="none" w="sm" len="sm"/>
          </a:ln>
        </p:spPr>
      </p:sp>
      <p:grpSp>
        <p:nvGrpSpPr>
          <p:cNvPr id="4" name="Group 4"/>
          <p:cNvGrpSpPr/>
          <p:nvPr/>
        </p:nvGrpSpPr>
        <p:grpSpPr>
          <a:xfrm>
            <a:off x="13772214" y="-12700"/>
            <a:ext cx="4511024" cy="10299701"/>
            <a:chOff x="0" y="0"/>
            <a:chExt cx="6014698" cy="13732935"/>
          </a:xfrm>
        </p:grpSpPr>
        <p:sp>
          <p:nvSpPr>
            <p:cNvPr id="5" name="Freeform 5"/>
            <p:cNvSpPr/>
            <p:nvPr/>
          </p:nvSpPr>
          <p:spPr>
            <a:xfrm>
              <a:off x="0" y="0"/>
              <a:ext cx="6014720" cy="13732890"/>
            </a:xfrm>
            <a:custGeom>
              <a:avLst/>
              <a:gdLst/>
              <a:ahLst/>
              <a:cxnLst/>
              <a:rect l="l" t="t" r="r" b="b"/>
              <a:pathLst>
                <a:path w="6014720" h="13732890">
                  <a:moveTo>
                    <a:pt x="4091051" y="0"/>
                  </a:moveTo>
                  <a:lnTo>
                    <a:pt x="6014720" y="0"/>
                  </a:lnTo>
                  <a:lnTo>
                    <a:pt x="6014720" y="13732890"/>
                  </a:lnTo>
                  <a:lnTo>
                    <a:pt x="0" y="13732890"/>
                  </a:lnTo>
                  <a:lnTo>
                    <a:pt x="4091051" y="0"/>
                  </a:lnTo>
                  <a:close/>
                </a:path>
              </a:pathLst>
            </a:custGeom>
            <a:solidFill>
              <a:srgbClr val="6C9286">
                <a:alpha val="12941"/>
              </a:srgbClr>
            </a:solidFill>
          </p:spPr>
        </p:sp>
      </p:grpSp>
      <p:grpSp>
        <p:nvGrpSpPr>
          <p:cNvPr id="6" name="Group 6"/>
          <p:cNvGrpSpPr/>
          <p:nvPr/>
        </p:nvGrpSpPr>
        <p:grpSpPr>
          <a:xfrm>
            <a:off x="14405163" y="-12700"/>
            <a:ext cx="3882837" cy="10299701"/>
            <a:chOff x="0" y="0"/>
            <a:chExt cx="5177116" cy="13732935"/>
          </a:xfrm>
        </p:grpSpPr>
        <p:sp>
          <p:nvSpPr>
            <p:cNvPr id="7" name="Freeform 7"/>
            <p:cNvSpPr/>
            <p:nvPr/>
          </p:nvSpPr>
          <p:spPr>
            <a:xfrm>
              <a:off x="0" y="0"/>
              <a:ext cx="5177155" cy="13732890"/>
            </a:xfrm>
            <a:custGeom>
              <a:avLst/>
              <a:gdLst/>
              <a:ahLst/>
              <a:cxnLst/>
              <a:rect l="l" t="t" r="r" b="b"/>
              <a:pathLst>
                <a:path w="5177155" h="13732890">
                  <a:moveTo>
                    <a:pt x="0" y="0"/>
                  </a:moveTo>
                  <a:lnTo>
                    <a:pt x="5177155" y="0"/>
                  </a:lnTo>
                  <a:lnTo>
                    <a:pt x="5177155" y="13732890"/>
                  </a:lnTo>
                  <a:lnTo>
                    <a:pt x="2418969" y="13732890"/>
                  </a:lnTo>
                  <a:lnTo>
                    <a:pt x="0" y="0"/>
                  </a:lnTo>
                  <a:close/>
                </a:path>
              </a:pathLst>
            </a:custGeom>
            <a:solidFill>
              <a:srgbClr val="6C9286">
                <a:alpha val="3922"/>
              </a:srgbClr>
            </a:solidFill>
          </p:spPr>
        </p:sp>
      </p:grpSp>
      <p:grpSp>
        <p:nvGrpSpPr>
          <p:cNvPr id="8" name="Group 8"/>
          <p:cNvGrpSpPr/>
          <p:nvPr/>
        </p:nvGrpSpPr>
        <p:grpSpPr>
          <a:xfrm>
            <a:off x="13398499" y="4572001"/>
            <a:ext cx="4889501" cy="5715000"/>
            <a:chOff x="0" y="0"/>
            <a:chExt cx="6519334" cy="7620000"/>
          </a:xfrm>
        </p:grpSpPr>
        <p:sp>
          <p:nvSpPr>
            <p:cNvPr id="9" name="Freeform 9"/>
            <p:cNvSpPr/>
            <p:nvPr/>
          </p:nvSpPr>
          <p:spPr>
            <a:xfrm>
              <a:off x="0" y="0"/>
              <a:ext cx="6519291" cy="7620000"/>
            </a:xfrm>
            <a:custGeom>
              <a:avLst/>
              <a:gdLst/>
              <a:ahLst/>
              <a:cxnLst/>
              <a:rect l="l" t="t" r="r" b="b"/>
              <a:pathLst>
                <a:path w="6519291" h="7620000">
                  <a:moveTo>
                    <a:pt x="0" y="7620000"/>
                  </a:moveTo>
                  <a:lnTo>
                    <a:pt x="6519291" y="0"/>
                  </a:lnTo>
                  <a:lnTo>
                    <a:pt x="6519291" y="7620000"/>
                  </a:lnTo>
                  <a:close/>
                </a:path>
              </a:pathLst>
            </a:custGeom>
            <a:solidFill>
              <a:srgbClr val="1D4355">
                <a:alpha val="43529"/>
              </a:srgbClr>
            </a:solidFill>
          </p:spPr>
        </p:sp>
      </p:grpSp>
      <p:grpSp>
        <p:nvGrpSpPr>
          <p:cNvPr id="10" name="Group 10"/>
          <p:cNvGrpSpPr/>
          <p:nvPr/>
        </p:nvGrpSpPr>
        <p:grpSpPr>
          <a:xfrm>
            <a:off x="14001750" y="-12700"/>
            <a:ext cx="4281489" cy="10299701"/>
            <a:chOff x="0" y="0"/>
            <a:chExt cx="5708652" cy="13732935"/>
          </a:xfrm>
        </p:grpSpPr>
        <p:sp>
          <p:nvSpPr>
            <p:cNvPr id="11" name="Freeform 11"/>
            <p:cNvSpPr/>
            <p:nvPr/>
          </p:nvSpPr>
          <p:spPr>
            <a:xfrm>
              <a:off x="0" y="0"/>
              <a:ext cx="5708650" cy="13732890"/>
            </a:xfrm>
            <a:custGeom>
              <a:avLst/>
              <a:gdLst/>
              <a:ahLst/>
              <a:cxnLst/>
              <a:rect l="l" t="t" r="r" b="b"/>
              <a:pathLst>
                <a:path w="5708650" h="13732890">
                  <a:moveTo>
                    <a:pt x="0" y="0"/>
                  </a:moveTo>
                  <a:lnTo>
                    <a:pt x="5708650" y="0"/>
                  </a:lnTo>
                  <a:lnTo>
                    <a:pt x="5708650" y="13732890"/>
                  </a:lnTo>
                  <a:lnTo>
                    <a:pt x="4941443" y="13732890"/>
                  </a:lnTo>
                  <a:lnTo>
                    <a:pt x="0" y="0"/>
                  </a:lnTo>
                  <a:close/>
                </a:path>
              </a:pathLst>
            </a:custGeom>
            <a:solidFill>
              <a:srgbClr val="1D4355">
                <a:alpha val="24706"/>
              </a:srgbClr>
            </a:solidFill>
          </p:spPr>
        </p:sp>
      </p:grpSp>
      <p:grpSp>
        <p:nvGrpSpPr>
          <p:cNvPr id="12" name="Group 12"/>
          <p:cNvGrpSpPr/>
          <p:nvPr/>
        </p:nvGrpSpPr>
        <p:grpSpPr>
          <a:xfrm>
            <a:off x="16348095" y="-12700"/>
            <a:ext cx="1935141" cy="10299701"/>
            <a:chOff x="0" y="0"/>
            <a:chExt cx="2580188" cy="13732935"/>
          </a:xfrm>
        </p:grpSpPr>
        <p:sp>
          <p:nvSpPr>
            <p:cNvPr id="13" name="Freeform 13"/>
            <p:cNvSpPr/>
            <p:nvPr/>
          </p:nvSpPr>
          <p:spPr>
            <a:xfrm>
              <a:off x="0" y="0"/>
              <a:ext cx="2580259" cy="13732890"/>
            </a:xfrm>
            <a:custGeom>
              <a:avLst/>
              <a:gdLst/>
              <a:ahLst/>
              <a:cxnLst/>
              <a:rect l="l" t="t" r="r" b="b"/>
              <a:pathLst>
                <a:path w="2580259" h="13732890">
                  <a:moveTo>
                    <a:pt x="2039493" y="0"/>
                  </a:moveTo>
                  <a:lnTo>
                    <a:pt x="2580259" y="0"/>
                  </a:lnTo>
                  <a:lnTo>
                    <a:pt x="2580259" y="13732890"/>
                  </a:lnTo>
                  <a:lnTo>
                    <a:pt x="0" y="13732890"/>
                  </a:lnTo>
                  <a:lnTo>
                    <a:pt x="2039493" y="0"/>
                  </a:lnTo>
                  <a:close/>
                </a:path>
              </a:pathLst>
            </a:custGeom>
            <a:solidFill>
              <a:srgbClr val="41C1BA">
                <a:alpha val="48627"/>
              </a:srgbClr>
            </a:solidFill>
          </p:spPr>
        </p:sp>
      </p:grpSp>
      <p:grpSp>
        <p:nvGrpSpPr>
          <p:cNvPr id="14" name="Group 14"/>
          <p:cNvGrpSpPr/>
          <p:nvPr/>
        </p:nvGrpSpPr>
        <p:grpSpPr>
          <a:xfrm>
            <a:off x="16408499" y="-12700"/>
            <a:ext cx="1874737" cy="10299701"/>
            <a:chOff x="0" y="0"/>
            <a:chExt cx="2499650" cy="13732935"/>
          </a:xfrm>
        </p:grpSpPr>
        <p:sp>
          <p:nvSpPr>
            <p:cNvPr id="15" name="Freeform 15"/>
            <p:cNvSpPr/>
            <p:nvPr/>
          </p:nvSpPr>
          <p:spPr>
            <a:xfrm>
              <a:off x="0" y="0"/>
              <a:ext cx="2499614" cy="13732890"/>
            </a:xfrm>
            <a:custGeom>
              <a:avLst/>
              <a:gdLst/>
              <a:ahLst/>
              <a:cxnLst/>
              <a:rect l="l" t="t" r="r" b="b"/>
              <a:pathLst>
                <a:path w="2499614" h="13732890">
                  <a:moveTo>
                    <a:pt x="0" y="0"/>
                  </a:moveTo>
                  <a:lnTo>
                    <a:pt x="2499614" y="0"/>
                  </a:lnTo>
                  <a:lnTo>
                    <a:pt x="2499614" y="13732890"/>
                  </a:lnTo>
                  <a:lnTo>
                    <a:pt x="2218817" y="13732890"/>
                  </a:lnTo>
                  <a:lnTo>
                    <a:pt x="0" y="0"/>
                  </a:lnTo>
                  <a:close/>
                </a:path>
              </a:pathLst>
            </a:custGeom>
            <a:solidFill>
              <a:srgbClr val="365B6D">
                <a:alpha val="63922"/>
              </a:srgbClr>
            </a:solidFill>
          </p:spPr>
        </p:sp>
      </p:grpSp>
      <p:grpSp>
        <p:nvGrpSpPr>
          <p:cNvPr id="16" name="Group 16"/>
          <p:cNvGrpSpPr/>
          <p:nvPr/>
        </p:nvGrpSpPr>
        <p:grpSpPr>
          <a:xfrm>
            <a:off x="15557499" y="5384801"/>
            <a:ext cx="2725738" cy="4902200"/>
            <a:chOff x="0" y="0"/>
            <a:chExt cx="3634318" cy="6536266"/>
          </a:xfrm>
        </p:grpSpPr>
        <p:sp>
          <p:nvSpPr>
            <p:cNvPr id="17" name="Freeform 17"/>
            <p:cNvSpPr/>
            <p:nvPr/>
          </p:nvSpPr>
          <p:spPr>
            <a:xfrm>
              <a:off x="0" y="0"/>
              <a:ext cx="3634359" cy="6536309"/>
            </a:xfrm>
            <a:custGeom>
              <a:avLst/>
              <a:gdLst/>
              <a:ahLst/>
              <a:cxnLst/>
              <a:rect l="l" t="t" r="r" b="b"/>
              <a:pathLst>
                <a:path w="3634359" h="6536309">
                  <a:moveTo>
                    <a:pt x="0" y="6536309"/>
                  </a:moveTo>
                  <a:lnTo>
                    <a:pt x="3634359" y="0"/>
                  </a:lnTo>
                  <a:lnTo>
                    <a:pt x="3634359" y="6536309"/>
                  </a:lnTo>
                  <a:close/>
                </a:path>
              </a:pathLst>
            </a:custGeom>
            <a:solidFill>
              <a:srgbClr val="1D4355">
                <a:alpha val="43529"/>
              </a:srgbClr>
            </a:solidFill>
          </p:spPr>
        </p:sp>
      </p:grpSp>
      <p:grpSp>
        <p:nvGrpSpPr>
          <p:cNvPr id="18" name="Group 18"/>
          <p:cNvGrpSpPr/>
          <p:nvPr/>
        </p:nvGrpSpPr>
        <p:grpSpPr>
          <a:xfrm>
            <a:off x="0" y="6019801"/>
            <a:ext cx="673100" cy="4267200"/>
            <a:chOff x="0" y="0"/>
            <a:chExt cx="897466" cy="5689600"/>
          </a:xfrm>
        </p:grpSpPr>
        <p:sp>
          <p:nvSpPr>
            <p:cNvPr id="19" name="Freeform 19"/>
            <p:cNvSpPr/>
            <p:nvPr/>
          </p:nvSpPr>
          <p:spPr>
            <a:xfrm>
              <a:off x="0" y="0"/>
              <a:ext cx="897509" cy="5689600"/>
            </a:xfrm>
            <a:custGeom>
              <a:avLst/>
              <a:gdLst/>
              <a:ahLst/>
              <a:cxnLst/>
              <a:rect l="l" t="t" r="r" b="b"/>
              <a:pathLst>
                <a:path w="897509" h="5689600">
                  <a:moveTo>
                    <a:pt x="0" y="5689600"/>
                  </a:moveTo>
                  <a:lnTo>
                    <a:pt x="0" y="0"/>
                  </a:lnTo>
                  <a:lnTo>
                    <a:pt x="897509" y="5689600"/>
                  </a:lnTo>
                  <a:close/>
                </a:path>
              </a:pathLst>
            </a:custGeom>
            <a:solidFill>
              <a:srgbClr val="6C9286">
                <a:alpha val="48627"/>
              </a:srgbClr>
            </a:solidFill>
          </p:spPr>
        </p:sp>
      </p:grpSp>
      <p:grpSp>
        <p:nvGrpSpPr>
          <p:cNvPr id="20" name="Group 20"/>
          <p:cNvGrpSpPr/>
          <p:nvPr/>
        </p:nvGrpSpPr>
        <p:grpSpPr>
          <a:xfrm>
            <a:off x="520296" y="209516"/>
            <a:ext cx="5761174" cy="1088838"/>
            <a:chOff x="0" y="0"/>
            <a:chExt cx="7681565" cy="1451784"/>
          </a:xfrm>
        </p:grpSpPr>
        <p:sp>
          <p:nvSpPr>
            <p:cNvPr id="21" name="Freeform 21"/>
            <p:cNvSpPr/>
            <p:nvPr/>
          </p:nvSpPr>
          <p:spPr>
            <a:xfrm>
              <a:off x="0" y="0"/>
              <a:ext cx="7681595" cy="1451737"/>
            </a:xfrm>
            <a:custGeom>
              <a:avLst/>
              <a:gdLst/>
              <a:ahLst/>
              <a:cxnLst/>
              <a:rect l="l" t="t" r="r" b="b"/>
              <a:pathLst>
                <a:path w="7681595" h="1451737">
                  <a:moveTo>
                    <a:pt x="0" y="0"/>
                  </a:moveTo>
                  <a:lnTo>
                    <a:pt x="7681595" y="0"/>
                  </a:lnTo>
                  <a:lnTo>
                    <a:pt x="7681595" y="1451737"/>
                  </a:lnTo>
                  <a:lnTo>
                    <a:pt x="0" y="1451737"/>
                  </a:lnTo>
                  <a:lnTo>
                    <a:pt x="0" y="0"/>
                  </a:lnTo>
                  <a:close/>
                </a:path>
              </a:pathLst>
            </a:custGeom>
            <a:blipFill>
              <a:blip r:embed="rId2"/>
              <a:stretch>
                <a:fillRect t="-2789" b="-2793"/>
              </a:stretch>
            </a:blipFill>
          </p:spPr>
        </p:sp>
      </p:grpSp>
      <p:grpSp>
        <p:nvGrpSpPr>
          <p:cNvPr id="22" name="Group 22"/>
          <p:cNvGrpSpPr/>
          <p:nvPr/>
        </p:nvGrpSpPr>
        <p:grpSpPr>
          <a:xfrm>
            <a:off x="152443" y="1463411"/>
            <a:ext cx="7772358" cy="5966090"/>
            <a:chOff x="0" y="0"/>
            <a:chExt cx="10731385" cy="7954787"/>
          </a:xfrm>
        </p:grpSpPr>
        <p:sp>
          <p:nvSpPr>
            <p:cNvPr id="23" name="Freeform 23"/>
            <p:cNvSpPr/>
            <p:nvPr/>
          </p:nvSpPr>
          <p:spPr>
            <a:xfrm>
              <a:off x="0" y="0"/>
              <a:ext cx="10731373" cy="7954772"/>
            </a:xfrm>
            <a:custGeom>
              <a:avLst/>
              <a:gdLst/>
              <a:ahLst/>
              <a:cxnLst/>
              <a:rect l="l" t="t" r="r" b="b"/>
              <a:pathLst>
                <a:path w="10731373" h="7954772">
                  <a:moveTo>
                    <a:pt x="1231900" y="0"/>
                  </a:moveTo>
                  <a:lnTo>
                    <a:pt x="9499473" y="0"/>
                  </a:lnTo>
                  <a:cubicBezTo>
                    <a:pt x="10179832" y="0"/>
                    <a:pt x="10731373" y="551540"/>
                    <a:pt x="10731373" y="1231900"/>
                  </a:cubicBezTo>
                  <a:lnTo>
                    <a:pt x="10731373" y="6722872"/>
                  </a:lnTo>
                  <a:cubicBezTo>
                    <a:pt x="10731373" y="7049592"/>
                    <a:pt x="10601584" y="7362930"/>
                    <a:pt x="10370558" y="7593957"/>
                  </a:cubicBezTo>
                  <a:cubicBezTo>
                    <a:pt x="10139531" y="7824983"/>
                    <a:pt x="9826193" y="7954772"/>
                    <a:pt x="9499473" y="7954772"/>
                  </a:cubicBezTo>
                  <a:lnTo>
                    <a:pt x="1231900" y="7954772"/>
                  </a:lnTo>
                  <a:cubicBezTo>
                    <a:pt x="905180" y="7954772"/>
                    <a:pt x="591841" y="7824983"/>
                    <a:pt x="360815" y="7593957"/>
                  </a:cubicBezTo>
                  <a:cubicBezTo>
                    <a:pt x="129789" y="7362930"/>
                    <a:pt x="0" y="7049592"/>
                    <a:pt x="0" y="6722872"/>
                  </a:cubicBezTo>
                  <a:lnTo>
                    <a:pt x="0" y="1231900"/>
                  </a:lnTo>
                  <a:cubicBezTo>
                    <a:pt x="0" y="551540"/>
                    <a:pt x="551540" y="0"/>
                    <a:pt x="1231900" y="0"/>
                  </a:cubicBezTo>
                  <a:close/>
                </a:path>
              </a:pathLst>
            </a:custGeom>
            <a:blipFill>
              <a:blip r:embed="rId3"/>
              <a:stretch>
                <a:fillRect l="-14815" r="-14815"/>
              </a:stretch>
            </a:blipFill>
          </p:spPr>
        </p:sp>
      </p:grpSp>
      <p:sp>
        <p:nvSpPr>
          <p:cNvPr id="24" name="TextBox 24"/>
          <p:cNvSpPr txBox="1"/>
          <p:nvPr/>
        </p:nvSpPr>
        <p:spPr>
          <a:xfrm>
            <a:off x="8955044" y="2709863"/>
            <a:ext cx="7965324" cy="1862137"/>
          </a:xfrm>
          <a:prstGeom prst="rect">
            <a:avLst/>
          </a:prstGeom>
        </p:spPr>
        <p:txBody>
          <a:bodyPr lIns="0" tIns="0" rIns="0" bIns="0" rtlCol="0" anchor="t">
            <a:spAutoFit/>
          </a:bodyPr>
          <a:lstStyle/>
          <a:p>
            <a:pPr algn="l">
              <a:lnSpc>
                <a:spcPts val="7200"/>
              </a:lnSpc>
            </a:pPr>
            <a:r>
              <a:rPr lang="en-US" sz="6000" b="1" u="sng">
                <a:solidFill>
                  <a:srgbClr val="F7F7F7"/>
                </a:solidFill>
                <a:latin typeface="Public Sans Bold"/>
                <a:ea typeface="Public Sans Bold"/>
                <a:cs typeface="Public Sans Bold"/>
                <a:sym typeface="Public Sans Bold"/>
              </a:rPr>
              <a:t>Community Impact of Fair Income</a:t>
            </a:r>
          </a:p>
        </p:txBody>
      </p:sp>
      <p:sp>
        <p:nvSpPr>
          <p:cNvPr id="25" name="TextBox 25"/>
          <p:cNvSpPr txBox="1"/>
          <p:nvPr/>
        </p:nvSpPr>
        <p:spPr>
          <a:xfrm>
            <a:off x="8788399" y="4771788"/>
            <a:ext cx="7965324" cy="1159351"/>
          </a:xfrm>
          <a:prstGeom prst="rect">
            <a:avLst/>
          </a:prstGeom>
        </p:spPr>
        <p:txBody>
          <a:bodyPr lIns="0" tIns="0" rIns="0" bIns="0" rtlCol="0" anchor="t">
            <a:spAutoFit/>
          </a:bodyPr>
          <a:lstStyle/>
          <a:p>
            <a:pPr algn="l">
              <a:lnSpc>
                <a:spcPts val="4480"/>
              </a:lnSpc>
            </a:pPr>
            <a:r>
              <a:rPr lang="en-US" sz="3200" u="sng">
                <a:solidFill>
                  <a:srgbClr val="F7F7F7"/>
                </a:solidFill>
                <a:latin typeface="Public Sans"/>
                <a:ea typeface="Public Sans"/>
                <a:cs typeface="Public Sans"/>
                <a:sym typeface="Public Sans"/>
              </a:rPr>
              <a:t>Promoting equality through fair pay distribution</a:t>
            </a:r>
          </a:p>
        </p:txBody>
      </p:sp>
      <p:sp>
        <p:nvSpPr>
          <p:cNvPr id="26" name="TextBox 26"/>
          <p:cNvSpPr txBox="1"/>
          <p:nvPr/>
        </p:nvSpPr>
        <p:spPr>
          <a:xfrm>
            <a:off x="0" y="7778751"/>
            <a:ext cx="17576799" cy="2061846"/>
          </a:xfrm>
          <a:prstGeom prst="rect">
            <a:avLst/>
          </a:prstGeom>
        </p:spPr>
        <p:txBody>
          <a:bodyPr lIns="0" tIns="0" rIns="0" bIns="0" rtlCol="0" anchor="t">
            <a:spAutoFit/>
          </a:bodyPr>
          <a:lstStyle/>
          <a:p>
            <a:pPr algn="ctr">
              <a:lnSpc>
                <a:spcPts val="4059"/>
              </a:lnSpc>
              <a:spcBef>
                <a:spcPct val="0"/>
              </a:spcBef>
            </a:pPr>
            <a:r>
              <a:rPr lang="en-US" sz="2899" dirty="0">
                <a:solidFill>
                  <a:srgbClr val="F7F7F7"/>
                </a:solidFill>
                <a:latin typeface="Didact Gothic"/>
                <a:ea typeface="Didact Gothic"/>
                <a:cs typeface="Didact Gothic"/>
                <a:sym typeface="Didact Gothic"/>
              </a:rPr>
              <a:t>Beyond individual companies, fair and transparent salary allocation reduces income inequality, promotes workforce stability, and strengthens economic growth in the wider community. It empowers employees, increases local spending, and fosters sustainable industry practices. The company will be able to give back to the community in terms of hiring more people and also offering subsidized services for them.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6C9286"/>
        </a:solidFill>
        <a:effectLst/>
      </p:bgPr>
    </p:bg>
    <p:spTree>
      <p:nvGrpSpPr>
        <p:cNvPr id="1" name=""/>
        <p:cNvGrpSpPr/>
        <p:nvPr/>
      </p:nvGrpSpPr>
      <p:grpSpPr>
        <a:xfrm>
          <a:off x="0" y="0"/>
          <a:ext cx="0" cy="0"/>
          <a:chOff x="0" y="0"/>
          <a:chExt cx="0" cy="0"/>
        </a:xfrm>
      </p:grpSpPr>
      <p:sp>
        <p:nvSpPr>
          <p:cNvPr id="2" name="AutoShape 2"/>
          <p:cNvSpPr/>
          <p:nvPr/>
        </p:nvSpPr>
        <p:spPr>
          <a:xfrm rot="4791364">
            <a:off x="9738483" y="5143501"/>
            <a:ext cx="10464870" cy="0"/>
          </a:xfrm>
          <a:prstGeom prst="line">
            <a:avLst/>
          </a:prstGeom>
          <a:ln w="9525" cap="rnd">
            <a:solidFill>
              <a:srgbClr val="365B6D"/>
            </a:solidFill>
            <a:prstDash val="solid"/>
            <a:headEnd type="none" w="sm" len="sm"/>
            <a:tailEnd type="none" w="sm" len="sm"/>
          </a:ln>
        </p:spPr>
      </p:sp>
      <p:sp>
        <p:nvSpPr>
          <p:cNvPr id="3" name="AutoShape 3"/>
          <p:cNvSpPr/>
          <p:nvPr/>
        </p:nvSpPr>
        <p:spPr>
          <a:xfrm rot="8776573">
            <a:off x="10406482" y="7904561"/>
            <a:ext cx="8608175" cy="0"/>
          </a:xfrm>
          <a:prstGeom prst="line">
            <a:avLst/>
          </a:prstGeom>
          <a:ln w="9525" cap="rnd">
            <a:solidFill>
              <a:srgbClr val="365B6D"/>
            </a:solidFill>
            <a:prstDash val="solid"/>
            <a:headEnd type="none" w="sm" len="sm"/>
            <a:tailEnd type="none" w="sm" len="sm"/>
          </a:ln>
        </p:spPr>
      </p:sp>
      <p:grpSp>
        <p:nvGrpSpPr>
          <p:cNvPr id="4" name="Group 4"/>
          <p:cNvGrpSpPr/>
          <p:nvPr/>
        </p:nvGrpSpPr>
        <p:grpSpPr>
          <a:xfrm>
            <a:off x="13772214" y="-12700"/>
            <a:ext cx="4511024" cy="10299701"/>
            <a:chOff x="0" y="0"/>
            <a:chExt cx="6014698" cy="13732935"/>
          </a:xfrm>
        </p:grpSpPr>
        <p:sp>
          <p:nvSpPr>
            <p:cNvPr id="5" name="Freeform 5"/>
            <p:cNvSpPr/>
            <p:nvPr/>
          </p:nvSpPr>
          <p:spPr>
            <a:xfrm>
              <a:off x="0" y="0"/>
              <a:ext cx="6014720" cy="13732890"/>
            </a:xfrm>
            <a:custGeom>
              <a:avLst/>
              <a:gdLst/>
              <a:ahLst/>
              <a:cxnLst/>
              <a:rect l="l" t="t" r="r" b="b"/>
              <a:pathLst>
                <a:path w="6014720" h="13732890">
                  <a:moveTo>
                    <a:pt x="4091051" y="0"/>
                  </a:moveTo>
                  <a:lnTo>
                    <a:pt x="6014720" y="0"/>
                  </a:lnTo>
                  <a:lnTo>
                    <a:pt x="6014720" y="13732890"/>
                  </a:lnTo>
                  <a:lnTo>
                    <a:pt x="0" y="13732890"/>
                  </a:lnTo>
                  <a:lnTo>
                    <a:pt x="4091051" y="0"/>
                  </a:lnTo>
                  <a:close/>
                </a:path>
              </a:pathLst>
            </a:custGeom>
            <a:solidFill>
              <a:srgbClr val="365B6D">
                <a:alpha val="12941"/>
              </a:srgbClr>
            </a:solidFill>
          </p:spPr>
        </p:sp>
      </p:grpSp>
      <p:grpSp>
        <p:nvGrpSpPr>
          <p:cNvPr id="6" name="Group 6"/>
          <p:cNvGrpSpPr/>
          <p:nvPr/>
        </p:nvGrpSpPr>
        <p:grpSpPr>
          <a:xfrm>
            <a:off x="14405163" y="-12700"/>
            <a:ext cx="3882837" cy="10299701"/>
            <a:chOff x="0" y="0"/>
            <a:chExt cx="5177116" cy="13732935"/>
          </a:xfrm>
        </p:grpSpPr>
        <p:sp>
          <p:nvSpPr>
            <p:cNvPr id="7" name="Freeform 7"/>
            <p:cNvSpPr/>
            <p:nvPr/>
          </p:nvSpPr>
          <p:spPr>
            <a:xfrm>
              <a:off x="0" y="0"/>
              <a:ext cx="5177155" cy="13732890"/>
            </a:xfrm>
            <a:custGeom>
              <a:avLst/>
              <a:gdLst/>
              <a:ahLst/>
              <a:cxnLst/>
              <a:rect l="l" t="t" r="r" b="b"/>
              <a:pathLst>
                <a:path w="5177155" h="13732890">
                  <a:moveTo>
                    <a:pt x="0" y="0"/>
                  </a:moveTo>
                  <a:lnTo>
                    <a:pt x="5177155" y="0"/>
                  </a:lnTo>
                  <a:lnTo>
                    <a:pt x="5177155" y="13732890"/>
                  </a:lnTo>
                  <a:lnTo>
                    <a:pt x="2418969" y="13732890"/>
                  </a:lnTo>
                  <a:lnTo>
                    <a:pt x="0" y="0"/>
                  </a:lnTo>
                  <a:close/>
                </a:path>
              </a:pathLst>
            </a:custGeom>
            <a:solidFill>
              <a:srgbClr val="365B6D">
                <a:alpha val="3922"/>
              </a:srgbClr>
            </a:solidFill>
          </p:spPr>
        </p:sp>
      </p:grpSp>
      <p:grpSp>
        <p:nvGrpSpPr>
          <p:cNvPr id="8" name="Group 8"/>
          <p:cNvGrpSpPr/>
          <p:nvPr/>
        </p:nvGrpSpPr>
        <p:grpSpPr>
          <a:xfrm>
            <a:off x="13398499" y="4572001"/>
            <a:ext cx="4889501" cy="5715000"/>
            <a:chOff x="0" y="0"/>
            <a:chExt cx="6519334" cy="7620000"/>
          </a:xfrm>
        </p:grpSpPr>
        <p:sp>
          <p:nvSpPr>
            <p:cNvPr id="9" name="Freeform 9"/>
            <p:cNvSpPr/>
            <p:nvPr/>
          </p:nvSpPr>
          <p:spPr>
            <a:xfrm>
              <a:off x="0" y="0"/>
              <a:ext cx="6519291" cy="7620000"/>
            </a:xfrm>
            <a:custGeom>
              <a:avLst/>
              <a:gdLst/>
              <a:ahLst/>
              <a:cxnLst/>
              <a:rect l="l" t="t" r="r" b="b"/>
              <a:pathLst>
                <a:path w="6519291" h="7620000">
                  <a:moveTo>
                    <a:pt x="0" y="7620000"/>
                  </a:moveTo>
                  <a:lnTo>
                    <a:pt x="6519291" y="0"/>
                  </a:lnTo>
                  <a:lnTo>
                    <a:pt x="6519291" y="7620000"/>
                  </a:lnTo>
                  <a:close/>
                </a:path>
              </a:pathLst>
            </a:custGeom>
            <a:solidFill>
              <a:srgbClr val="289DD2">
                <a:alpha val="43529"/>
              </a:srgbClr>
            </a:solidFill>
          </p:spPr>
        </p:sp>
      </p:grpSp>
      <p:grpSp>
        <p:nvGrpSpPr>
          <p:cNvPr id="10" name="Group 10"/>
          <p:cNvGrpSpPr/>
          <p:nvPr/>
        </p:nvGrpSpPr>
        <p:grpSpPr>
          <a:xfrm>
            <a:off x="14001750" y="-12700"/>
            <a:ext cx="4281489" cy="10299701"/>
            <a:chOff x="0" y="0"/>
            <a:chExt cx="5708652" cy="13732935"/>
          </a:xfrm>
        </p:grpSpPr>
        <p:sp>
          <p:nvSpPr>
            <p:cNvPr id="11" name="Freeform 11"/>
            <p:cNvSpPr/>
            <p:nvPr/>
          </p:nvSpPr>
          <p:spPr>
            <a:xfrm>
              <a:off x="0" y="0"/>
              <a:ext cx="5708650" cy="13732890"/>
            </a:xfrm>
            <a:custGeom>
              <a:avLst/>
              <a:gdLst/>
              <a:ahLst/>
              <a:cxnLst/>
              <a:rect l="l" t="t" r="r" b="b"/>
              <a:pathLst>
                <a:path w="5708650" h="13732890">
                  <a:moveTo>
                    <a:pt x="0" y="0"/>
                  </a:moveTo>
                  <a:lnTo>
                    <a:pt x="5708650" y="0"/>
                  </a:lnTo>
                  <a:lnTo>
                    <a:pt x="5708650" y="13732890"/>
                  </a:lnTo>
                  <a:lnTo>
                    <a:pt x="4941443" y="13732890"/>
                  </a:lnTo>
                  <a:lnTo>
                    <a:pt x="0" y="0"/>
                  </a:lnTo>
                  <a:close/>
                </a:path>
              </a:pathLst>
            </a:custGeom>
            <a:solidFill>
              <a:srgbClr val="289DD2">
                <a:alpha val="24706"/>
              </a:srgbClr>
            </a:solidFill>
          </p:spPr>
        </p:sp>
      </p:grpSp>
      <p:grpSp>
        <p:nvGrpSpPr>
          <p:cNvPr id="12" name="Group 12"/>
          <p:cNvGrpSpPr/>
          <p:nvPr/>
        </p:nvGrpSpPr>
        <p:grpSpPr>
          <a:xfrm>
            <a:off x="16348095" y="-12700"/>
            <a:ext cx="1935141" cy="10299701"/>
            <a:chOff x="0" y="0"/>
            <a:chExt cx="2580188" cy="13732935"/>
          </a:xfrm>
        </p:grpSpPr>
        <p:sp>
          <p:nvSpPr>
            <p:cNvPr id="13" name="Freeform 13"/>
            <p:cNvSpPr/>
            <p:nvPr/>
          </p:nvSpPr>
          <p:spPr>
            <a:xfrm>
              <a:off x="0" y="0"/>
              <a:ext cx="2580259" cy="13732890"/>
            </a:xfrm>
            <a:custGeom>
              <a:avLst/>
              <a:gdLst/>
              <a:ahLst/>
              <a:cxnLst/>
              <a:rect l="l" t="t" r="r" b="b"/>
              <a:pathLst>
                <a:path w="2580259" h="13732890">
                  <a:moveTo>
                    <a:pt x="2039493" y="0"/>
                  </a:moveTo>
                  <a:lnTo>
                    <a:pt x="2580259" y="0"/>
                  </a:lnTo>
                  <a:lnTo>
                    <a:pt x="2580259" y="13732890"/>
                  </a:lnTo>
                  <a:lnTo>
                    <a:pt x="0" y="13732890"/>
                  </a:lnTo>
                  <a:lnTo>
                    <a:pt x="2039493" y="0"/>
                  </a:lnTo>
                  <a:close/>
                </a:path>
              </a:pathLst>
            </a:custGeom>
            <a:solidFill>
              <a:srgbClr val="6C9286">
                <a:alpha val="48627"/>
              </a:srgbClr>
            </a:solidFill>
          </p:spPr>
        </p:sp>
      </p:grpSp>
      <p:grpSp>
        <p:nvGrpSpPr>
          <p:cNvPr id="14" name="Group 14"/>
          <p:cNvGrpSpPr/>
          <p:nvPr/>
        </p:nvGrpSpPr>
        <p:grpSpPr>
          <a:xfrm>
            <a:off x="16408499" y="-12700"/>
            <a:ext cx="1874737" cy="10299701"/>
            <a:chOff x="0" y="0"/>
            <a:chExt cx="2499650" cy="13732935"/>
          </a:xfrm>
        </p:grpSpPr>
        <p:sp>
          <p:nvSpPr>
            <p:cNvPr id="15" name="Freeform 15"/>
            <p:cNvSpPr/>
            <p:nvPr/>
          </p:nvSpPr>
          <p:spPr>
            <a:xfrm>
              <a:off x="0" y="0"/>
              <a:ext cx="2499614" cy="13732890"/>
            </a:xfrm>
            <a:custGeom>
              <a:avLst/>
              <a:gdLst/>
              <a:ahLst/>
              <a:cxnLst/>
              <a:rect l="l" t="t" r="r" b="b"/>
              <a:pathLst>
                <a:path w="2499614" h="13732890">
                  <a:moveTo>
                    <a:pt x="0" y="0"/>
                  </a:moveTo>
                  <a:lnTo>
                    <a:pt x="2499614" y="0"/>
                  </a:lnTo>
                  <a:lnTo>
                    <a:pt x="2499614" y="13732890"/>
                  </a:lnTo>
                  <a:lnTo>
                    <a:pt x="2218817" y="13732890"/>
                  </a:lnTo>
                  <a:lnTo>
                    <a:pt x="0" y="0"/>
                  </a:lnTo>
                  <a:close/>
                </a:path>
              </a:pathLst>
            </a:custGeom>
            <a:solidFill>
              <a:srgbClr val="365B6D">
                <a:alpha val="63922"/>
              </a:srgbClr>
            </a:solidFill>
          </p:spPr>
        </p:sp>
      </p:grpSp>
      <p:grpSp>
        <p:nvGrpSpPr>
          <p:cNvPr id="16" name="Group 16"/>
          <p:cNvGrpSpPr/>
          <p:nvPr/>
        </p:nvGrpSpPr>
        <p:grpSpPr>
          <a:xfrm>
            <a:off x="15557499" y="5384801"/>
            <a:ext cx="2725738" cy="4902200"/>
            <a:chOff x="0" y="0"/>
            <a:chExt cx="3634318" cy="6536266"/>
          </a:xfrm>
        </p:grpSpPr>
        <p:sp>
          <p:nvSpPr>
            <p:cNvPr id="17" name="Freeform 17"/>
            <p:cNvSpPr/>
            <p:nvPr/>
          </p:nvSpPr>
          <p:spPr>
            <a:xfrm>
              <a:off x="0" y="0"/>
              <a:ext cx="3634359" cy="6536309"/>
            </a:xfrm>
            <a:custGeom>
              <a:avLst/>
              <a:gdLst/>
              <a:ahLst/>
              <a:cxnLst/>
              <a:rect l="l" t="t" r="r" b="b"/>
              <a:pathLst>
                <a:path w="3634359" h="6536309">
                  <a:moveTo>
                    <a:pt x="0" y="6536309"/>
                  </a:moveTo>
                  <a:lnTo>
                    <a:pt x="3634359" y="0"/>
                  </a:lnTo>
                  <a:lnTo>
                    <a:pt x="3634359" y="6536309"/>
                  </a:lnTo>
                  <a:close/>
                </a:path>
              </a:pathLst>
            </a:custGeom>
            <a:solidFill>
              <a:srgbClr val="289DD2">
                <a:alpha val="43529"/>
              </a:srgbClr>
            </a:solidFill>
          </p:spPr>
        </p:sp>
      </p:grpSp>
      <p:grpSp>
        <p:nvGrpSpPr>
          <p:cNvPr id="18" name="Group 18"/>
          <p:cNvGrpSpPr/>
          <p:nvPr/>
        </p:nvGrpSpPr>
        <p:grpSpPr>
          <a:xfrm>
            <a:off x="0" y="6019801"/>
            <a:ext cx="673100" cy="4267200"/>
            <a:chOff x="0" y="0"/>
            <a:chExt cx="897466" cy="5689600"/>
          </a:xfrm>
        </p:grpSpPr>
        <p:sp>
          <p:nvSpPr>
            <p:cNvPr id="19" name="Freeform 19"/>
            <p:cNvSpPr/>
            <p:nvPr/>
          </p:nvSpPr>
          <p:spPr>
            <a:xfrm>
              <a:off x="0" y="0"/>
              <a:ext cx="897509" cy="5689600"/>
            </a:xfrm>
            <a:custGeom>
              <a:avLst/>
              <a:gdLst/>
              <a:ahLst/>
              <a:cxnLst/>
              <a:rect l="l" t="t" r="r" b="b"/>
              <a:pathLst>
                <a:path w="897509" h="5689600">
                  <a:moveTo>
                    <a:pt x="0" y="5689600"/>
                  </a:moveTo>
                  <a:lnTo>
                    <a:pt x="0" y="0"/>
                  </a:lnTo>
                  <a:lnTo>
                    <a:pt x="897509" y="5689600"/>
                  </a:lnTo>
                  <a:close/>
                </a:path>
              </a:pathLst>
            </a:custGeom>
            <a:solidFill>
              <a:srgbClr val="365B6D">
                <a:alpha val="48627"/>
              </a:srgbClr>
            </a:solidFill>
          </p:spPr>
        </p:sp>
      </p:grpSp>
      <p:sp>
        <p:nvSpPr>
          <p:cNvPr id="20" name="TextBox 20"/>
          <p:cNvSpPr txBox="1"/>
          <p:nvPr/>
        </p:nvSpPr>
        <p:spPr>
          <a:xfrm>
            <a:off x="10297986" y="2163983"/>
            <a:ext cx="6649915" cy="547370"/>
          </a:xfrm>
          <a:prstGeom prst="rect">
            <a:avLst/>
          </a:prstGeom>
        </p:spPr>
        <p:txBody>
          <a:bodyPr lIns="0" tIns="0" rIns="0" bIns="0" rtlCol="0" anchor="t">
            <a:spAutoFit/>
          </a:bodyPr>
          <a:lstStyle/>
          <a:p>
            <a:pPr algn="l">
              <a:lnSpc>
                <a:spcPts val="4479"/>
              </a:lnSpc>
            </a:pPr>
            <a:r>
              <a:rPr lang="en-US" sz="3199" b="1" u="sng">
                <a:solidFill>
                  <a:srgbClr val="F7F7F7"/>
                </a:solidFill>
                <a:latin typeface="Public Sans Bold"/>
                <a:ea typeface="Public Sans Bold"/>
                <a:cs typeface="Public Sans Bold"/>
                <a:sym typeface="Public Sans Bold"/>
              </a:rPr>
              <a:t>Accuracy target</a:t>
            </a:r>
          </a:p>
        </p:txBody>
      </p:sp>
      <p:sp>
        <p:nvSpPr>
          <p:cNvPr id="21" name="TextBox 21"/>
          <p:cNvSpPr txBox="1"/>
          <p:nvPr/>
        </p:nvSpPr>
        <p:spPr>
          <a:xfrm>
            <a:off x="10297986" y="2741894"/>
            <a:ext cx="6649915" cy="986119"/>
          </a:xfrm>
          <a:prstGeom prst="rect">
            <a:avLst/>
          </a:prstGeom>
        </p:spPr>
        <p:txBody>
          <a:bodyPr lIns="0" tIns="0" rIns="0" bIns="0" rtlCol="0" anchor="t">
            <a:spAutoFit/>
          </a:bodyPr>
          <a:lstStyle/>
          <a:p>
            <a:pPr algn="l">
              <a:lnSpc>
                <a:spcPts val="3919"/>
              </a:lnSpc>
            </a:pPr>
            <a:r>
              <a:rPr lang="en-US" sz="2798">
                <a:solidFill>
                  <a:srgbClr val="F7F7F7"/>
                </a:solidFill>
                <a:latin typeface="Public Sans"/>
                <a:ea typeface="Public Sans"/>
                <a:cs typeface="Public Sans"/>
                <a:sym typeface="Public Sans"/>
              </a:rPr>
              <a:t>Achieve </a:t>
            </a:r>
            <a:r>
              <a:rPr lang="en-US" sz="2798" b="1">
                <a:solidFill>
                  <a:srgbClr val="F7F7F7"/>
                </a:solidFill>
                <a:latin typeface="Public Sans Bold"/>
                <a:ea typeface="Public Sans Bold"/>
                <a:cs typeface="Public Sans Bold"/>
                <a:sym typeface="Public Sans Bold"/>
              </a:rPr>
              <a:t>65% accuracy</a:t>
            </a:r>
            <a:r>
              <a:rPr lang="en-US" sz="2798">
                <a:solidFill>
                  <a:srgbClr val="F7F7F7"/>
                </a:solidFill>
                <a:latin typeface="Public Sans"/>
                <a:ea typeface="Public Sans"/>
                <a:cs typeface="Public Sans"/>
                <a:sym typeface="Public Sans"/>
              </a:rPr>
              <a:t> in salary predictions for better budgeting.</a:t>
            </a:r>
          </a:p>
        </p:txBody>
      </p:sp>
      <p:sp>
        <p:nvSpPr>
          <p:cNvPr id="22" name="TextBox 22"/>
          <p:cNvSpPr txBox="1"/>
          <p:nvPr/>
        </p:nvSpPr>
        <p:spPr>
          <a:xfrm>
            <a:off x="10297986" y="4370540"/>
            <a:ext cx="6649915" cy="547370"/>
          </a:xfrm>
          <a:prstGeom prst="rect">
            <a:avLst/>
          </a:prstGeom>
        </p:spPr>
        <p:txBody>
          <a:bodyPr lIns="0" tIns="0" rIns="0" bIns="0" rtlCol="0" anchor="t">
            <a:spAutoFit/>
          </a:bodyPr>
          <a:lstStyle/>
          <a:p>
            <a:pPr algn="l">
              <a:lnSpc>
                <a:spcPts val="4479"/>
              </a:lnSpc>
            </a:pPr>
            <a:r>
              <a:rPr lang="en-US" sz="3199" b="1" u="sng">
                <a:solidFill>
                  <a:srgbClr val="F7F7F7"/>
                </a:solidFill>
                <a:latin typeface="Public Sans Bold"/>
                <a:ea typeface="Public Sans Bold"/>
                <a:cs typeface="Public Sans Bold"/>
                <a:sym typeface="Public Sans Bold"/>
              </a:rPr>
              <a:t>Equity reduction</a:t>
            </a:r>
          </a:p>
        </p:txBody>
      </p:sp>
      <p:sp>
        <p:nvSpPr>
          <p:cNvPr id="23" name="TextBox 23"/>
          <p:cNvSpPr txBox="1"/>
          <p:nvPr/>
        </p:nvSpPr>
        <p:spPr>
          <a:xfrm>
            <a:off x="10297986" y="4948451"/>
            <a:ext cx="6649915" cy="1021677"/>
          </a:xfrm>
          <a:prstGeom prst="rect">
            <a:avLst/>
          </a:prstGeom>
        </p:spPr>
        <p:txBody>
          <a:bodyPr lIns="0" tIns="0" rIns="0" bIns="0" rtlCol="0" anchor="t">
            <a:spAutoFit/>
          </a:bodyPr>
          <a:lstStyle/>
          <a:p>
            <a:pPr algn="l">
              <a:lnSpc>
                <a:spcPts val="4059"/>
              </a:lnSpc>
            </a:pPr>
            <a:r>
              <a:rPr lang="en-US" sz="2898">
                <a:solidFill>
                  <a:srgbClr val="F7F7F7"/>
                </a:solidFill>
                <a:latin typeface="Public Sans"/>
                <a:ea typeface="Public Sans"/>
                <a:cs typeface="Public Sans"/>
                <a:sym typeface="Public Sans"/>
              </a:rPr>
              <a:t>Aim for a </a:t>
            </a:r>
            <a:r>
              <a:rPr lang="en-US" sz="2898" b="1">
                <a:solidFill>
                  <a:srgbClr val="F7F7F7"/>
                </a:solidFill>
                <a:latin typeface="Public Sans Bold"/>
                <a:ea typeface="Public Sans Bold"/>
                <a:cs typeface="Public Sans Bold"/>
                <a:sym typeface="Public Sans Bold"/>
              </a:rPr>
              <a:t>15–20% reduction</a:t>
            </a:r>
            <a:r>
              <a:rPr lang="en-US" sz="2898">
                <a:solidFill>
                  <a:srgbClr val="F7F7F7"/>
                </a:solidFill>
                <a:latin typeface="Public Sans"/>
                <a:ea typeface="Public Sans"/>
                <a:cs typeface="Public Sans"/>
                <a:sym typeface="Public Sans"/>
              </a:rPr>
              <a:t> in salary inequities across demographics.</a:t>
            </a:r>
          </a:p>
        </p:txBody>
      </p:sp>
      <p:sp>
        <p:nvSpPr>
          <p:cNvPr id="24" name="TextBox 24"/>
          <p:cNvSpPr txBox="1"/>
          <p:nvPr/>
        </p:nvSpPr>
        <p:spPr>
          <a:xfrm>
            <a:off x="10297986" y="6577096"/>
            <a:ext cx="6649915" cy="547370"/>
          </a:xfrm>
          <a:prstGeom prst="rect">
            <a:avLst/>
          </a:prstGeom>
        </p:spPr>
        <p:txBody>
          <a:bodyPr lIns="0" tIns="0" rIns="0" bIns="0" rtlCol="0" anchor="t">
            <a:spAutoFit/>
          </a:bodyPr>
          <a:lstStyle/>
          <a:p>
            <a:pPr algn="l">
              <a:lnSpc>
                <a:spcPts val="4479"/>
              </a:lnSpc>
            </a:pPr>
            <a:r>
              <a:rPr lang="en-US" sz="3199" b="1" u="sng">
                <a:solidFill>
                  <a:srgbClr val="F7F7F7"/>
                </a:solidFill>
                <a:latin typeface="Public Sans Bold"/>
                <a:ea typeface="Public Sans Bold"/>
                <a:cs typeface="Public Sans Bold"/>
                <a:sym typeface="Public Sans Bold"/>
              </a:rPr>
              <a:t>Salary range match</a:t>
            </a:r>
          </a:p>
        </p:txBody>
      </p:sp>
      <p:sp>
        <p:nvSpPr>
          <p:cNvPr id="25" name="TextBox 25"/>
          <p:cNvSpPr txBox="1"/>
          <p:nvPr/>
        </p:nvSpPr>
        <p:spPr>
          <a:xfrm>
            <a:off x="10297986" y="7155007"/>
            <a:ext cx="6649915" cy="1021677"/>
          </a:xfrm>
          <a:prstGeom prst="rect">
            <a:avLst/>
          </a:prstGeom>
        </p:spPr>
        <p:txBody>
          <a:bodyPr lIns="0" tIns="0" rIns="0" bIns="0" rtlCol="0" anchor="t">
            <a:spAutoFit/>
          </a:bodyPr>
          <a:lstStyle/>
          <a:p>
            <a:pPr algn="l">
              <a:lnSpc>
                <a:spcPts val="4059"/>
              </a:lnSpc>
            </a:pPr>
            <a:r>
              <a:rPr lang="en-US" sz="2898">
                <a:solidFill>
                  <a:srgbClr val="F7F7F7"/>
                </a:solidFill>
                <a:latin typeface="Public Sans"/>
                <a:ea typeface="Public Sans"/>
                <a:cs typeface="Public Sans"/>
                <a:sym typeface="Public Sans"/>
              </a:rPr>
              <a:t>Ensure </a:t>
            </a:r>
            <a:r>
              <a:rPr lang="en-US" sz="2898" b="1">
                <a:solidFill>
                  <a:srgbClr val="F7F7F7"/>
                </a:solidFill>
                <a:latin typeface="Public Sans Bold"/>
                <a:ea typeface="Public Sans Bold"/>
                <a:cs typeface="Public Sans Bold"/>
                <a:sym typeface="Public Sans Bold"/>
              </a:rPr>
              <a:t>5% salary range match</a:t>
            </a:r>
            <a:r>
              <a:rPr lang="en-US" sz="2898">
                <a:solidFill>
                  <a:srgbClr val="F7F7F7"/>
                </a:solidFill>
                <a:latin typeface="Public Sans"/>
                <a:ea typeface="Public Sans"/>
                <a:cs typeface="Public Sans"/>
                <a:sym typeface="Public Sans"/>
              </a:rPr>
              <a:t> for fair compensation practices.</a:t>
            </a:r>
          </a:p>
        </p:txBody>
      </p:sp>
      <p:sp>
        <p:nvSpPr>
          <p:cNvPr id="26" name="TextBox 26"/>
          <p:cNvSpPr txBox="1"/>
          <p:nvPr/>
        </p:nvSpPr>
        <p:spPr>
          <a:xfrm>
            <a:off x="934102" y="2247327"/>
            <a:ext cx="6571533" cy="2776537"/>
          </a:xfrm>
          <a:prstGeom prst="rect">
            <a:avLst/>
          </a:prstGeom>
        </p:spPr>
        <p:txBody>
          <a:bodyPr lIns="0" tIns="0" rIns="0" bIns="0" rtlCol="0" anchor="t">
            <a:spAutoFit/>
          </a:bodyPr>
          <a:lstStyle/>
          <a:p>
            <a:pPr algn="l">
              <a:lnSpc>
                <a:spcPts val="7200"/>
              </a:lnSpc>
            </a:pPr>
            <a:r>
              <a:rPr lang="en-US" sz="6000" b="1" u="sng">
                <a:solidFill>
                  <a:srgbClr val="F7F7F7"/>
                </a:solidFill>
                <a:latin typeface="Public Sans Bold"/>
                <a:ea typeface="Public Sans Bold"/>
                <a:cs typeface="Public Sans Bold"/>
                <a:sym typeface="Public Sans Bold"/>
              </a:rPr>
              <a:t>Business Objectives Overview</a:t>
            </a:r>
          </a:p>
        </p:txBody>
      </p:sp>
      <p:sp>
        <p:nvSpPr>
          <p:cNvPr id="27" name="TextBox 27"/>
          <p:cNvSpPr txBox="1"/>
          <p:nvPr/>
        </p:nvSpPr>
        <p:spPr>
          <a:xfrm>
            <a:off x="934102" y="5364114"/>
            <a:ext cx="6571533" cy="1159351"/>
          </a:xfrm>
          <a:prstGeom prst="rect">
            <a:avLst/>
          </a:prstGeom>
        </p:spPr>
        <p:txBody>
          <a:bodyPr lIns="0" tIns="0" rIns="0" bIns="0" rtlCol="0" anchor="t">
            <a:spAutoFit/>
          </a:bodyPr>
          <a:lstStyle/>
          <a:p>
            <a:pPr algn="l">
              <a:lnSpc>
                <a:spcPts val="4480"/>
              </a:lnSpc>
            </a:pPr>
            <a:r>
              <a:rPr lang="en-US" sz="3200">
                <a:solidFill>
                  <a:srgbClr val="F7F7F7"/>
                </a:solidFill>
                <a:latin typeface="Public Sans"/>
                <a:ea typeface="Public Sans"/>
                <a:cs typeface="Public Sans"/>
                <a:sym typeface="Public Sans"/>
              </a:rPr>
              <a:t>Focus on key targets for success and equity in salary predictions.</a:t>
            </a:r>
          </a:p>
        </p:txBody>
      </p:sp>
      <p:grpSp>
        <p:nvGrpSpPr>
          <p:cNvPr id="28" name="Group 28"/>
          <p:cNvGrpSpPr/>
          <p:nvPr/>
        </p:nvGrpSpPr>
        <p:grpSpPr>
          <a:xfrm>
            <a:off x="520296" y="209516"/>
            <a:ext cx="5761174" cy="1088838"/>
            <a:chOff x="0" y="0"/>
            <a:chExt cx="7681565" cy="1451784"/>
          </a:xfrm>
        </p:grpSpPr>
        <p:sp>
          <p:nvSpPr>
            <p:cNvPr id="29" name="Freeform 29"/>
            <p:cNvSpPr/>
            <p:nvPr/>
          </p:nvSpPr>
          <p:spPr>
            <a:xfrm>
              <a:off x="0" y="0"/>
              <a:ext cx="7681595" cy="1451737"/>
            </a:xfrm>
            <a:custGeom>
              <a:avLst/>
              <a:gdLst/>
              <a:ahLst/>
              <a:cxnLst/>
              <a:rect l="l" t="t" r="r" b="b"/>
              <a:pathLst>
                <a:path w="7681595" h="1451737">
                  <a:moveTo>
                    <a:pt x="0" y="0"/>
                  </a:moveTo>
                  <a:lnTo>
                    <a:pt x="7681595" y="0"/>
                  </a:lnTo>
                  <a:lnTo>
                    <a:pt x="7681595" y="1451737"/>
                  </a:lnTo>
                  <a:lnTo>
                    <a:pt x="0" y="1451737"/>
                  </a:lnTo>
                  <a:lnTo>
                    <a:pt x="0" y="0"/>
                  </a:lnTo>
                  <a:close/>
                </a:path>
              </a:pathLst>
            </a:custGeom>
            <a:blipFill>
              <a:blip r:embed="rId2"/>
              <a:stretch>
                <a:fillRect t="-2789" b="-2793"/>
              </a:stretch>
            </a:blipFill>
          </p:spPr>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41C1BA"/>
        </a:solidFill>
        <a:effectLst/>
      </p:bgPr>
    </p:bg>
    <p:spTree>
      <p:nvGrpSpPr>
        <p:cNvPr id="1" name=""/>
        <p:cNvGrpSpPr/>
        <p:nvPr/>
      </p:nvGrpSpPr>
      <p:grpSpPr>
        <a:xfrm>
          <a:off x="0" y="0"/>
          <a:ext cx="0" cy="0"/>
          <a:chOff x="0" y="0"/>
          <a:chExt cx="0" cy="0"/>
        </a:xfrm>
      </p:grpSpPr>
      <p:sp>
        <p:nvSpPr>
          <p:cNvPr id="2" name="AutoShape 2"/>
          <p:cNvSpPr/>
          <p:nvPr/>
        </p:nvSpPr>
        <p:spPr>
          <a:xfrm rot="4791364">
            <a:off x="9738483" y="5143501"/>
            <a:ext cx="10464870" cy="0"/>
          </a:xfrm>
          <a:prstGeom prst="line">
            <a:avLst/>
          </a:prstGeom>
          <a:ln w="9525" cap="rnd">
            <a:solidFill>
              <a:srgbClr val="365B6D"/>
            </a:solidFill>
            <a:prstDash val="solid"/>
            <a:headEnd type="none" w="sm" len="sm"/>
            <a:tailEnd type="none" w="sm" len="sm"/>
          </a:ln>
        </p:spPr>
      </p:sp>
      <p:sp>
        <p:nvSpPr>
          <p:cNvPr id="3" name="AutoShape 3"/>
          <p:cNvSpPr/>
          <p:nvPr/>
        </p:nvSpPr>
        <p:spPr>
          <a:xfrm rot="8776573">
            <a:off x="10406482" y="7904561"/>
            <a:ext cx="8608175" cy="0"/>
          </a:xfrm>
          <a:prstGeom prst="line">
            <a:avLst/>
          </a:prstGeom>
          <a:ln w="9525" cap="rnd">
            <a:solidFill>
              <a:srgbClr val="365B6D"/>
            </a:solidFill>
            <a:prstDash val="solid"/>
            <a:headEnd type="none" w="sm" len="sm"/>
            <a:tailEnd type="none" w="sm" len="sm"/>
          </a:ln>
        </p:spPr>
      </p:sp>
      <p:grpSp>
        <p:nvGrpSpPr>
          <p:cNvPr id="4" name="Group 4"/>
          <p:cNvGrpSpPr/>
          <p:nvPr/>
        </p:nvGrpSpPr>
        <p:grpSpPr>
          <a:xfrm>
            <a:off x="13772214" y="-12700"/>
            <a:ext cx="4511024" cy="10299701"/>
            <a:chOff x="0" y="0"/>
            <a:chExt cx="6014698" cy="13732935"/>
          </a:xfrm>
        </p:grpSpPr>
        <p:sp>
          <p:nvSpPr>
            <p:cNvPr id="5" name="Freeform 5"/>
            <p:cNvSpPr/>
            <p:nvPr/>
          </p:nvSpPr>
          <p:spPr>
            <a:xfrm>
              <a:off x="0" y="0"/>
              <a:ext cx="6014720" cy="13732890"/>
            </a:xfrm>
            <a:custGeom>
              <a:avLst/>
              <a:gdLst/>
              <a:ahLst/>
              <a:cxnLst/>
              <a:rect l="l" t="t" r="r" b="b"/>
              <a:pathLst>
                <a:path w="6014720" h="13732890">
                  <a:moveTo>
                    <a:pt x="4091051" y="0"/>
                  </a:moveTo>
                  <a:lnTo>
                    <a:pt x="6014720" y="0"/>
                  </a:lnTo>
                  <a:lnTo>
                    <a:pt x="6014720" y="13732890"/>
                  </a:lnTo>
                  <a:lnTo>
                    <a:pt x="0" y="13732890"/>
                  </a:lnTo>
                  <a:lnTo>
                    <a:pt x="4091051" y="0"/>
                  </a:lnTo>
                  <a:close/>
                </a:path>
              </a:pathLst>
            </a:custGeom>
            <a:solidFill>
              <a:srgbClr val="365B6D">
                <a:alpha val="12941"/>
              </a:srgbClr>
            </a:solidFill>
          </p:spPr>
        </p:sp>
      </p:grpSp>
      <p:grpSp>
        <p:nvGrpSpPr>
          <p:cNvPr id="6" name="Group 6"/>
          <p:cNvGrpSpPr/>
          <p:nvPr/>
        </p:nvGrpSpPr>
        <p:grpSpPr>
          <a:xfrm>
            <a:off x="14405163" y="-12700"/>
            <a:ext cx="3882837" cy="10299701"/>
            <a:chOff x="0" y="0"/>
            <a:chExt cx="5177116" cy="13732935"/>
          </a:xfrm>
        </p:grpSpPr>
        <p:sp>
          <p:nvSpPr>
            <p:cNvPr id="7" name="Freeform 7"/>
            <p:cNvSpPr/>
            <p:nvPr/>
          </p:nvSpPr>
          <p:spPr>
            <a:xfrm>
              <a:off x="0" y="0"/>
              <a:ext cx="5177155" cy="13732890"/>
            </a:xfrm>
            <a:custGeom>
              <a:avLst/>
              <a:gdLst/>
              <a:ahLst/>
              <a:cxnLst/>
              <a:rect l="l" t="t" r="r" b="b"/>
              <a:pathLst>
                <a:path w="5177155" h="13732890">
                  <a:moveTo>
                    <a:pt x="0" y="0"/>
                  </a:moveTo>
                  <a:lnTo>
                    <a:pt x="5177155" y="0"/>
                  </a:lnTo>
                  <a:lnTo>
                    <a:pt x="5177155" y="13732890"/>
                  </a:lnTo>
                  <a:lnTo>
                    <a:pt x="2418969" y="13732890"/>
                  </a:lnTo>
                  <a:lnTo>
                    <a:pt x="0" y="0"/>
                  </a:lnTo>
                  <a:close/>
                </a:path>
              </a:pathLst>
            </a:custGeom>
            <a:solidFill>
              <a:srgbClr val="365B6D">
                <a:alpha val="3922"/>
              </a:srgbClr>
            </a:solidFill>
          </p:spPr>
        </p:sp>
      </p:grpSp>
      <p:grpSp>
        <p:nvGrpSpPr>
          <p:cNvPr id="8" name="Group 8"/>
          <p:cNvGrpSpPr/>
          <p:nvPr/>
        </p:nvGrpSpPr>
        <p:grpSpPr>
          <a:xfrm>
            <a:off x="13398499" y="4572001"/>
            <a:ext cx="4889501" cy="5715000"/>
            <a:chOff x="0" y="0"/>
            <a:chExt cx="6519334" cy="7620000"/>
          </a:xfrm>
        </p:grpSpPr>
        <p:sp>
          <p:nvSpPr>
            <p:cNvPr id="9" name="Freeform 9"/>
            <p:cNvSpPr/>
            <p:nvPr/>
          </p:nvSpPr>
          <p:spPr>
            <a:xfrm>
              <a:off x="0" y="0"/>
              <a:ext cx="6519291" cy="7620000"/>
            </a:xfrm>
            <a:custGeom>
              <a:avLst/>
              <a:gdLst/>
              <a:ahLst/>
              <a:cxnLst/>
              <a:rect l="l" t="t" r="r" b="b"/>
              <a:pathLst>
                <a:path w="6519291" h="7620000">
                  <a:moveTo>
                    <a:pt x="0" y="7620000"/>
                  </a:moveTo>
                  <a:lnTo>
                    <a:pt x="6519291" y="0"/>
                  </a:lnTo>
                  <a:lnTo>
                    <a:pt x="6519291" y="7620000"/>
                  </a:lnTo>
                  <a:close/>
                </a:path>
              </a:pathLst>
            </a:custGeom>
            <a:solidFill>
              <a:srgbClr val="6C9286">
                <a:alpha val="43529"/>
              </a:srgbClr>
            </a:solidFill>
          </p:spPr>
        </p:sp>
      </p:grpSp>
      <p:grpSp>
        <p:nvGrpSpPr>
          <p:cNvPr id="10" name="Group 10"/>
          <p:cNvGrpSpPr/>
          <p:nvPr/>
        </p:nvGrpSpPr>
        <p:grpSpPr>
          <a:xfrm>
            <a:off x="14001750" y="-12700"/>
            <a:ext cx="4281489" cy="10299701"/>
            <a:chOff x="0" y="0"/>
            <a:chExt cx="5708652" cy="13732935"/>
          </a:xfrm>
        </p:grpSpPr>
        <p:sp>
          <p:nvSpPr>
            <p:cNvPr id="11" name="Freeform 11"/>
            <p:cNvSpPr/>
            <p:nvPr/>
          </p:nvSpPr>
          <p:spPr>
            <a:xfrm>
              <a:off x="0" y="0"/>
              <a:ext cx="5708650" cy="13732890"/>
            </a:xfrm>
            <a:custGeom>
              <a:avLst/>
              <a:gdLst/>
              <a:ahLst/>
              <a:cxnLst/>
              <a:rect l="l" t="t" r="r" b="b"/>
              <a:pathLst>
                <a:path w="5708650" h="13732890">
                  <a:moveTo>
                    <a:pt x="0" y="0"/>
                  </a:moveTo>
                  <a:lnTo>
                    <a:pt x="5708650" y="0"/>
                  </a:lnTo>
                  <a:lnTo>
                    <a:pt x="5708650" y="13732890"/>
                  </a:lnTo>
                  <a:lnTo>
                    <a:pt x="4941443" y="13732890"/>
                  </a:lnTo>
                  <a:lnTo>
                    <a:pt x="0" y="0"/>
                  </a:lnTo>
                  <a:close/>
                </a:path>
              </a:pathLst>
            </a:custGeom>
            <a:solidFill>
              <a:srgbClr val="6C9286">
                <a:alpha val="24706"/>
              </a:srgbClr>
            </a:solidFill>
          </p:spPr>
        </p:sp>
      </p:grpSp>
      <p:grpSp>
        <p:nvGrpSpPr>
          <p:cNvPr id="12" name="Group 12"/>
          <p:cNvGrpSpPr/>
          <p:nvPr/>
        </p:nvGrpSpPr>
        <p:grpSpPr>
          <a:xfrm>
            <a:off x="16348095" y="-12700"/>
            <a:ext cx="1935141" cy="10299701"/>
            <a:chOff x="0" y="0"/>
            <a:chExt cx="2580188" cy="13732935"/>
          </a:xfrm>
        </p:grpSpPr>
        <p:sp>
          <p:nvSpPr>
            <p:cNvPr id="13" name="Freeform 13"/>
            <p:cNvSpPr/>
            <p:nvPr/>
          </p:nvSpPr>
          <p:spPr>
            <a:xfrm>
              <a:off x="0" y="0"/>
              <a:ext cx="2580259" cy="13732890"/>
            </a:xfrm>
            <a:custGeom>
              <a:avLst/>
              <a:gdLst/>
              <a:ahLst/>
              <a:cxnLst/>
              <a:rect l="l" t="t" r="r" b="b"/>
              <a:pathLst>
                <a:path w="2580259" h="13732890">
                  <a:moveTo>
                    <a:pt x="2039493" y="0"/>
                  </a:moveTo>
                  <a:lnTo>
                    <a:pt x="2580259" y="0"/>
                  </a:lnTo>
                  <a:lnTo>
                    <a:pt x="2580259" y="13732890"/>
                  </a:lnTo>
                  <a:lnTo>
                    <a:pt x="0" y="13732890"/>
                  </a:lnTo>
                  <a:lnTo>
                    <a:pt x="2039493" y="0"/>
                  </a:lnTo>
                  <a:close/>
                </a:path>
              </a:pathLst>
            </a:custGeom>
            <a:solidFill>
              <a:srgbClr val="41C1BA">
                <a:alpha val="48627"/>
              </a:srgbClr>
            </a:solidFill>
          </p:spPr>
        </p:sp>
      </p:grpSp>
      <p:grpSp>
        <p:nvGrpSpPr>
          <p:cNvPr id="14" name="Group 14"/>
          <p:cNvGrpSpPr/>
          <p:nvPr/>
        </p:nvGrpSpPr>
        <p:grpSpPr>
          <a:xfrm>
            <a:off x="16408499" y="-12700"/>
            <a:ext cx="1874737" cy="10299701"/>
            <a:chOff x="0" y="0"/>
            <a:chExt cx="2499650" cy="13732935"/>
          </a:xfrm>
        </p:grpSpPr>
        <p:sp>
          <p:nvSpPr>
            <p:cNvPr id="15" name="Freeform 15"/>
            <p:cNvSpPr/>
            <p:nvPr/>
          </p:nvSpPr>
          <p:spPr>
            <a:xfrm>
              <a:off x="0" y="0"/>
              <a:ext cx="2499614" cy="13732890"/>
            </a:xfrm>
            <a:custGeom>
              <a:avLst/>
              <a:gdLst/>
              <a:ahLst/>
              <a:cxnLst/>
              <a:rect l="l" t="t" r="r" b="b"/>
              <a:pathLst>
                <a:path w="2499614" h="13732890">
                  <a:moveTo>
                    <a:pt x="0" y="0"/>
                  </a:moveTo>
                  <a:lnTo>
                    <a:pt x="2499614" y="0"/>
                  </a:lnTo>
                  <a:lnTo>
                    <a:pt x="2499614" y="13732890"/>
                  </a:lnTo>
                  <a:lnTo>
                    <a:pt x="2218817" y="13732890"/>
                  </a:lnTo>
                  <a:lnTo>
                    <a:pt x="0" y="0"/>
                  </a:lnTo>
                  <a:close/>
                </a:path>
              </a:pathLst>
            </a:custGeom>
            <a:solidFill>
              <a:srgbClr val="365B6D">
                <a:alpha val="63922"/>
              </a:srgbClr>
            </a:solidFill>
          </p:spPr>
        </p:sp>
      </p:grpSp>
      <p:grpSp>
        <p:nvGrpSpPr>
          <p:cNvPr id="16" name="Group 16"/>
          <p:cNvGrpSpPr/>
          <p:nvPr/>
        </p:nvGrpSpPr>
        <p:grpSpPr>
          <a:xfrm>
            <a:off x="15557499" y="5384801"/>
            <a:ext cx="2725738" cy="4902200"/>
            <a:chOff x="0" y="0"/>
            <a:chExt cx="3634318" cy="6536266"/>
          </a:xfrm>
        </p:grpSpPr>
        <p:sp>
          <p:nvSpPr>
            <p:cNvPr id="17" name="Freeform 17"/>
            <p:cNvSpPr/>
            <p:nvPr/>
          </p:nvSpPr>
          <p:spPr>
            <a:xfrm>
              <a:off x="0" y="0"/>
              <a:ext cx="3634359" cy="6536309"/>
            </a:xfrm>
            <a:custGeom>
              <a:avLst/>
              <a:gdLst/>
              <a:ahLst/>
              <a:cxnLst/>
              <a:rect l="l" t="t" r="r" b="b"/>
              <a:pathLst>
                <a:path w="3634359" h="6536309">
                  <a:moveTo>
                    <a:pt x="0" y="6536309"/>
                  </a:moveTo>
                  <a:lnTo>
                    <a:pt x="3634359" y="0"/>
                  </a:lnTo>
                  <a:lnTo>
                    <a:pt x="3634359" y="6536309"/>
                  </a:lnTo>
                  <a:close/>
                </a:path>
              </a:pathLst>
            </a:custGeom>
            <a:solidFill>
              <a:srgbClr val="6C9286">
                <a:alpha val="43529"/>
              </a:srgbClr>
            </a:solidFill>
          </p:spPr>
        </p:sp>
      </p:grpSp>
      <p:grpSp>
        <p:nvGrpSpPr>
          <p:cNvPr id="18" name="Group 18"/>
          <p:cNvGrpSpPr/>
          <p:nvPr/>
        </p:nvGrpSpPr>
        <p:grpSpPr>
          <a:xfrm>
            <a:off x="0" y="6019801"/>
            <a:ext cx="673100" cy="4267200"/>
            <a:chOff x="0" y="0"/>
            <a:chExt cx="897466" cy="5689600"/>
          </a:xfrm>
        </p:grpSpPr>
        <p:sp>
          <p:nvSpPr>
            <p:cNvPr id="19" name="Freeform 19"/>
            <p:cNvSpPr/>
            <p:nvPr/>
          </p:nvSpPr>
          <p:spPr>
            <a:xfrm>
              <a:off x="0" y="0"/>
              <a:ext cx="897509" cy="5689600"/>
            </a:xfrm>
            <a:custGeom>
              <a:avLst/>
              <a:gdLst/>
              <a:ahLst/>
              <a:cxnLst/>
              <a:rect l="l" t="t" r="r" b="b"/>
              <a:pathLst>
                <a:path w="897509" h="5689600">
                  <a:moveTo>
                    <a:pt x="0" y="5689600"/>
                  </a:moveTo>
                  <a:lnTo>
                    <a:pt x="0" y="0"/>
                  </a:lnTo>
                  <a:lnTo>
                    <a:pt x="897509" y="5689600"/>
                  </a:lnTo>
                  <a:close/>
                </a:path>
              </a:pathLst>
            </a:custGeom>
            <a:solidFill>
              <a:srgbClr val="365B6D">
                <a:alpha val="48627"/>
              </a:srgbClr>
            </a:solidFill>
          </p:spPr>
        </p:sp>
      </p:grpSp>
      <p:sp>
        <p:nvSpPr>
          <p:cNvPr id="20" name="TextBox 20"/>
          <p:cNvSpPr txBox="1"/>
          <p:nvPr/>
        </p:nvSpPr>
        <p:spPr>
          <a:xfrm>
            <a:off x="10297986" y="2154458"/>
            <a:ext cx="6649915" cy="540385"/>
          </a:xfrm>
          <a:prstGeom prst="rect">
            <a:avLst/>
          </a:prstGeom>
        </p:spPr>
        <p:txBody>
          <a:bodyPr lIns="0" tIns="0" rIns="0" bIns="0" rtlCol="0" anchor="t">
            <a:spAutoFit/>
          </a:bodyPr>
          <a:lstStyle/>
          <a:p>
            <a:pPr algn="l">
              <a:lnSpc>
                <a:spcPts val="4339"/>
              </a:lnSpc>
            </a:pPr>
            <a:r>
              <a:rPr lang="en-US" sz="3099" b="1" u="sng">
                <a:solidFill>
                  <a:srgbClr val="1D4355"/>
                </a:solidFill>
                <a:latin typeface="Public Sans Bold"/>
                <a:ea typeface="Public Sans Bold"/>
                <a:cs typeface="Public Sans Bold"/>
                <a:sym typeface="Public Sans Bold"/>
              </a:rPr>
              <a:t>Employee Data</a:t>
            </a:r>
          </a:p>
        </p:txBody>
      </p:sp>
      <p:sp>
        <p:nvSpPr>
          <p:cNvPr id="21" name="TextBox 21"/>
          <p:cNvSpPr txBox="1"/>
          <p:nvPr/>
        </p:nvSpPr>
        <p:spPr>
          <a:xfrm>
            <a:off x="10297986" y="2741894"/>
            <a:ext cx="6649915" cy="1536027"/>
          </a:xfrm>
          <a:prstGeom prst="rect">
            <a:avLst/>
          </a:prstGeom>
        </p:spPr>
        <p:txBody>
          <a:bodyPr lIns="0" tIns="0" rIns="0" bIns="0" rtlCol="0" anchor="t">
            <a:spAutoFit/>
          </a:bodyPr>
          <a:lstStyle/>
          <a:p>
            <a:pPr algn="l">
              <a:lnSpc>
                <a:spcPts val="4059"/>
              </a:lnSpc>
            </a:pPr>
            <a:r>
              <a:rPr lang="en-US" sz="2898">
                <a:solidFill>
                  <a:srgbClr val="F7F7F7"/>
                </a:solidFill>
                <a:latin typeface="Public Sans"/>
                <a:ea typeface="Public Sans"/>
                <a:cs typeface="Public Sans"/>
                <a:sym typeface="Public Sans"/>
              </a:rPr>
              <a:t>Accurate records of employee demographics and salaries are essential.</a:t>
            </a:r>
          </a:p>
        </p:txBody>
      </p:sp>
      <p:sp>
        <p:nvSpPr>
          <p:cNvPr id="22" name="TextBox 22"/>
          <p:cNvSpPr txBox="1"/>
          <p:nvPr/>
        </p:nvSpPr>
        <p:spPr>
          <a:xfrm>
            <a:off x="10297986" y="4361015"/>
            <a:ext cx="6649915" cy="540385"/>
          </a:xfrm>
          <a:prstGeom prst="rect">
            <a:avLst/>
          </a:prstGeom>
        </p:spPr>
        <p:txBody>
          <a:bodyPr lIns="0" tIns="0" rIns="0" bIns="0" rtlCol="0" anchor="t">
            <a:spAutoFit/>
          </a:bodyPr>
          <a:lstStyle/>
          <a:p>
            <a:pPr algn="l">
              <a:lnSpc>
                <a:spcPts val="4339"/>
              </a:lnSpc>
            </a:pPr>
            <a:r>
              <a:rPr lang="en-US" sz="3099" b="1" u="sng">
                <a:solidFill>
                  <a:srgbClr val="1D4355"/>
                </a:solidFill>
                <a:latin typeface="Public Sans Bold"/>
                <a:ea typeface="Public Sans Bold"/>
                <a:cs typeface="Public Sans Bold"/>
                <a:sym typeface="Public Sans Bold"/>
              </a:rPr>
              <a:t>Finance Records</a:t>
            </a:r>
          </a:p>
        </p:txBody>
      </p:sp>
      <p:sp>
        <p:nvSpPr>
          <p:cNvPr id="23" name="TextBox 23"/>
          <p:cNvSpPr txBox="1"/>
          <p:nvPr/>
        </p:nvSpPr>
        <p:spPr>
          <a:xfrm>
            <a:off x="10297986" y="4948451"/>
            <a:ext cx="6649915" cy="1536027"/>
          </a:xfrm>
          <a:prstGeom prst="rect">
            <a:avLst/>
          </a:prstGeom>
        </p:spPr>
        <p:txBody>
          <a:bodyPr lIns="0" tIns="0" rIns="0" bIns="0" rtlCol="0" anchor="t">
            <a:spAutoFit/>
          </a:bodyPr>
          <a:lstStyle/>
          <a:p>
            <a:pPr algn="l">
              <a:lnSpc>
                <a:spcPts val="4059"/>
              </a:lnSpc>
            </a:pPr>
            <a:r>
              <a:rPr lang="en-US" sz="2898">
                <a:solidFill>
                  <a:srgbClr val="F7F7F7"/>
                </a:solidFill>
                <a:latin typeface="Public Sans"/>
                <a:ea typeface="Public Sans"/>
                <a:cs typeface="Public Sans"/>
                <a:sym typeface="Public Sans"/>
              </a:rPr>
              <a:t>Historical financial data aids in predictive salary modeling and budgeting.</a:t>
            </a:r>
          </a:p>
        </p:txBody>
      </p:sp>
      <p:sp>
        <p:nvSpPr>
          <p:cNvPr id="24" name="TextBox 24"/>
          <p:cNvSpPr txBox="1"/>
          <p:nvPr/>
        </p:nvSpPr>
        <p:spPr>
          <a:xfrm>
            <a:off x="10297986" y="6567571"/>
            <a:ext cx="6649915" cy="540385"/>
          </a:xfrm>
          <a:prstGeom prst="rect">
            <a:avLst/>
          </a:prstGeom>
        </p:spPr>
        <p:txBody>
          <a:bodyPr lIns="0" tIns="0" rIns="0" bIns="0" rtlCol="0" anchor="t">
            <a:spAutoFit/>
          </a:bodyPr>
          <a:lstStyle/>
          <a:p>
            <a:pPr algn="l">
              <a:lnSpc>
                <a:spcPts val="4339"/>
              </a:lnSpc>
            </a:pPr>
            <a:r>
              <a:rPr lang="en-US" sz="3099" b="1" u="sng">
                <a:solidFill>
                  <a:srgbClr val="1D4355"/>
                </a:solidFill>
                <a:latin typeface="Public Sans Bold"/>
                <a:ea typeface="Public Sans Bold"/>
                <a:cs typeface="Public Sans Bold"/>
                <a:sym typeface="Public Sans Bold"/>
              </a:rPr>
              <a:t>HR Experts</a:t>
            </a:r>
          </a:p>
        </p:txBody>
      </p:sp>
      <p:sp>
        <p:nvSpPr>
          <p:cNvPr id="25" name="TextBox 25"/>
          <p:cNvSpPr txBox="1"/>
          <p:nvPr/>
        </p:nvSpPr>
        <p:spPr>
          <a:xfrm>
            <a:off x="10297986" y="7155007"/>
            <a:ext cx="6649915" cy="1021677"/>
          </a:xfrm>
          <a:prstGeom prst="rect">
            <a:avLst/>
          </a:prstGeom>
        </p:spPr>
        <p:txBody>
          <a:bodyPr lIns="0" tIns="0" rIns="0" bIns="0" rtlCol="0" anchor="t">
            <a:spAutoFit/>
          </a:bodyPr>
          <a:lstStyle/>
          <a:p>
            <a:pPr algn="l">
              <a:lnSpc>
                <a:spcPts val="4059"/>
              </a:lnSpc>
            </a:pPr>
            <a:r>
              <a:rPr lang="en-US" sz="2898">
                <a:solidFill>
                  <a:srgbClr val="F7F7F7"/>
                </a:solidFill>
                <a:latin typeface="Public Sans"/>
                <a:ea typeface="Public Sans"/>
                <a:cs typeface="Public Sans"/>
                <a:sym typeface="Public Sans"/>
              </a:rPr>
              <a:t>Skilled HR professionals ensure ethical data handling and compliance.</a:t>
            </a:r>
          </a:p>
        </p:txBody>
      </p:sp>
      <p:sp>
        <p:nvSpPr>
          <p:cNvPr id="26" name="TextBox 26"/>
          <p:cNvSpPr txBox="1"/>
          <p:nvPr/>
        </p:nvSpPr>
        <p:spPr>
          <a:xfrm>
            <a:off x="1454398" y="2707775"/>
            <a:ext cx="6571533" cy="2776537"/>
          </a:xfrm>
          <a:prstGeom prst="rect">
            <a:avLst/>
          </a:prstGeom>
        </p:spPr>
        <p:txBody>
          <a:bodyPr lIns="0" tIns="0" rIns="0" bIns="0" rtlCol="0" anchor="t">
            <a:spAutoFit/>
          </a:bodyPr>
          <a:lstStyle/>
          <a:p>
            <a:pPr algn="l">
              <a:lnSpc>
                <a:spcPts val="7200"/>
              </a:lnSpc>
            </a:pPr>
            <a:r>
              <a:rPr lang="en-US" sz="6000" b="1" u="sng">
                <a:solidFill>
                  <a:srgbClr val="1D4355"/>
                </a:solidFill>
                <a:latin typeface="Public Sans Bold"/>
                <a:ea typeface="Public Sans Bold"/>
                <a:cs typeface="Public Sans Bold"/>
                <a:sym typeface="Public Sans Bold"/>
              </a:rPr>
              <a:t>Data Requirements Overview</a:t>
            </a:r>
          </a:p>
        </p:txBody>
      </p:sp>
      <p:sp>
        <p:nvSpPr>
          <p:cNvPr id="27" name="TextBox 27"/>
          <p:cNvSpPr txBox="1"/>
          <p:nvPr/>
        </p:nvSpPr>
        <p:spPr>
          <a:xfrm>
            <a:off x="1454398" y="5824562"/>
            <a:ext cx="6571533" cy="1721326"/>
          </a:xfrm>
          <a:prstGeom prst="rect">
            <a:avLst/>
          </a:prstGeom>
        </p:spPr>
        <p:txBody>
          <a:bodyPr lIns="0" tIns="0" rIns="0" bIns="0" rtlCol="0" anchor="t">
            <a:spAutoFit/>
          </a:bodyPr>
          <a:lstStyle/>
          <a:p>
            <a:pPr algn="l">
              <a:lnSpc>
                <a:spcPts val="4480"/>
              </a:lnSpc>
            </a:pPr>
            <a:r>
              <a:rPr lang="en-US" sz="3200">
                <a:solidFill>
                  <a:srgbClr val="1D4355"/>
                </a:solidFill>
                <a:latin typeface="Public Sans"/>
                <a:ea typeface="Public Sans"/>
                <a:cs typeface="Public Sans"/>
                <a:sym typeface="Public Sans"/>
              </a:rPr>
              <a:t>Essential resources needed for Earnalytics implementation and functionality</a:t>
            </a:r>
          </a:p>
        </p:txBody>
      </p:sp>
      <p:grpSp>
        <p:nvGrpSpPr>
          <p:cNvPr id="28" name="Group 28"/>
          <p:cNvGrpSpPr/>
          <p:nvPr/>
        </p:nvGrpSpPr>
        <p:grpSpPr>
          <a:xfrm>
            <a:off x="869215" y="312877"/>
            <a:ext cx="5761174" cy="1088838"/>
            <a:chOff x="0" y="0"/>
            <a:chExt cx="7681565" cy="1451784"/>
          </a:xfrm>
        </p:grpSpPr>
        <p:sp>
          <p:nvSpPr>
            <p:cNvPr id="29" name="Freeform 29"/>
            <p:cNvSpPr/>
            <p:nvPr/>
          </p:nvSpPr>
          <p:spPr>
            <a:xfrm>
              <a:off x="0" y="0"/>
              <a:ext cx="7681595" cy="1451737"/>
            </a:xfrm>
            <a:custGeom>
              <a:avLst/>
              <a:gdLst/>
              <a:ahLst/>
              <a:cxnLst/>
              <a:rect l="l" t="t" r="r" b="b"/>
              <a:pathLst>
                <a:path w="7681595" h="1451737">
                  <a:moveTo>
                    <a:pt x="0" y="0"/>
                  </a:moveTo>
                  <a:lnTo>
                    <a:pt x="7681595" y="0"/>
                  </a:lnTo>
                  <a:lnTo>
                    <a:pt x="7681595" y="1451737"/>
                  </a:lnTo>
                  <a:lnTo>
                    <a:pt x="0" y="1451737"/>
                  </a:lnTo>
                  <a:lnTo>
                    <a:pt x="0" y="0"/>
                  </a:lnTo>
                  <a:close/>
                </a:path>
              </a:pathLst>
            </a:custGeom>
            <a:blipFill>
              <a:blip r:embed="rId2"/>
              <a:stretch>
                <a:fillRect t="-2789" b="-2793"/>
              </a:stretch>
            </a:blipFill>
          </p:spPr>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65B6D"/>
        </a:solidFill>
        <a:effectLst/>
      </p:bgPr>
    </p:bg>
    <p:spTree>
      <p:nvGrpSpPr>
        <p:cNvPr id="1" name=""/>
        <p:cNvGrpSpPr/>
        <p:nvPr/>
      </p:nvGrpSpPr>
      <p:grpSpPr>
        <a:xfrm>
          <a:off x="0" y="0"/>
          <a:ext cx="0" cy="0"/>
          <a:chOff x="0" y="0"/>
          <a:chExt cx="0" cy="0"/>
        </a:xfrm>
      </p:grpSpPr>
      <p:sp>
        <p:nvSpPr>
          <p:cNvPr id="2" name="AutoShape 2"/>
          <p:cNvSpPr/>
          <p:nvPr/>
        </p:nvSpPr>
        <p:spPr>
          <a:xfrm rot="4791364">
            <a:off x="9738483" y="5143501"/>
            <a:ext cx="10464870" cy="0"/>
          </a:xfrm>
          <a:prstGeom prst="line">
            <a:avLst/>
          </a:prstGeom>
          <a:ln w="9525" cap="rnd">
            <a:solidFill>
              <a:srgbClr val="6C9286"/>
            </a:solidFill>
            <a:prstDash val="solid"/>
            <a:headEnd type="none" w="sm" len="sm"/>
            <a:tailEnd type="none" w="sm" len="sm"/>
          </a:ln>
        </p:spPr>
      </p:sp>
      <p:sp>
        <p:nvSpPr>
          <p:cNvPr id="3" name="AutoShape 3"/>
          <p:cNvSpPr/>
          <p:nvPr/>
        </p:nvSpPr>
        <p:spPr>
          <a:xfrm rot="8776573">
            <a:off x="10406482" y="7904561"/>
            <a:ext cx="8608175" cy="0"/>
          </a:xfrm>
          <a:prstGeom prst="line">
            <a:avLst/>
          </a:prstGeom>
          <a:ln w="9525" cap="rnd">
            <a:solidFill>
              <a:srgbClr val="6C9286"/>
            </a:solidFill>
            <a:prstDash val="solid"/>
            <a:headEnd type="none" w="sm" len="sm"/>
            <a:tailEnd type="none" w="sm" len="sm"/>
          </a:ln>
        </p:spPr>
      </p:sp>
      <p:grpSp>
        <p:nvGrpSpPr>
          <p:cNvPr id="4" name="Group 4"/>
          <p:cNvGrpSpPr/>
          <p:nvPr/>
        </p:nvGrpSpPr>
        <p:grpSpPr>
          <a:xfrm>
            <a:off x="13772214" y="-12700"/>
            <a:ext cx="4511024" cy="10299701"/>
            <a:chOff x="0" y="0"/>
            <a:chExt cx="6014698" cy="13732935"/>
          </a:xfrm>
        </p:grpSpPr>
        <p:sp>
          <p:nvSpPr>
            <p:cNvPr id="5" name="Freeform 5"/>
            <p:cNvSpPr/>
            <p:nvPr/>
          </p:nvSpPr>
          <p:spPr>
            <a:xfrm>
              <a:off x="0" y="0"/>
              <a:ext cx="6014720" cy="13732890"/>
            </a:xfrm>
            <a:custGeom>
              <a:avLst/>
              <a:gdLst/>
              <a:ahLst/>
              <a:cxnLst/>
              <a:rect l="l" t="t" r="r" b="b"/>
              <a:pathLst>
                <a:path w="6014720" h="13732890">
                  <a:moveTo>
                    <a:pt x="4091051" y="0"/>
                  </a:moveTo>
                  <a:lnTo>
                    <a:pt x="6014720" y="0"/>
                  </a:lnTo>
                  <a:lnTo>
                    <a:pt x="6014720" y="13732890"/>
                  </a:lnTo>
                  <a:lnTo>
                    <a:pt x="0" y="13732890"/>
                  </a:lnTo>
                  <a:lnTo>
                    <a:pt x="4091051" y="0"/>
                  </a:lnTo>
                  <a:close/>
                </a:path>
              </a:pathLst>
            </a:custGeom>
            <a:solidFill>
              <a:srgbClr val="6C9286">
                <a:alpha val="12941"/>
              </a:srgbClr>
            </a:solidFill>
          </p:spPr>
        </p:sp>
      </p:grpSp>
      <p:grpSp>
        <p:nvGrpSpPr>
          <p:cNvPr id="6" name="Group 6"/>
          <p:cNvGrpSpPr/>
          <p:nvPr/>
        </p:nvGrpSpPr>
        <p:grpSpPr>
          <a:xfrm>
            <a:off x="14405163" y="-12700"/>
            <a:ext cx="3882837" cy="10299701"/>
            <a:chOff x="0" y="0"/>
            <a:chExt cx="5177116" cy="13732935"/>
          </a:xfrm>
        </p:grpSpPr>
        <p:sp>
          <p:nvSpPr>
            <p:cNvPr id="7" name="Freeform 7"/>
            <p:cNvSpPr/>
            <p:nvPr/>
          </p:nvSpPr>
          <p:spPr>
            <a:xfrm>
              <a:off x="0" y="0"/>
              <a:ext cx="5177155" cy="13732890"/>
            </a:xfrm>
            <a:custGeom>
              <a:avLst/>
              <a:gdLst/>
              <a:ahLst/>
              <a:cxnLst/>
              <a:rect l="l" t="t" r="r" b="b"/>
              <a:pathLst>
                <a:path w="5177155" h="13732890">
                  <a:moveTo>
                    <a:pt x="0" y="0"/>
                  </a:moveTo>
                  <a:lnTo>
                    <a:pt x="5177155" y="0"/>
                  </a:lnTo>
                  <a:lnTo>
                    <a:pt x="5177155" y="13732890"/>
                  </a:lnTo>
                  <a:lnTo>
                    <a:pt x="2418969" y="13732890"/>
                  </a:lnTo>
                  <a:lnTo>
                    <a:pt x="0" y="0"/>
                  </a:lnTo>
                  <a:close/>
                </a:path>
              </a:pathLst>
            </a:custGeom>
            <a:solidFill>
              <a:srgbClr val="6C9286">
                <a:alpha val="3922"/>
              </a:srgbClr>
            </a:solidFill>
          </p:spPr>
        </p:sp>
      </p:grpSp>
      <p:grpSp>
        <p:nvGrpSpPr>
          <p:cNvPr id="8" name="Group 8"/>
          <p:cNvGrpSpPr/>
          <p:nvPr/>
        </p:nvGrpSpPr>
        <p:grpSpPr>
          <a:xfrm>
            <a:off x="13398499" y="4572001"/>
            <a:ext cx="4889501" cy="5715000"/>
            <a:chOff x="0" y="0"/>
            <a:chExt cx="6519334" cy="7620000"/>
          </a:xfrm>
        </p:grpSpPr>
        <p:sp>
          <p:nvSpPr>
            <p:cNvPr id="9" name="Freeform 9"/>
            <p:cNvSpPr/>
            <p:nvPr/>
          </p:nvSpPr>
          <p:spPr>
            <a:xfrm>
              <a:off x="0" y="0"/>
              <a:ext cx="6519291" cy="7620000"/>
            </a:xfrm>
            <a:custGeom>
              <a:avLst/>
              <a:gdLst/>
              <a:ahLst/>
              <a:cxnLst/>
              <a:rect l="l" t="t" r="r" b="b"/>
              <a:pathLst>
                <a:path w="6519291" h="7620000">
                  <a:moveTo>
                    <a:pt x="0" y="7620000"/>
                  </a:moveTo>
                  <a:lnTo>
                    <a:pt x="6519291" y="0"/>
                  </a:lnTo>
                  <a:lnTo>
                    <a:pt x="6519291" y="7620000"/>
                  </a:lnTo>
                  <a:close/>
                </a:path>
              </a:pathLst>
            </a:custGeom>
            <a:solidFill>
              <a:srgbClr val="1D4355">
                <a:alpha val="43529"/>
              </a:srgbClr>
            </a:solidFill>
          </p:spPr>
        </p:sp>
      </p:grpSp>
      <p:grpSp>
        <p:nvGrpSpPr>
          <p:cNvPr id="10" name="Group 10"/>
          <p:cNvGrpSpPr/>
          <p:nvPr/>
        </p:nvGrpSpPr>
        <p:grpSpPr>
          <a:xfrm>
            <a:off x="14001750" y="-12700"/>
            <a:ext cx="4281489" cy="10299701"/>
            <a:chOff x="0" y="0"/>
            <a:chExt cx="5708652" cy="13732935"/>
          </a:xfrm>
        </p:grpSpPr>
        <p:sp>
          <p:nvSpPr>
            <p:cNvPr id="11" name="Freeform 11"/>
            <p:cNvSpPr/>
            <p:nvPr/>
          </p:nvSpPr>
          <p:spPr>
            <a:xfrm>
              <a:off x="0" y="0"/>
              <a:ext cx="5708650" cy="13732890"/>
            </a:xfrm>
            <a:custGeom>
              <a:avLst/>
              <a:gdLst/>
              <a:ahLst/>
              <a:cxnLst/>
              <a:rect l="l" t="t" r="r" b="b"/>
              <a:pathLst>
                <a:path w="5708650" h="13732890">
                  <a:moveTo>
                    <a:pt x="0" y="0"/>
                  </a:moveTo>
                  <a:lnTo>
                    <a:pt x="5708650" y="0"/>
                  </a:lnTo>
                  <a:lnTo>
                    <a:pt x="5708650" y="13732890"/>
                  </a:lnTo>
                  <a:lnTo>
                    <a:pt x="4941443" y="13732890"/>
                  </a:lnTo>
                  <a:lnTo>
                    <a:pt x="0" y="0"/>
                  </a:lnTo>
                  <a:close/>
                </a:path>
              </a:pathLst>
            </a:custGeom>
            <a:solidFill>
              <a:srgbClr val="1D4355">
                <a:alpha val="24706"/>
              </a:srgbClr>
            </a:solidFill>
          </p:spPr>
        </p:sp>
      </p:grpSp>
      <p:grpSp>
        <p:nvGrpSpPr>
          <p:cNvPr id="12" name="Group 12"/>
          <p:cNvGrpSpPr/>
          <p:nvPr/>
        </p:nvGrpSpPr>
        <p:grpSpPr>
          <a:xfrm>
            <a:off x="16348095" y="-12700"/>
            <a:ext cx="1935141" cy="10299701"/>
            <a:chOff x="0" y="0"/>
            <a:chExt cx="2580188" cy="13732935"/>
          </a:xfrm>
        </p:grpSpPr>
        <p:sp>
          <p:nvSpPr>
            <p:cNvPr id="13" name="Freeform 13"/>
            <p:cNvSpPr/>
            <p:nvPr/>
          </p:nvSpPr>
          <p:spPr>
            <a:xfrm>
              <a:off x="0" y="0"/>
              <a:ext cx="2580259" cy="13732890"/>
            </a:xfrm>
            <a:custGeom>
              <a:avLst/>
              <a:gdLst/>
              <a:ahLst/>
              <a:cxnLst/>
              <a:rect l="l" t="t" r="r" b="b"/>
              <a:pathLst>
                <a:path w="2580259" h="13732890">
                  <a:moveTo>
                    <a:pt x="2039493" y="0"/>
                  </a:moveTo>
                  <a:lnTo>
                    <a:pt x="2580259" y="0"/>
                  </a:lnTo>
                  <a:lnTo>
                    <a:pt x="2580259" y="13732890"/>
                  </a:lnTo>
                  <a:lnTo>
                    <a:pt x="0" y="13732890"/>
                  </a:lnTo>
                  <a:lnTo>
                    <a:pt x="2039493" y="0"/>
                  </a:lnTo>
                  <a:close/>
                </a:path>
              </a:pathLst>
            </a:custGeom>
            <a:solidFill>
              <a:srgbClr val="289DD2">
                <a:alpha val="48627"/>
              </a:srgbClr>
            </a:solidFill>
          </p:spPr>
        </p:sp>
      </p:grpSp>
      <p:grpSp>
        <p:nvGrpSpPr>
          <p:cNvPr id="14" name="Group 14"/>
          <p:cNvGrpSpPr/>
          <p:nvPr/>
        </p:nvGrpSpPr>
        <p:grpSpPr>
          <a:xfrm>
            <a:off x="16408499" y="-12700"/>
            <a:ext cx="1874737" cy="10299701"/>
            <a:chOff x="0" y="0"/>
            <a:chExt cx="2499650" cy="13732935"/>
          </a:xfrm>
        </p:grpSpPr>
        <p:sp>
          <p:nvSpPr>
            <p:cNvPr id="15" name="Freeform 15"/>
            <p:cNvSpPr/>
            <p:nvPr/>
          </p:nvSpPr>
          <p:spPr>
            <a:xfrm>
              <a:off x="0" y="0"/>
              <a:ext cx="2499614" cy="13732890"/>
            </a:xfrm>
            <a:custGeom>
              <a:avLst/>
              <a:gdLst/>
              <a:ahLst/>
              <a:cxnLst/>
              <a:rect l="l" t="t" r="r" b="b"/>
              <a:pathLst>
                <a:path w="2499614" h="13732890">
                  <a:moveTo>
                    <a:pt x="0" y="0"/>
                  </a:moveTo>
                  <a:lnTo>
                    <a:pt x="2499614" y="0"/>
                  </a:lnTo>
                  <a:lnTo>
                    <a:pt x="2499614" y="13732890"/>
                  </a:lnTo>
                  <a:lnTo>
                    <a:pt x="2218817" y="13732890"/>
                  </a:lnTo>
                  <a:lnTo>
                    <a:pt x="0" y="0"/>
                  </a:lnTo>
                  <a:close/>
                </a:path>
              </a:pathLst>
            </a:custGeom>
            <a:solidFill>
              <a:srgbClr val="365B6D">
                <a:alpha val="63922"/>
              </a:srgbClr>
            </a:solidFill>
          </p:spPr>
        </p:sp>
      </p:grpSp>
      <p:grpSp>
        <p:nvGrpSpPr>
          <p:cNvPr id="16" name="Group 16"/>
          <p:cNvGrpSpPr/>
          <p:nvPr/>
        </p:nvGrpSpPr>
        <p:grpSpPr>
          <a:xfrm>
            <a:off x="15557499" y="5384801"/>
            <a:ext cx="2725738" cy="4902200"/>
            <a:chOff x="0" y="0"/>
            <a:chExt cx="3634318" cy="6536266"/>
          </a:xfrm>
        </p:grpSpPr>
        <p:sp>
          <p:nvSpPr>
            <p:cNvPr id="17" name="Freeform 17"/>
            <p:cNvSpPr/>
            <p:nvPr/>
          </p:nvSpPr>
          <p:spPr>
            <a:xfrm>
              <a:off x="0" y="0"/>
              <a:ext cx="3634359" cy="6536309"/>
            </a:xfrm>
            <a:custGeom>
              <a:avLst/>
              <a:gdLst/>
              <a:ahLst/>
              <a:cxnLst/>
              <a:rect l="l" t="t" r="r" b="b"/>
              <a:pathLst>
                <a:path w="3634359" h="6536309">
                  <a:moveTo>
                    <a:pt x="0" y="6536309"/>
                  </a:moveTo>
                  <a:lnTo>
                    <a:pt x="3634359" y="0"/>
                  </a:lnTo>
                  <a:lnTo>
                    <a:pt x="3634359" y="6536309"/>
                  </a:lnTo>
                  <a:close/>
                </a:path>
              </a:pathLst>
            </a:custGeom>
            <a:solidFill>
              <a:srgbClr val="1D4355">
                <a:alpha val="43529"/>
              </a:srgbClr>
            </a:solidFill>
          </p:spPr>
        </p:sp>
      </p:grpSp>
      <p:grpSp>
        <p:nvGrpSpPr>
          <p:cNvPr id="18" name="Group 18"/>
          <p:cNvGrpSpPr/>
          <p:nvPr/>
        </p:nvGrpSpPr>
        <p:grpSpPr>
          <a:xfrm>
            <a:off x="0" y="6019801"/>
            <a:ext cx="673100" cy="4267200"/>
            <a:chOff x="0" y="0"/>
            <a:chExt cx="897466" cy="5689600"/>
          </a:xfrm>
        </p:grpSpPr>
        <p:sp>
          <p:nvSpPr>
            <p:cNvPr id="19" name="Freeform 19"/>
            <p:cNvSpPr/>
            <p:nvPr/>
          </p:nvSpPr>
          <p:spPr>
            <a:xfrm>
              <a:off x="0" y="0"/>
              <a:ext cx="897509" cy="5689600"/>
            </a:xfrm>
            <a:custGeom>
              <a:avLst/>
              <a:gdLst/>
              <a:ahLst/>
              <a:cxnLst/>
              <a:rect l="l" t="t" r="r" b="b"/>
              <a:pathLst>
                <a:path w="897509" h="5689600">
                  <a:moveTo>
                    <a:pt x="0" y="5689600"/>
                  </a:moveTo>
                  <a:lnTo>
                    <a:pt x="0" y="0"/>
                  </a:lnTo>
                  <a:lnTo>
                    <a:pt x="897509" y="5689600"/>
                  </a:lnTo>
                  <a:close/>
                </a:path>
              </a:pathLst>
            </a:custGeom>
            <a:solidFill>
              <a:srgbClr val="6C9286">
                <a:alpha val="48627"/>
              </a:srgbClr>
            </a:solidFill>
          </p:spPr>
        </p:sp>
      </p:grpSp>
      <p:grpSp>
        <p:nvGrpSpPr>
          <p:cNvPr id="20" name="Group 20"/>
          <p:cNvGrpSpPr/>
          <p:nvPr/>
        </p:nvGrpSpPr>
        <p:grpSpPr>
          <a:xfrm>
            <a:off x="833954" y="484281"/>
            <a:ext cx="5761174" cy="1088838"/>
            <a:chOff x="0" y="0"/>
            <a:chExt cx="7681565" cy="1451784"/>
          </a:xfrm>
        </p:grpSpPr>
        <p:sp>
          <p:nvSpPr>
            <p:cNvPr id="21" name="Freeform 21"/>
            <p:cNvSpPr/>
            <p:nvPr/>
          </p:nvSpPr>
          <p:spPr>
            <a:xfrm>
              <a:off x="0" y="0"/>
              <a:ext cx="7681595" cy="1451737"/>
            </a:xfrm>
            <a:custGeom>
              <a:avLst/>
              <a:gdLst/>
              <a:ahLst/>
              <a:cxnLst/>
              <a:rect l="l" t="t" r="r" b="b"/>
              <a:pathLst>
                <a:path w="7681595" h="1451737">
                  <a:moveTo>
                    <a:pt x="0" y="0"/>
                  </a:moveTo>
                  <a:lnTo>
                    <a:pt x="7681595" y="0"/>
                  </a:lnTo>
                  <a:lnTo>
                    <a:pt x="7681595" y="1451737"/>
                  </a:lnTo>
                  <a:lnTo>
                    <a:pt x="0" y="1451737"/>
                  </a:lnTo>
                  <a:lnTo>
                    <a:pt x="0" y="0"/>
                  </a:lnTo>
                  <a:close/>
                </a:path>
              </a:pathLst>
            </a:custGeom>
            <a:blipFill>
              <a:blip r:embed="rId2"/>
              <a:stretch>
                <a:fillRect t="-2789" b="-2793"/>
              </a:stretch>
            </a:blipFill>
          </p:spPr>
        </p:sp>
      </p:grpSp>
      <p:grpSp>
        <p:nvGrpSpPr>
          <p:cNvPr id="22" name="Group 22"/>
          <p:cNvGrpSpPr/>
          <p:nvPr/>
        </p:nvGrpSpPr>
        <p:grpSpPr>
          <a:xfrm>
            <a:off x="305174" y="2879935"/>
            <a:ext cx="7934419" cy="5171730"/>
            <a:chOff x="0" y="0"/>
            <a:chExt cx="10579225" cy="6895640"/>
          </a:xfrm>
        </p:grpSpPr>
        <p:sp>
          <p:nvSpPr>
            <p:cNvPr id="23" name="Freeform 23"/>
            <p:cNvSpPr/>
            <p:nvPr/>
          </p:nvSpPr>
          <p:spPr>
            <a:xfrm>
              <a:off x="0" y="0"/>
              <a:ext cx="10579227" cy="6895592"/>
            </a:xfrm>
            <a:custGeom>
              <a:avLst/>
              <a:gdLst/>
              <a:ahLst/>
              <a:cxnLst/>
              <a:rect l="l" t="t" r="r" b="b"/>
              <a:pathLst>
                <a:path w="10579227" h="6895592">
                  <a:moveTo>
                    <a:pt x="863600" y="0"/>
                  </a:moveTo>
                  <a:lnTo>
                    <a:pt x="9715627" y="0"/>
                  </a:lnTo>
                  <a:cubicBezTo>
                    <a:pt x="9944668" y="0"/>
                    <a:pt x="10164328" y="90986"/>
                    <a:pt x="10326284" y="252943"/>
                  </a:cubicBezTo>
                  <a:cubicBezTo>
                    <a:pt x="10488241" y="414899"/>
                    <a:pt x="10579227" y="634559"/>
                    <a:pt x="10579227" y="863600"/>
                  </a:cubicBezTo>
                  <a:lnTo>
                    <a:pt x="10579227" y="6031992"/>
                  </a:lnTo>
                  <a:cubicBezTo>
                    <a:pt x="10579227" y="6508945"/>
                    <a:pt x="10192580" y="6895592"/>
                    <a:pt x="9715627" y="6895592"/>
                  </a:cubicBezTo>
                  <a:lnTo>
                    <a:pt x="863600" y="6895592"/>
                  </a:lnTo>
                  <a:cubicBezTo>
                    <a:pt x="634559" y="6895592"/>
                    <a:pt x="414899" y="6804606"/>
                    <a:pt x="252943" y="6642650"/>
                  </a:cubicBezTo>
                  <a:cubicBezTo>
                    <a:pt x="90986" y="6480693"/>
                    <a:pt x="0" y="6261033"/>
                    <a:pt x="0" y="6031992"/>
                  </a:cubicBezTo>
                  <a:lnTo>
                    <a:pt x="0" y="863600"/>
                  </a:lnTo>
                  <a:cubicBezTo>
                    <a:pt x="0" y="386647"/>
                    <a:pt x="386647" y="0"/>
                    <a:pt x="863600" y="0"/>
                  </a:cubicBezTo>
                  <a:close/>
                </a:path>
              </a:pathLst>
            </a:custGeom>
            <a:blipFill>
              <a:blip r:embed="rId3"/>
              <a:stretch>
                <a:fillRect l="-13653" r="-13653"/>
              </a:stretch>
            </a:blipFill>
          </p:spPr>
        </p:sp>
      </p:grpSp>
      <p:sp>
        <p:nvSpPr>
          <p:cNvPr id="24" name="TextBox 24"/>
          <p:cNvSpPr txBox="1"/>
          <p:nvPr/>
        </p:nvSpPr>
        <p:spPr>
          <a:xfrm>
            <a:off x="9293976" y="2606556"/>
            <a:ext cx="7965324" cy="947737"/>
          </a:xfrm>
          <a:prstGeom prst="rect">
            <a:avLst/>
          </a:prstGeom>
        </p:spPr>
        <p:txBody>
          <a:bodyPr lIns="0" tIns="0" rIns="0" bIns="0" rtlCol="0" anchor="t">
            <a:spAutoFit/>
          </a:bodyPr>
          <a:lstStyle/>
          <a:p>
            <a:pPr algn="l">
              <a:lnSpc>
                <a:spcPts val="7200"/>
              </a:lnSpc>
            </a:pPr>
            <a:r>
              <a:rPr lang="en-US" sz="6000" b="1" u="sng">
                <a:solidFill>
                  <a:srgbClr val="F7F7F7"/>
                </a:solidFill>
                <a:latin typeface="Public Sans Bold"/>
                <a:ea typeface="Public Sans Bold"/>
                <a:cs typeface="Public Sans Bold"/>
                <a:sym typeface="Public Sans Bold"/>
              </a:rPr>
              <a:t>Constraints and Risks</a:t>
            </a:r>
          </a:p>
        </p:txBody>
      </p:sp>
      <p:sp>
        <p:nvSpPr>
          <p:cNvPr id="25" name="TextBox 25"/>
          <p:cNvSpPr txBox="1"/>
          <p:nvPr/>
        </p:nvSpPr>
        <p:spPr>
          <a:xfrm>
            <a:off x="9293976" y="3844622"/>
            <a:ext cx="7965324" cy="1159351"/>
          </a:xfrm>
          <a:prstGeom prst="rect">
            <a:avLst/>
          </a:prstGeom>
        </p:spPr>
        <p:txBody>
          <a:bodyPr lIns="0" tIns="0" rIns="0" bIns="0" rtlCol="0" anchor="t">
            <a:spAutoFit/>
          </a:bodyPr>
          <a:lstStyle/>
          <a:p>
            <a:pPr algn="l">
              <a:lnSpc>
                <a:spcPts val="4480"/>
              </a:lnSpc>
            </a:pPr>
            <a:r>
              <a:rPr lang="en-US" sz="3200" u="sng">
                <a:solidFill>
                  <a:srgbClr val="F7F7F7"/>
                </a:solidFill>
                <a:latin typeface="Public Sans"/>
                <a:ea typeface="Public Sans"/>
                <a:cs typeface="Public Sans"/>
                <a:sym typeface="Public Sans"/>
              </a:rPr>
              <a:t>Understanding POPIA and bias concerns in AI</a:t>
            </a:r>
          </a:p>
        </p:txBody>
      </p:sp>
      <p:sp>
        <p:nvSpPr>
          <p:cNvPr id="26" name="TextBox 26"/>
          <p:cNvSpPr txBox="1"/>
          <p:nvPr/>
        </p:nvSpPr>
        <p:spPr>
          <a:xfrm>
            <a:off x="9293976" y="5326016"/>
            <a:ext cx="7092530" cy="2553652"/>
          </a:xfrm>
          <a:prstGeom prst="rect">
            <a:avLst/>
          </a:prstGeom>
        </p:spPr>
        <p:txBody>
          <a:bodyPr lIns="0" tIns="0" rIns="0" bIns="0" rtlCol="0" anchor="t">
            <a:spAutoFit/>
          </a:bodyPr>
          <a:lstStyle/>
          <a:p>
            <a:pPr algn="l">
              <a:lnSpc>
                <a:spcPts val="3359"/>
              </a:lnSpc>
            </a:pPr>
            <a:r>
              <a:rPr lang="en-US" sz="2399">
                <a:solidFill>
                  <a:srgbClr val="F7F7F7"/>
                </a:solidFill>
                <a:latin typeface="Public Sans"/>
                <a:ea typeface="Public Sans"/>
                <a:cs typeface="Public Sans"/>
                <a:sym typeface="Public Sans"/>
              </a:rPr>
              <a:t>The </a:t>
            </a:r>
            <a:r>
              <a:rPr lang="en-US" sz="2399" b="1">
                <a:solidFill>
                  <a:srgbClr val="F7F7F7"/>
                </a:solidFill>
                <a:latin typeface="Public Sans Bold"/>
                <a:ea typeface="Public Sans Bold"/>
                <a:cs typeface="Public Sans Bold"/>
                <a:sym typeface="Public Sans Bold"/>
              </a:rPr>
              <a:t>Protection of Personal Information Act (POPIA)</a:t>
            </a:r>
            <a:r>
              <a:rPr lang="en-US" sz="2399">
                <a:solidFill>
                  <a:srgbClr val="F7F7F7"/>
                </a:solidFill>
                <a:latin typeface="Public Sans"/>
                <a:ea typeface="Public Sans"/>
                <a:cs typeface="Public Sans"/>
                <a:sym typeface="Public Sans"/>
              </a:rPr>
              <a:t> ensures data privacy while using AI tools. Addressing potential bias replication in AI models is crucial for maintaining fairness in salary predictions and ensuring equitable treatment across all demographics.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65B6D"/>
        </a:solidFill>
        <a:effectLst/>
      </p:bgPr>
    </p:bg>
    <p:spTree>
      <p:nvGrpSpPr>
        <p:cNvPr id="1" name=""/>
        <p:cNvGrpSpPr/>
        <p:nvPr/>
      </p:nvGrpSpPr>
      <p:grpSpPr>
        <a:xfrm>
          <a:off x="0" y="0"/>
          <a:ext cx="0" cy="0"/>
          <a:chOff x="0" y="0"/>
          <a:chExt cx="0" cy="0"/>
        </a:xfrm>
      </p:grpSpPr>
      <p:sp>
        <p:nvSpPr>
          <p:cNvPr id="2" name="AutoShape 2"/>
          <p:cNvSpPr/>
          <p:nvPr/>
        </p:nvSpPr>
        <p:spPr>
          <a:xfrm rot="4791364">
            <a:off x="9738483" y="5143501"/>
            <a:ext cx="10464870" cy="0"/>
          </a:xfrm>
          <a:prstGeom prst="line">
            <a:avLst/>
          </a:prstGeom>
          <a:ln w="9525" cap="rnd">
            <a:solidFill>
              <a:srgbClr val="F7F7F7"/>
            </a:solidFill>
            <a:prstDash val="solid"/>
            <a:headEnd type="none" w="sm" len="sm"/>
            <a:tailEnd type="none" w="sm" len="sm"/>
          </a:ln>
        </p:spPr>
      </p:sp>
      <p:sp>
        <p:nvSpPr>
          <p:cNvPr id="3" name="AutoShape 3"/>
          <p:cNvSpPr/>
          <p:nvPr/>
        </p:nvSpPr>
        <p:spPr>
          <a:xfrm rot="8776573">
            <a:off x="10406482" y="7904561"/>
            <a:ext cx="8608175" cy="0"/>
          </a:xfrm>
          <a:prstGeom prst="line">
            <a:avLst/>
          </a:prstGeom>
          <a:ln w="9525" cap="rnd">
            <a:solidFill>
              <a:srgbClr val="F7F7F7"/>
            </a:solidFill>
            <a:prstDash val="solid"/>
            <a:headEnd type="none" w="sm" len="sm"/>
            <a:tailEnd type="none" w="sm" len="sm"/>
          </a:ln>
        </p:spPr>
      </p:sp>
      <p:grpSp>
        <p:nvGrpSpPr>
          <p:cNvPr id="4" name="Group 4"/>
          <p:cNvGrpSpPr/>
          <p:nvPr/>
        </p:nvGrpSpPr>
        <p:grpSpPr>
          <a:xfrm>
            <a:off x="13772214" y="-12700"/>
            <a:ext cx="4511024" cy="10299701"/>
            <a:chOff x="0" y="0"/>
            <a:chExt cx="6014698" cy="13732935"/>
          </a:xfrm>
        </p:grpSpPr>
        <p:sp>
          <p:nvSpPr>
            <p:cNvPr id="5" name="Freeform 5"/>
            <p:cNvSpPr/>
            <p:nvPr/>
          </p:nvSpPr>
          <p:spPr>
            <a:xfrm>
              <a:off x="0" y="0"/>
              <a:ext cx="6014720" cy="13732890"/>
            </a:xfrm>
            <a:custGeom>
              <a:avLst/>
              <a:gdLst/>
              <a:ahLst/>
              <a:cxnLst/>
              <a:rect l="l" t="t" r="r" b="b"/>
              <a:pathLst>
                <a:path w="6014720" h="13732890">
                  <a:moveTo>
                    <a:pt x="4091051" y="0"/>
                  </a:moveTo>
                  <a:lnTo>
                    <a:pt x="6014720" y="0"/>
                  </a:lnTo>
                  <a:lnTo>
                    <a:pt x="6014720" y="13732890"/>
                  </a:lnTo>
                  <a:lnTo>
                    <a:pt x="0" y="13732890"/>
                  </a:lnTo>
                  <a:lnTo>
                    <a:pt x="4091051" y="0"/>
                  </a:lnTo>
                  <a:close/>
                </a:path>
              </a:pathLst>
            </a:custGeom>
            <a:solidFill>
              <a:srgbClr val="F7F7F7">
                <a:alpha val="12941"/>
              </a:srgbClr>
            </a:solidFill>
          </p:spPr>
        </p:sp>
      </p:grpSp>
      <p:grpSp>
        <p:nvGrpSpPr>
          <p:cNvPr id="6" name="Group 6"/>
          <p:cNvGrpSpPr/>
          <p:nvPr/>
        </p:nvGrpSpPr>
        <p:grpSpPr>
          <a:xfrm>
            <a:off x="14405163" y="-12700"/>
            <a:ext cx="3882837" cy="10299701"/>
            <a:chOff x="0" y="0"/>
            <a:chExt cx="5177116" cy="13732935"/>
          </a:xfrm>
        </p:grpSpPr>
        <p:sp>
          <p:nvSpPr>
            <p:cNvPr id="7" name="Freeform 7"/>
            <p:cNvSpPr/>
            <p:nvPr/>
          </p:nvSpPr>
          <p:spPr>
            <a:xfrm>
              <a:off x="0" y="0"/>
              <a:ext cx="5177155" cy="13732890"/>
            </a:xfrm>
            <a:custGeom>
              <a:avLst/>
              <a:gdLst/>
              <a:ahLst/>
              <a:cxnLst/>
              <a:rect l="l" t="t" r="r" b="b"/>
              <a:pathLst>
                <a:path w="5177155" h="13732890">
                  <a:moveTo>
                    <a:pt x="0" y="0"/>
                  </a:moveTo>
                  <a:lnTo>
                    <a:pt x="5177155" y="0"/>
                  </a:lnTo>
                  <a:lnTo>
                    <a:pt x="5177155" y="13732890"/>
                  </a:lnTo>
                  <a:lnTo>
                    <a:pt x="2418969" y="13732890"/>
                  </a:lnTo>
                  <a:lnTo>
                    <a:pt x="0" y="0"/>
                  </a:lnTo>
                  <a:close/>
                </a:path>
              </a:pathLst>
            </a:custGeom>
            <a:solidFill>
              <a:srgbClr val="F7F7F7">
                <a:alpha val="3922"/>
              </a:srgbClr>
            </a:solidFill>
          </p:spPr>
        </p:sp>
      </p:grpSp>
      <p:grpSp>
        <p:nvGrpSpPr>
          <p:cNvPr id="8" name="Group 8"/>
          <p:cNvGrpSpPr/>
          <p:nvPr/>
        </p:nvGrpSpPr>
        <p:grpSpPr>
          <a:xfrm>
            <a:off x="13398499" y="4572001"/>
            <a:ext cx="4889501" cy="5715000"/>
            <a:chOff x="0" y="0"/>
            <a:chExt cx="6519334" cy="7620000"/>
          </a:xfrm>
        </p:grpSpPr>
        <p:sp>
          <p:nvSpPr>
            <p:cNvPr id="9" name="Freeform 9"/>
            <p:cNvSpPr/>
            <p:nvPr/>
          </p:nvSpPr>
          <p:spPr>
            <a:xfrm>
              <a:off x="0" y="0"/>
              <a:ext cx="6519291" cy="7620000"/>
            </a:xfrm>
            <a:custGeom>
              <a:avLst/>
              <a:gdLst/>
              <a:ahLst/>
              <a:cxnLst/>
              <a:rect l="l" t="t" r="r" b="b"/>
              <a:pathLst>
                <a:path w="6519291" h="7620000">
                  <a:moveTo>
                    <a:pt x="0" y="7620000"/>
                  </a:moveTo>
                  <a:lnTo>
                    <a:pt x="6519291" y="0"/>
                  </a:lnTo>
                  <a:lnTo>
                    <a:pt x="6519291" y="7620000"/>
                  </a:lnTo>
                  <a:close/>
                </a:path>
              </a:pathLst>
            </a:custGeom>
            <a:solidFill>
              <a:srgbClr val="289DD2">
                <a:alpha val="43529"/>
              </a:srgbClr>
            </a:solidFill>
          </p:spPr>
        </p:sp>
      </p:grpSp>
      <p:grpSp>
        <p:nvGrpSpPr>
          <p:cNvPr id="10" name="Group 10"/>
          <p:cNvGrpSpPr/>
          <p:nvPr/>
        </p:nvGrpSpPr>
        <p:grpSpPr>
          <a:xfrm>
            <a:off x="14001750" y="-12700"/>
            <a:ext cx="4281489" cy="10299701"/>
            <a:chOff x="0" y="0"/>
            <a:chExt cx="5708652" cy="13732935"/>
          </a:xfrm>
        </p:grpSpPr>
        <p:sp>
          <p:nvSpPr>
            <p:cNvPr id="11" name="Freeform 11"/>
            <p:cNvSpPr/>
            <p:nvPr/>
          </p:nvSpPr>
          <p:spPr>
            <a:xfrm>
              <a:off x="0" y="0"/>
              <a:ext cx="5708650" cy="13732890"/>
            </a:xfrm>
            <a:custGeom>
              <a:avLst/>
              <a:gdLst/>
              <a:ahLst/>
              <a:cxnLst/>
              <a:rect l="l" t="t" r="r" b="b"/>
              <a:pathLst>
                <a:path w="5708650" h="13732890">
                  <a:moveTo>
                    <a:pt x="0" y="0"/>
                  </a:moveTo>
                  <a:lnTo>
                    <a:pt x="5708650" y="0"/>
                  </a:lnTo>
                  <a:lnTo>
                    <a:pt x="5708650" y="13732890"/>
                  </a:lnTo>
                  <a:lnTo>
                    <a:pt x="4941443" y="13732890"/>
                  </a:lnTo>
                  <a:lnTo>
                    <a:pt x="0" y="0"/>
                  </a:lnTo>
                  <a:close/>
                </a:path>
              </a:pathLst>
            </a:custGeom>
            <a:solidFill>
              <a:srgbClr val="289DD2">
                <a:alpha val="24706"/>
              </a:srgbClr>
            </a:solidFill>
          </p:spPr>
        </p:sp>
      </p:grpSp>
      <p:grpSp>
        <p:nvGrpSpPr>
          <p:cNvPr id="12" name="Group 12"/>
          <p:cNvGrpSpPr/>
          <p:nvPr/>
        </p:nvGrpSpPr>
        <p:grpSpPr>
          <a:xfrm>
            <a:off x="16348095" y="-12700"/>
            <a:ext cx="1935141" cy="10299701"/>
            <a:chOff x="0" y="0"/>
            <a:chExt cx="2580188" cy="13732935"/>
          </a:xfrm>
        </p:grpSpPr>
        <p:sp>
          <p:nvSpPr>
            <p:cNvPr id="13" name="Freeform 13"/>
            <p:cNvSpPr/>
            <p:nvPr/>
          </p:nvSpPr>
          <p:spPr>
            <a:xfrm>
              <a:off x="0" y="0"/>
              <a:ext cx="2580259" cy="13732890"/>
            </a:xfrm>
            <a:custGeom>
              <a:avLst/>
              <a:gdLst/>
              <a:ahLst/>
              <a:cxnLst/>
              <a:rect l="l" t="t" r="r" b="b"/>
              <a:pathLst>
                <a:path w="2580259" h="13732890">
                  <a:moveTo>
                    <a:pt x="2039493" y="0"/>
                  </a:moveTo>
                  <a:lnTo>
                    <a:pt x="2580259" y="0"/>
                  </a:lnTo>
                  <a:lnTo>
                    <a:pt x="2580259" y="13732890"/>
                  </a:lnTo>
                  <a:lnTo>
                    <a:pt x="0" y="13732890"/>
                  </a:lnTo>
                  <a:lnTo>
                    <a:pt x="2039493" y="0"/>
                  </a:lnTo>
                  <a:close/>
                </a:path>
              </a:pathLst>
            </a:custGeom>
            <a:solidFill>
              <a:srgbClr val="365B6D">
                <a:alpha val="48627"/>
              </a:srgbClr>
            </a:solidFill>
          </p:spPr>
        </p:sp>
      </p:grpSp>
      <p:grpSp>
        <p:nvGrpSpPr>
          <p:cNvPr id="14" name="Group 14"/>
          <p:cNvGrpSpPr/>
          <p:nvPr/>
        </p:nvGrpSpPr>
        <p:grpSpPr>
          <a:xfrm>
            <a:off x="16408499" y="-12700"/>
            <a:ext cx="1874737" cy="10299701"/>
            <a:chOff x="0" y="0"/>
            <a:chExt cx="2499650" cy="13732935"/>
          </a:xfrm>
        </p:grpSpPr>
        <p:sp>
          <p:nvSpPr>
            <p:cNvPr id="15" name="Freeform 15"/>
            <p:cNvSpPr/>
            <p:nvPr/>
          </p:nvSpPr>
          <p:spPr>
            <a:xfrm>
              <a:off x="0" y="0"/>
              <a:ext cx="2499614" cy="13732890"/>
            </a:xfrm>
            <a:custGeom>
              <a:avLst/>
              <a:gdLst/>
              <a:ahLst/>
              <a:cxnLst/>
              <a:rect l="l" t="t" r="r" b="b"/>
              <a:pathLst>
                <a:path w="2499614" h="13732890">
                  <a:moveTo>
                    <a:pt x="0" y="0"/>
                  </a:moveTo>
                  <a:lnTo>
                    <a:pt x="2499614" y="0"/>
                  </a:lnTo>
                  <a:lnTo>
                    <a:pt x="2499614" y="13732890"/>
                  </a:lnTo>
                  <a:lnTo>
                    <a:pt x="2218817" y="13732890"/>
                  </a:lnTo>
                  <a:lnTo>
                    <a:pt x="0" y="0"/>
                  </a:lnTo>
                  <a:close/>
                </a:path>
              </a:pathLst>
            </a:custGeom>
            <a:solidFill>
              <a:srgbClr val="F7F7F7">
                <a:alpha val="63922"/>
              </a:srgbClr>
            </a:solidFill>
          </p:spPr>
        </p:sp>
      </p:grpSp>
      <p:grpSp>
        <p:nvGrpSpPr>
          <p:cNvPr id="16" name="Group 16"/>
          <p:cNvGrpSpPr/>
          <p:nvPr/>
        </p:nvGrpSpPr>
        <p:grpSpPr>
          <a:xfrm>
            <a:off x="15557499" y="5384801"/>
            <a:ext cx="2725738" cy="4902200"/>
            <a:chOff x="0" y="0"/>
            <a:chExt cx="3634318" cy="6536266"/>
          </a:xfrm>
        </p:grpSpPr>
        <p:sp>
          <p:nvSpPr>
            <p:cNvPr id="17" name="Freeform 17"/>
            <p:cNvSpPr/>
            <p:nvPr/>
          </p:nvSpPr>
          <p:spPr>
            <a:xfrm>
              <a:off x="0" y="0"/>
              <a:ext cx="3634359" cy="6536309"/>
            </a:xfrm>
            <a:custGeom>
              <a:avLst/>
              <a:gdLst/>
              <a:ahLst/>
              <a:cxnLst/>
              <a:rect l="l" t="t" r="r" b="b"/>
              <a:pathLst>
                <a:path w="3634359" h="6536309">
                  <a:moveTo>
                    <a:pt x="0" y="6536309"/>
                  </a:moveTo>
                  <a:lnTo>
                    <a:pt x="3634359" y="0"/>
                  </a:lnTo>
                  <a:lnTo>
                    <a:pt x="3634359" y="6536309"/>
                  </a:lnTo>
                  <a:close/>
                </a:path>
              </a:pathLst>
            </a:custGeom>
            <a:solidFill>
              <a:srgbClr val="289DD2">
                <a:alpha val="43529"/>
              </a:srgbClr>
            </a:solidFill>
          </p:spPr>
        </p:sp>
      </p:grpSp>
      <p:grpSp>
        <p:nvGrpSpPr>
          <p:cNvPr id="18" name="Group 18"/>
          <p:cNvGrpSpPr/>
          <p:nvPr/>
        </p:nvGrpSpPr>
        <p:grpSpPr>
          <a:xfrm>
            <a:off x="0" y="6019801"/>
            <a:ext cx="673100" cy="4267200"/>
            <a:chOff x="0" y="0"/>
            <a:chExt cx="897466" cy="5689600"/>
          </a:xfrm>
        </p:grpSpPr>
        <p:sp>
          <p:nvSpPr>
            <p:cNvPr id="19" name="Freeform 19"/>
            <p:cNvSpPr/>
            <p:nvPr/>
          </p:nvSpPr>
          <p:spPr>
            <a:xfrm>
              <a:off x="0" y="0"/>
              <a:ext cx="897509" cy="5689600"/>
            </a:xfrm>
            <a:custGeom>
              <a:avLst/>
              <a:gdLst/>
              <a:ahLst/>
              <a:cxnLst/>
              <a:rect l="l" t="t" r="r" b="b"/>
              <a:pathLst>
                <a:path w="897509" h="5689600">
                  <a:moveTo>
                    <a:pt x="0" y="5689600"/>
                  </a:moveTo>
                  <a:lnTo>
                    <a:pt x="0" y="0"/>
                  </a:lnTo>
                  <a:lnTo>
                    <a:pt x="897509" y="5689600"/>
                  </a:lnTo>
                  <a:close/>
                </a:path>
              </a:pathLst>
            </a:custGeom>
            <a:solidFill>
              <a:srgbClr val="F7F7F7">
                <a:alpha val="48627"/>
              </a:srgbClr>
            </a:solidFill>
          </p:spPr>
        </p:sp>
      </p:grpSp>
      <p:sp>
        <p:nvSpPr>
          <p:cNvPr id="20" name="TextBox 20"/>
          <p:cNvSpPr txBox="1"/>
          <p:nvPr/>
        </p:nvSpPr>
        <p:spPr>
          <a:xfrm>
            <a:off x="7281884" y="930172"/>
            <a:ext cx="2656759" cy="962025"/>
          </a:xfrm>
          <a:prstGeom prst="rect">
            <a:avLst/>
          </a:prstGeom>
        </p:spPr>
        <p:txBody>
          <a:bodyPr wrap="square" lIns="0" tIns="0" rIns="0" bIns="0" rtlCol="0" anchor="t">
            <a:spAutoFit/>
          </a:bodyPr>
          <a:lstStyle/>
          <a:p>
            <a:pPr algn="l">
              <a:lnSpc>
                <a:spcPts val="7439"/>
              </a:lnSpc>
            </a:pPr>
            <a:r>
              <a:rPr lang="en-US" sz="6199" b="1" u="sng" dirty="0">
                <a:solidFill>
                  <a:srgbClr val="F7F7F7"/>
                </a:solidFill>
                <a:latin typeface="Public Sans Bold"/>
                <a:ea typeface="Public Sans Bold"/>
                <a:cs typeface="Public Sans Bold"/>
                <a:sym typeface="Public Sans Bold"/>
              </a:rPr>
              <a:t>Tools</a:t>
            </a:r>
          </a:p>
        </p:txBody>
      </p:sp>
      <p:grpSp>
        <p:nvGrpSpPr>
          <p:cNvPr id="21" name="Group 21"/>
          <p:cNvGrpSpPr/>
          <p:nvPr/>
        </p:nvGrpSpPr>
        <p:grpSpPr>
          <a:xfrm>
            <a:off x="833954" y="200039"/>
            <a:ext cx="5761174" cy="1088838"/>
            <a:chOff x="0" y="0"/>
            <a:chExt cx="7681565" cy="1451784"/>
          </a:xfrm>
        </p:grpSpPr>
        <p:sp>
          <p:nvSpPr>
            <p:cNvPr id="22" name="Freeform 22"/>
            <p:cNvSpPr/>
            <p:nvPr/>
          </p:nvSpPr>
          <p:spPr>
            <a:xfrm>
              <a:off x="0" y="0"/>
              <a:ext cx="7681595" cy="1451737"/>
            </a:xfrm>
            <a:custGeom>
              <a:avLst/>
              <a:gdLst/>
              <a:ahLst/>
              <a:cxnLst/>
              <a:rect l="l" t="t" r="r" b="b"/>
              <a:pathLst>
                <a:path w="7681595" h="1451737">
                  <a:moveTo>
                    <a:pt x="0" y="0"/>
                  </a:moveTo>
                  <a:lnTo>
                    <a:pt x="7681595" y="0"/>
                  </a:lnTo>
                  <a:lnTo>
                    <a:pt x="7681595" y="1451737"/>
                  </a:lnTo>
                  <a:lnTo>
                    <a:pt x="0" y="1451737"/>
                  </a:lnTo>
                  <a:lnTo>
                    <a:pt x="0" y="0"/>
                  </a:lnTo>
                  <a:close/>
                </a:path>
              </a:pathLst>
            </a:custGeom>
            <a:blipFill>
              <a:blip r:embed="rId2"/>
              <a:stretch>
                <a:fillRect t="-2789" b="-2793"/>
              </a:stretch>
            </a:blipFill>
          </p:spPr>
        </p:sp>
      </p:grpSp>
      <p:sp>
        <p:nvSpPr>
          <p:cNvPr id="23" name="TextBox 23"/>
          <p:cNvSpPr txBox="1"/>
          <p:nvPr/>
        </p:nvSpPr>
        <p:spPr>
          <a:xfrm>
            <a:off x="1490071" y="1956700"/>
            <a:ext cx="13571209" cy="8037778"/>
          </a:xfrm>
          <a:prstGeom prst="rect">
            <a:avLst/>
          </a:prstGeom>
        </p:spPr>
        <p:txBody>
          <a:bodyPr lIns="0" tIns="0" rIns="0" bIns="0" rtlCol="0" anchor="t">
            <a:spAutoFit/>
          </a:bodyPr>
          <a:lstStyle/>
          <a:p>
            <a:pPr algn="ctr">
              <a:lnSpc>
                <a:spcPts val="3673"/>
              </a:lnSpc>
              <a:spcBef>
                <a:spcPct val="0"/>
              </a:spcBef>
            </a:pPr>
            <a:r>
              <a:rPr lang="en-US" sz="2623" dirty="0">
                <a:solidFill>
                  <a:srgbClr val="F7F7F7"/>
                </a:solidFill>
                <a:latin typeface="Public Sans"/>
                <a:ea typeface="Public Sans"/>
                <a:cs typeface="Public Sans"/>
                <a:sym typeface="Public Sans"/>
              </a:rPr>
              <a:t>• Programming </a:t>
            </a:r>
          </a:p>
          <a:p>
            <a:pPr algn="ctr">
              <a:lnSpc>
                <a:spcPts val="3673"/>
              </a:lnSpc>
              <a:spcBef>
                <a:spcPct val="0"/>
              </a:spcBef>
            </a:pPr>
            <a:r>
              <a:rPr lang="en-US" sz="2623" dirty="0">
                <a:solidFill>
                  <a:srgbClr val="F7F7F7"/>
                </a:solidFill>
                <a:latin typeface="Public Sans"/>
                <a:ea typeface="Public Sans"/>
                <a:cs typeface="Public Sans"/>
                <a:sym typeface="Public Sans"/>
              </a:rPr>
              <a:t>• Python libraries</a:t>
            </a:r>
          </a:p>
          <a:p>
            <a:pPr algn="ctr">
              <a:lnSpc>
                <a:spcPts val="3673"/>
              </a:lnSpc>
              <a:spcBef>
                <a:spcPct val="0"/>
              </a:spcBef>
            </a:pPr>
            <a:r>
              <a:rPr lang="en-US" sz="2623" dirty="0">
                <a:solidFill>
                  <a:srgbClr val="F7F7F7"/>
                </a:solidFill>
                <a:latin typeface="Public Sans"/>
                <a:ea typeface="Public Sans"/>
                <a:cs typeface="Public Sans"/>
                <a:sym typeface="Public Sans"/>
              </a:rPr>
              <a:t> • Sk-learn </a:t>
            </a:r>
          </a:p>
          <a:p>
            <a:pPr algn="ctr">
              <a:lnSpc>
                <a:spcPts val="3673"/>
              </a:lnSpc>
              <a:spcBef>
                <a:spcPct val="0"/>
              </a:spcBef>
            </a:pPr>
            <a:r>
              <a:rPr lang="en-US" sz="2623" dirty="0">
                <a:solidFill>
                  <a:srgbClr val="F7F7F7"/>
                </a:solidFill>
                <a:latin typeface="Public Sans"/>
                <a:ea typeface="Public Sans"/>
                <a:cs typeface="Public Sans"/>
                <a:sym typeface="Public Sans"/>
              </a:rPr>
              <a:t>• Matplotlib </a:t>
            </a:r>
          </a:p>
          <a:p>
            <a:pPr algn="ctr">
              <a:lnSpc>
                <a:spcPts val="3673"/>
              </a:lnSpc>
              <a:spcBef>
                <a:spcPct val="0"/>
              </a:spcBef>
            </a:pPr>
            <a:r>
              <a:rPr lang="en-US" sz="2623" dirty="0">
                <a:solidFill>
                  <a:srgbClr val="F7F7F7"/>
                </a:solidFill>
                <a:latin typeface="Public Sans"/>
                <a:ea typeface="Public Sans"/>
                <a:cs typeface="Public Sans"/>
                <a:sym typeface="Public Sans"/>
              </a:rPr>
              <a:t>• Numpy </a:t>
            </a:r>
          </a:p>
          <a:p>
            <a:pPr algn="ctr">
              <a:lnSpc>
                <a:spcPts val="3813"/>
              </a:lnSpc>
              <a:spcBef>
                <a:spcPct val="0"/>
              </a:spcBef>
            </a:pPr>
            <a:r>
              <a:rPr lang="en-US" sz="2723" dirty="0">
                <a:solidFill>
                  <a:srgbClr val="F7F7F7"/>
                </a:solidFill>
                <a:latin typeface="Public Sans"/>
                <a:ea typeface="Public Sans"/>
                <a:cs typeface="Public Sans"/>
                <a:sym typeface="Public Sans"/>
              </a:rPr>
              <a:t>• Pandas </a:t>
            </a:r>
          </a:p>
          <a:p>
            <a:pPr algn="ctr">
              <a:lnSpc>
                <a:spcPts val="3673"/>
              </a:lnSpc>
              <a:spcBef>
                <a:spcPct val="0"/>
              </a:spcBef>
            </a:pPr>
            <a:r>
              <a:rPr lang="en-US" sz="2623" dirty="0">
                <a:solidFill>
                  <a:srgbClr val="F7F7F7"/>
                </a:solidFill>
                <a:latin typeface="Public Sans"/>
                <a:ea typeface="Public Sans"/>
                <a:cs typeface="Public Sans"/>
                <a:sym typeface="Public Sans"/>
              </a:rPr>
              <a:t>• Random </a:t>
            </a:r>
          </a:p>
          <a:p>
            <a:pPr algn="ctr">
              <a:lnSpc>
                <a:spcPts val="3673"/>
              </a:lnSpc>
              <a:spcBef>
                <a:spcPct val="0"/>
              </a:spcBef>
            </a:pPr>
            <a:r>
              <a:rPr lang="en-US" sz="2623" dirty="0">
                <a:solidFill>
                  <a:srgbClr val="F7F7F7"/>
                </a:solidFill>
                <a:latin typeface="Public Sans"/>
                <a:ea typeface="Public Sans"/>
                <a:cs typeface="Public Sans"/>
                <a:sym typeface="Public Sans"/>
              </a:rPr>
              <a:t>• GitHub Developer Platform </a:t>
            </a:r>
          </a:p>
          <a:p>
            <a:pPr algn="ctr">
              <a:lnSpc>
                <a:spcPts val="3673"/>
              </a:lnSpc>
              <a:spcBef>
                <a:spcPct val="0"/>
              </a:spcBef>
            </a:pPr>
            <a:r>
              <a:rPr lang="en-US" sz="2623" dirty="0">
                <a:solidFill>
                  <a:srgbClr val="F7F7F7"/>
                </a:solidFill>
                <a:latin typeface="Public Sans"/>
                <a:ea typeface="Public Sans"/>
                <a:cs typeface="Public Sans"/>
                <a:sym typeface="Public Sans"/>
              </a:rPr>
              <a:t>• Git </a:t>
            </a:r>
          </a:p>
          <a:p>
            <a:pPr algn="ctr">
              <a:lnSpc>
                <a:spcPts val="3673"/>
              </a:lnSpc>
              <a:spcBef>
                <a:spcPct val="0"/>
              </a:spcBef>
            </a:pPr>
            <a:r>
              <a:rPr lang="en-US" sz="2623" dirty="0">
                <a:solidFill>
                  <a:srgbClr val="F7F7F7"/>
                </a:solidFill>
                <a:latin typeface="Public Sans"/>
                <a:ea typeface="Public Sans"/>
                <a:cs typeface="Public Sans"/>
                <a:sym typeface="Public Sans"/>
              </a:rPr>
              <a:t>• Python IDE (Coding platform) </a:t>
            </a:r>
          </a:p>
          <a:p>
            <a:pPr algn="ctr">
              <a:lnSpc>
                <a:spcPts val="3673"/>
              </a:lnSpc>
              <a:spcBef>
                <a:spcPct val="0"/>
              </a:spcBef>
            </a:pPr>
            <a:r>
              <a:rPr lang="en-US" sz="2623" dirty="0">
                <a:solidFill>
                  <a:srgbClr val="F7F7F7"/>
                </a:solidFill>
                <a:latin typeface="Public Sans"/>
                <a:ea typeface="Public Sans"/>
                <a:cs typeface="Public Sans"/>
                <a:sym typeface="Public Sans"/>
              </a:rPr>
              <a:t>• AI programs </a:t>
            </a:r>
          </a:p>
          <a:p>
            <a:pPr algn="ctr">
              <a:lnSpc>
                <a:spcPts val="3673"/>
              </a:lnSpc>
              <a:spcBef>
                <a:spcPct val="0"/>
              </a:spcBef>
            </a:pPr>
            <a:r>
              <a:rPr lang="en-US" sz="2623" dirty="0">
                <a:solidFill>
                  <a:srgbClr val="F7F7F7"/>
                </a:solidFill>
                <a:latin typeface="Public Sans"/>
                <a:ea typeface="Public Sans"/>
                <a:cs typeface="Public Sans"/>
                <a:sym typeface="Public Sans"/>
              </a:rPr>
              <a:t>• Word </a:t>
            </a:r>
          </a:p>
          <a:p>
            <a:pPr algn="ctr">
              <a:lnSpc>
                <a:spcPts val="3673"/>
              </a:lnSpc>
              <a:spcBef>
                <a:spcPct val="0"/>
              </a:spcBef>
            </a:pPr>
            <a:r>
              <a:rPr lang="en-US" sz="2623" dirty="0">
                <a:solidFill>
                  <a:srgbClr val="F7F7F7"/>
                </a:solidFill>
                <a:latin typeface="Public Sans"/>
                <a:ea typeface="Public Sans"/>
                <a:cs typeface="Public Sans"/>
                <a:sym typeface="Public Sans"/>
              </a:rPr>
              <a:t>• Canva </a:t>
            </a:r>
          </a:p>
          <a:p>
            <a:pPr algn="ctr">
              <a:lnSpc>
                <a:spcPts val="3673"/>
              </a:lnSpc>
              <a:spcBef>
                <a:spcPct val="0"/>
              </a:spcBef>
            </a:pPr>
            <a:r>
              <a:rPr lang="en-US" sz="2623" dirty="0">
                <a:solidFill>
                  <a:srgbClr val="F7F7F7"/>
                </a:solidFill>
                <a:latin typeface="Public Sans"/>
                <a:ea typeface="Public Sans"/>
                <a:cs typeface="Public Sans"/>
                <a:sym typeface="Public Sans"/>
              </a:rPr>
              <a:t>• Excel </a:t>
            </a:r>
          </a:p>
          <a:p>
            <a:pPr algn="ctr">
              <a:lnSpc>
                <a:spcPts val="3673"/>
              </a:lnSpc>
              <a:spcBef>
                <a:spcPct val="0"/>
              </a:spcBef>
            </a:pPr>
            <a:r>
              <a:rPr lang="en-US" sz="2623" dirty="0">
                <a:solidFill>
                  <a:srgbClr val="F7F7F7"/>
                </a:solidFill>
                <a:latin typeface="Public Sans"/>
                <a:ea typeface="Public Sans"/>
                <a:cs typeface="Public Sans"/>
                <a:sym typeface="Public Sans"/>
              </a:rPr>
              <a:t>• PowerPoint </a:t>
            </a:r>
          </a:p>
          <a:p>
            <a:pPr algn="ctr">
              <a:lnSpc>
                <a:spcPts val="3673"/>
              </a:lnSpc>
              <a:spcBef>
                <a:spcPct val="0"/>
              </a:spcBef>
            </a:pPr>
            <a:r>
              <a:rPr lang="en-US" sz="2623" dirty="0">
                <a:solidFill>
                  <a:srgbClr val="F7F7F7"/>
                </a:solidFill>
                <a:latin typeface="Public Sans"/>
                <a:ea typeface="Public Sans"/>
                <a:cs typeface="Public Sans"/>
                <a:sym typeface="Public Sans"/>
              </a:rPr>
              <a:t>• Photoshop </a:t>
            </a:r>
          </a:p>
          <a:p>
            <a:pPr algn="ctr">
              <a:lnSpc>
                <a:spcPts val="3673"/>
              </a:lnSpc>
              <a:spcBef>
                <a:spcPct val="0"/>
              </a:spcBef>
            </a:pPr>
            <a:r>
              <a:rPr lang="en-US" sz="2623" dirty="0">
                <a:solidFill>
                  <a:srgbClr val="F7F7F7"/>
                </a:solidFill>
                <a:latin typeface="Public Sans"/>
                <a:ea typeface="Public Sans"/>
                <a:cs typeface="Public Sans"/>
                <a:sym typeface="Public Sans"/>
              </a:rPr>
              <a:t>• Grammarly</a:t>
            </a:r>
          </a:p>
        </p:txBody>
      </p:sp>
      <p:sp>
        <p:nvSpPr>
          <p:cNvPr id="24" name="AutoShape 4" descr="Image of ">
            <a:extLst>
              <a:ext uri="{FF2B5EF4-FFF2-40B4-BE49-F238E27FC236}">
                <a16:creationId xmlns:a16="http://schemas.microsoft.com/office/drawing/2014/main" id="{20F2E270-F504-486D-BDEF-1D3529C13761}"/>
              </a:ext>
            </a:extLst>
          </p:cNvPr>
          <p:cNvSpPr>
            <a:spLocks noChangeAspect="1" noChangeArrowheads="1"/>
          </p:cNvSpPr>
          <p:nvPr/>
        </p:nvSpPr>
        <p:spPr bwMode="auto">
          <a:xfrm flipH="1" flipV="1">
            <a:off x="2743200" y="-1257300"/>
            <a:ext cx="6248400" cy="6248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89DD2"/>
        </a:solidFill>
        <a:effectLst/>
      </p:bgPr>
    </p:bg>
    <p:spTree>
      <p:nvGrpSpPr>
        <p:cNvPr id="1" name=""/>
        <p:cNvGrpSpPr/>
        <p:nvPr/>
      </p:nvGrpSpPr>
      <p:grpSpPr>
        <a:xfrm>
          <a:off x="0" y="0"/>
          <a:ext cx="0" cy="0"/>
          <a:chOff x="0" y="0"/>
          <a:chExt cx="0" cy="0"/>
        </a:xfrm>
      </p:grpSpPr>
      <p:sp>
        <p:nvSpPr>
          <p:cNvPr id="2" name="AutoShape 2"/>
          <p:cNvSpPr/>
          <p:nvPr/>
        </p:nvSpPr>
        <p:spPr>
          <a:xfrm rot="4791364">
            <a:off x="9738483" y="5143501"/>
            <a:ext cx="10464870" cy="0"/>
          </a:xfrm>
          <a:prstGeom prst="line">
            <a:avLst/>
          </a:prstGeom>
          <a:ln w="9525" cap="rnd">
            <a:solidFill>
              <a:srgbClr val="F7F7F7"/>
            </a:solidFill>
            <a:prstDash val="solid"/>
            <a:headEnd type="none" w="sm" len="sm"/>
            <a:tailEnd type="none" w="sm" len="sm"/>
          </a:ln>
        </p:spPr>
      </p:sp>
      <p:sp>
        <p:nvSpPr>
          <p:cNvPr id="3" name="AutoShape 3"/>
          <p:cNvSpPr/>
          <p:nvPr/>
        </p:nvSpPr>
        <p:spPr>
          <a:xfrm rot="8776573">
            <a:off x="10406482" y="7904561"/>
            <a:ext cx="8608175" cy="0"/>
          </a:xfrm>
          <a:prstGeom prst="line">
            <a:avLst/>
          </a:prstGeom>
          <a:ln w="9525" cap="rnd">
            <a:solidFill>
              <a:srgbClr val="F7F7F7"/>
            </a:solidFill>
            <a:prstDash val="solid"/>
            <a:headEnd type="none" w="sm" len="sm"/>
            <a:tailEnd type="none" w="sm" len="sm"/>
          </a:ln>
        </p:spPr>
      </p:sp>
      <p:grpSp>
        <p:nvGrpSpPr>
          <p:cNvPr id="4" name="Group 4"/>
          <p:cNvGrpSpPr/>
          <p:nvPr/>
        </p:nvGrpSpPr>
        <p:grpSpPr>
          <a:xfrm>
            <a:off x="13772214" y="-12700"/>
            <a:ext cx="4511024" cy="10299701"/>
            <a:chOff x="0" y="0"/>
            <a:chExt cx="6014698" cy="13732935"/>
          </a:xfrm>
        </p:grpSpPr>
        <p:sp>
          <p:nvSpPr>
            <p:cNvPr id="5" name="Freeform 5"/>
            <p:cNvSpPr/>
            <p:nvPr/>
          </p:nvSpPr>
          <p:spPr>
            <a:xfrm>
              <a:off x="0" y="0"/>
              <a:ext cx="6014720" cy="13732890"/>
            </a:xfrm>
            <a:custGeom>
              <a:avLst/>
              <a:gdLst/>
              <a:ahLst/>
              <a:cxnLst/>
              <a:rect l="l" t="t" r="r" b="b"/>
              <a:pathLst>
                <a:path w="6014720" h="13732890">
                  <a:moveTo>
                    <a:pt x="4091051" y="0"/>
                  </a:moveTo>
                  <a:lnTo>
                    <a:pt x="6014720" y="0"/>
                  </a:lnTo>
                  <a:lnTo>
                    <a:pt x="6014720" y="13732890"/>
                  </a:lnTo>
                  <a:lnTo>
                    <a:pt x="0" y="13732890"/>
                  </a:lnTo>
                  <a:lnTo>
                    <a:pt x="4091051" y="0"/>
                  </a:lnTo>
                  <a:close/>
                </a:path>
              </a:pathLst>
            </a:custGeom>
            <a:solidFill>
              <a:srgbClr val="F7F7F7">
                <a:alpha val="12941"/>
              </a:srgbClr>
            </a:solidFill>
          </p:spPr>
        </p:sp>
      </p:grpSp>
      <p:grpSp>
        <p:nvGrpSpPr>
          <p:cNvPr id="6" name="Group 6"/>
          <p:cNvGrpSpPr/>
          <p:nvPr/>
        </p:nvGrpSpPr>
        <p:grpSpPr>
          <a:xfrm>
            <a:off x="14405163" y="-12700"/>
            <a:ext cx="3882837" cy="10299701"/>
            <a:chOff x="0" y="0"/>
            <a:chExt cx="5177116" cy="13732935"/>
          </a:xfrm>
        </p:grpSpPr>
        <p:sp>
          <p:nvSpPr>
            <p:cNvPr id="7" name="Freeform 7"/>
            <p:cNvSpPr/>
            <p:nvPr/>
          </p:nvSpPr>
          <p:spPr>
            <a:xfrm>
              <a:off x="0" y="0"/>
              <a:ext cx="5177155" cy="13732890"/>
            </a:xfrm>
            <a:custGeom>
              <a:avLst/>
              <a:gdLst/>
              <a:ahLst/>
              <a:cxnLst/>
              <a:rect l="l" t="t" r="r" b="b"/>
              <a:pathLst>
                <a:path w="5177155" h="13732890">
                  <a:moveTo>
                    <a:pt x="0" y="0"/>
                  </a:moveTo>
                  <a:lnTo>
                    <a:pt x="5177155" y="0"/>
                  </a:lnTo>
                  <a:lnTo>
                    <a:pt x="5177155" y="13732890"/>
                  </a:lnTo>
                  <a:lnTo>
                    <a:pt x="2418969" y="13732890"/>
                  </a:lnTo>
                  <a:lnTo>
                    <a:pt x="0" y="0"/>
                  </a:lnTo>
                  <a:close/>
                </a:path>
              </a:pathLst>
            </a:custGeom>
            <a:solidFill>
              <a:srgbClr val="F7F7F7">
                <a:alpha val="3922"/>
              </a:srgbClr>
            </a:solidFill>
          </p:spPr>
        </p:sp>
      </p:grpSp>
      <p:grpSp>
        <p:nvGrpSpPr>
          <p:cNvPr id="8" name="Group 8"/>
          <p:cNvGrpSpPr/>
          <p:nvPr/>
        </p:nvGrpSpPr>
        <p:grpSpPr>
          <a:xfrm>
            <a:off x="13398499" y="4572001"/>
            <a:ext cx="4889501" cy="5715000"/>
            <a:chOff x="0" y="0"/>
            <a:chExt cx="6519334" cy="7620000"/>
          </a:xfrm>
        </p:grpSpPr>
        <p:sp>
          <p:nvSpPr>
            <p:cNvPr id="9" name="Freeform 9"/>
            <p:cNvSpPr/>
            <p:nvPr/>
          </p:nvSpPr>
          <p:spPr>
            <a:xfrm>
              <a:off x="0" y="0"/>
              <a:ext cx="6519291" cy="7620000"/>
            </a:xfrm>
            <a:custGeom>
              <a:avLst/>
              <a:gdLst/>
              <a:ahLst/>
              <a:cxnLst/>
              <a:rect l="l" t="t" r="r" b="b"/>
              <a:pathLst>
                <a:path w="6519291" h="7620000">
                  <a:moveTo>
                    <a:pt x="0" y="7620000"/>
                  </a:moveTo>
                  <a:lnTo>
                    <a:pt x="6519291" y="0"/>
                  </a:lnTo>
                  <a:lnTo>
                    <a:pt x="6519291" y="7620000"/>
                  </a:lnTo>
                  <a:close/>
                </a:path>
              </a:pathLst>
            </a:custGeom>
            <a:solidFill>
              <a:srgbClr val="365B6D">
                <a:alpha val="43529"/>
              </a:srgbClr>
            </a:solidFill>
          </p:spPr>
        </p:sp>
      </p:grpSp>
      <p:grpSp>
        <p:nvGrpSpPr>
          <p:cNvPr id="10" name="Group 10"/>
          <p:cNvGrpSpPr/>
          <p:nvPr/>
        </p:nvGrpSpPr>
        <p:grpSpPr>
          <a:xfrm>
            <a:off x="14001750" y="-12700"/>
            <a:ext cx="4281489" cy="10299701"/>
            <a:chOff x="0" y="0"/>
            <a:chExt cx="5708652" cy="13732935"/>
          </a:xfrm>
        </p:grpSpPr>
        <p:sp>
          <p:nvSpPr>
            <p:cNvPr id="11" name="Freeform 11"/>
            <p:cNvSpPr/>
            <p:nvPr/>
          </p:nvSpPr>
          <p:spPr>
            <a:xfrm>
              <a:off x="0" y="0"/>
              <a:ext cx="5708650" cy="13732890"/>
            </a:xfrm>
            <a:custGeom>
              <a:avLst/>
              <a:gdLst/>
              <a:ahLst/>
              <a:cxnLst/>
              <a:rect l="l" t="t" r="r" b="b"/>
              <a:pathLst>
                <a:path w="5708650" h="13732890">
                  <a:moveTo>
                    <a:pt x="0" y="0"/>
                  </a:moveTo>
                  <a:lnTo>
                    <a:pt x="5708650" y="0"/>
                  </a:lnTo>
                  <a:lnTo>
                    <a:pt x="5708650" y="13732890"/>
                  </a:lnTo>
                  <a:lnTo>
                    <a:pt x="4941443" y="13732890"/>
                  </a:lnTo>
                  <a:lnTo>
                    <a:pt x="0" y="0"/>
                  </a:lnTo>
                  <a:close/>
                </a:path>
              </a:pathLst>
            </a:custGeom>
            <a:solidFill>
              <a:srgbClr val="365B6D">
                <a:alpha val="24706"/>
              </a:srgbClr>
            </a:solidFill>
          </p:spPr>
        </p:sp>
      </p:grpSp>
      <p:grpSp>
        <p:nvGrpSpPr>
          <p:cNvPr id="12" name="Group 12"/>
          <p:cNvGrpSpPr/>
          <p:nvPr/>
        </p:nvGrpSpPr>
        <p:grpSpPr>
          <a:xfrm>
            <a:off x="16348095" y="-12700"/>
            <a:ext cx="1935141" cy="10299701"/>
            <a:chOff x="0" y="0"/>
            <a:chExt cx="2580188" cy="13732935"/>
          </a:xfrm>
        </p:grpSpPr>
        <p:sp>
          <p:nvSpPr>
            <p:cNvPr id="13" name="Freeform 13"/>
            <p:cNvSpPr/>
            <p:nvPr/>
          </p:nvSpPr>
          <p:spPr>
            <a:xfrm>
              <a:off x="0" y="0"/>
              <a:ext cx="2580259" cy="13732890"/>
            </a:xfrm>
            <a:custGeom>
              <a:avLst/>
              <a:gdLst/>
              <a:ahLst/>
              <a:cxnLst/>
              <a:rect l="l" t="t" r="r" b="b"/>
              <a:pathLst>
                <a:path w="2580259" h="13732890">
                  <a:moveTo>
                    <a:pt x="2039493" y="0"/>
                  </a:moveTo>
                  <a:lnTo>
                    <a:pt x="2580259" y="0"/>
                  </a:lnTo>
                  <a:lnTo>
                    <a:pt x="2580259" y="13732890"/>
                  </a:lnTo>
                  <a:lnTo>
                    <a:pt x="0" y="13732890"/>
                  </a:lnTo>
                  <a:lnTo>
                    <a:pt x="2039493" y="0"/>
                  </a:lnTo>
                  <a:close/>
                </a:path>
              </a:pathLst>
            </a:custGeom>
            <a:solidFill>
              <a:srgbClr val="289DD2">
                <a:alpha val="48627"/>
              </a:srgbClr>
            </a:solidFill>
          </p:spPr>
        </p:sp>
      </p:grpSp>
      <p:grpSp>
        <p:nvGrpSpPr>
          <p:cNvPr id="14" name="Group 14"/>
          <p:cNvGrpSpPr/>
          <p:nvPr/>
        </p:nvGrpSpPr>
        <p:grpSpPr>
          <a:xfrm>
            <a:off x="16408499" y="-12700"/>
            <a:ext cx="1874737" cy="10299701"/>
            <a:chOff x="0" y="0"/>
            <a:chExt cx="2499650" cy="13732935"/>
          </a:xfrm>
        </p:grpSpPr>
        <p:sp>
          <p:nvSpPr>
            <p:cNvPr id="15" name="Freeform 15"/>
            <p:cNvSpPr/>
            <p:nvPr/>
          </p:nvSpPr>
          <p:spPr>
            <a:xfrm>
              <a:off x="0" y="0"/>
              <a:ext cx="2499614" cy="13732890"/>
            </a:xfrm>
            <a:custGeom>
              <a:avLst/>
              <a:gdLst/>
              <a:ahLst/>
              <a:cxnLst/>
              <a:rect l="l" t="t" r="r" b="b"/>
              <a:pathLst>
                <a:path w="2499614" h="13732890">
                  <a:moveTo>
                    <a:pt x="0" y="0"/>
                  </a:moveTo>
                  <a:lnTo>
                    <a:pt x="2499614" y="0"/>
                  </a:lnTo>
                  <a:lnTo>
                    <a:pt x="2499614" y="13732890"/>
                  </a:lnTo>
                  <a:lnTo>
                    <a:pt x="2218817" y="13732890"/>
                  </a:lnTo>
                  <a:lnTo>
                    <a:pt x="0" y="0"/>
                  </a:lnTo>
                  <a:close/>
                </a:path>
              </a:pathLst>
            </a:custGeom>
            <a:solidFill>
              <a:srgbClr val="F7F7F7">
                <a:alpha val="63922"/>
              </a:srgbClr>
            </a:solidFill>
          </p:spPr>
        </p:sp>
      </p:grpSp>
      <p:grpSp>
        <p:nvGrpSpPr>
          <p:cNvPr id="16" name="Group 16"/>
          <p:cNvGrpSpPr/>
          <p:nvPr/>
        </p:nvGrpSpPr>
        <p:grpSpPr>
          <a:xfrm>
            <a:off x="15557499" y="5384801"/>
            <a:ext cx="2725738" cy="4902200"/>
            <a:chOff x="0" y="0"/>
            <a:chExt cx="3634318" cy="6536266"/>
          </a:xfrm>
        </p:grpSpPr>
        <p:sp>
          <p:nvSpPr>
            <p:cNvPr id="17" name="Freeform 17"/>
            <p:cNvSpPr/>
            <p:nvPr/>
          </p:nvSpPr>
          <p:spPr>
            <a:xfrm>
              <a:off x="0" y="0"/>
              <a:ext cx="3634359" cy="6536309"/>
            </a:xfrm>
            <a:custGeom>
              <a:avLst/>
              <a:gdLst/>
              <a:ahLst/>
              <a:cxnLst/>
              <a:rect l="l" t="t" r="r" b="b"/>
              <a:pathLst>
                <a:path w="3634359" h="6536309">
                  <a:moveTo>
                    <a:pt x="0" y="6536309"/>
                  </a:moveTo>
                  <a:lnTo>
                    <a:pt x="3634359" y="0"/>
                  </a:lnTo>
                  <a:lnTo>
                    <a:pt x="3634359" y="6536309"/>
                  </a:lnTo>
                  <a:close/>
                </a:path>
              </a:pathLst>
            </a:custGeom>
            <a:solidFill>
              <a:srgbClr val="365B6D">
                <a:alpha val="43529"/>
              </a:srgbClr>
            </a:solidFill>
          </p:spPr>
        </p:sp>
      </p:grpSp>
      <p:grpSp>
        <p:nvGrpSpPr>
          <p:cNvPr id="18" name="Group 18"/>
          <p:cNvGrpSpPr/>
          <p:nvPr/>
        </p:nvGrpSpPr>
        <p:grpSpPr>
          <a:xfrm>
            <a:off x="0" y="6019801"/>
            <a:ext cx="673100" cy="4267200"/>
            <a:chOff x="0" y="0"/>
            <a:chExt cx="897466" cy="5689600"/>
          </a:xfrm>
        </p:grpSpPr>
        <p:sp>
          <p:nvSpPr>
            <p:cNvPr id="19" name="Freeform 19"/>
            <p:cNvSpPr/>
            <p:nvPr/>
          </p:nvSpPr>
          <p:spPr>
            <a:xfrm>
              <a:off x="0" y="0"/>
              <a:ext cx="897509" cy="5689600"/>
            </a:xfrm>
            <a:custGeom>
              <a:avLst/>
              <a:gdLst/>
              <a:ahLst/>
              <a:cxnLst/>
              <a:rect l="l" t="t" r="r" b="b"/>
              <a:pathLst>
                <a:path w="897509" h="5689600">
                  <a:moveTo>
                    <a:pt x="0" y="5689600"/>
                  </a:moveTo>
                  <a:lnTo>
                    <a:pt x="0" y="0"/>
                  </a:lnTo>
                  <a:lnTo>
                    <a:pt x="897509" y="5689600"/>
                  </a:lnTo>
                  <a:close/>
                </a:path>
              </a:pathLst>
            </a:custGeom>
            <a:solidFill>
              <a:srgbClr val="F7F7F7">
                <a:alpha val="48627"/>
              </a:srgbClr>
            </a:solidFill>
          </p:spPr>
        </p:sp>
      </p:grpSp>
      <p:grpSp>
        <p:nvGrpSpPr>
          <p:cNvPr id="20" name="Group 20"/>
          <p:cNvGrpSpPr/>
          <p:nvPr/>
        </p:nvGrpSpPr>
        <p:grpSpPr>
          <a:xfrm>
            <a:off x="833954" y="200039"/>
            <a:ext cx="5761174" cy="1088838"/>
            <a:chOff x="0" y="0"/>
            <a:chExt cx="7681565" cy="1451784"/>
          </a:xfrm>
        </p:grpSpPr>
        <p:sp>
          <p:nvSpPr>
            <p:cNvPr id="21" name="Freeform 21"/>
            <p:cNvSpPr/>
            <p:nvPr/>
          </p:nvSpPr>
          <p:spPr>
            <a:xfrm>
              <a:off x="0" y="0"/>
              <a:ext cx="7681595" cy="1451737"/>
            </a:xfrm>
            <a:custGeom>
              <a:avLst/>
              <a:gdLst/>
              <a:ahLst/>
              <a:cxnLst/>
              <a:rect l="l" t="t" r="r" b="b"/>
              <a:pathLst>
                <a:path w="7681595" h="1451737">
                  <a:moveTo>
                    <a:pt x="0" y="0"/>
                  </a:moveTo>
                  <a:lnTo>
                    <a:pt x="7681595" y="0"/>
                  </a:lnTo>
                  <a:lnTo>
                    <a:pt x="7681595" y="1451737"/>
                  </a:lnTo>
                  <a:lnTo>
                    <a:pt x="0" y="1451737"/>
                  </a:lnTo>
                  <a:lnTo>
                    <a:pt x="0" y="0"/>
                  </a:lnTo>
                  <a:close/>
                </a:path>
              </a:pathLst>
            </a:custGeom>
            <a:blipFill>
              <a:blip r:embed="rId2"/>
              <a:stretch>
                <a:fillRect t="-2789" b="-2793"/>
              </a:stretch>
            </a:blipFill>
          </p:spPr>
        </p:sp>
      </p:grpSp>
      <p:sp>
        <p:nvSpPr>
          <p:cNvPr id="22" name="TextBox 22"/>
          <p:cNvSpPr txBox="1"/>
          <p:nvPr/>
        </p:nvSpPr>
        <p:spPr>
          <a:xfrm>
            <a:off x="6881275" y="927876"/>
            <a:ext cx="3657451" cy="721931"/>
          </a:xfrm>
          <a:prstGeom prst="rect">
            <a:avLst/>
          </a:prstGeom>
        </p:spPr>
        <p:txBody>
          <a:bodyPr lIns="0" tIns="0" rIns="0" bIns="0" rtlCol="0" anchor="t">
            <a:spAutoFit/>
          </a:bodyPr>
          <a:lstStyle/>
          <a:p>
            <a:pPr algn="ctr">
              <a:lnSpc>
                <a:spcPts val="5879"/>
              </a:lnSpc>
              <a:spcBef>
                <a:spcPct val="0"/>
              </a:spcBef>
            </a:pPr>
            <a:r>
              <a:rPr lang="en-US" sz="4198" b="1" u="sng" dirty="0">
                <a:solidFill>
                  <a:srgbClr val="F7F7F7"/>
                </a:solidFill>
                <a:latin typeface="Public Sans Bold"/>
                <a:ea typeface="Public Sans Bold"/>
                <a:cs typeface="Public Sans Bold"/>
                <a:sym typeface="Public Sans Bold"/>
              </a:rPr>
              <a:t> TECHNIQUES</a:t>
            </a:r>
          </a:p>
        </p:txBody>
      </p:sp>
      <p:sp>
        <p:nvSpPr>
          <p:cNvPr id="23" name="TextBox 23"/>
          <p:cNvSpPr txBox="1"/>
          <p:nvPr/>
        </p:nvSpPr>
        <p:spPr>
          <a:xfrm>
            <a:off x="0" y="3827798"/>
            <a:ext cx="16921162" cy="6278090"/>
          </a:xfrm>
          <a:prstGeom prst="rect">
            <a:avLst/>
          </a:prstGeom>
        </p:spPr>
        <p:txBody>
          <a:bodyPr lIns="0" tIns="0" rIns="0" bIns="0" rtlCol="0" anchor="t">
            <a:spAutoFit/>
          </a:bodyPr>
          <a:lstStyle/>
          <a:p>
            <a:pPr algn="ctr">
              <a:lnSpc>
                <a:spcPts val="4136"/>
              </a:lnSpc>
              <a:spcBef>
                <a:spcPct val="0"/>
              </a:spcBef>
            </a:pPr>
            <a:r>
              <a:rPr lang="en-US" sz="2954">
                <a:solidFill>
                  <a:srgbClr val="F7F7F7"/>
                </a:solidFill>
                <a:latin typeface="Public Sans"/>
                <a:ea typeface="Public Sans"/>
                <a:cs typeface="Public Sans"/>
                <a:sym typeface="Public Sans"/>
              </a:rPr>
              <a:t>• Data preparation </a:t>
            </a:r>
          </a:p>
          <a:p>
            <a:pPr algn="ctr">
              <a:lnSpc>
                <a:spcPts val="4136"/>
              </a:lnSpc>
              <a:spcBef>
                <a:spcPct val="0"/>
              </a:spcBef>
            </a:pPr>
            <a:r>
              <a:rPr lang="en-US" sz="2954">
                <a:solidFill>
                  <a:srgbClr val="F7F7F7"/>
                </a:solidFill>
                <a:latin typeface="Public Sans"/>
                <a:ea typeface="Public Sans"/>
                <a:cs typeface="Public Sans"/>
                <a:sym typeface="Public Sans"/>
              </a:rPr>
              <a:t>• Converting non-numeral data into numerical data to b2e understood by machine (One-hot encoding).</a:t>
            </a:r>
          </a:p>
          <a:p>
            <a:pPr algn="ctr">
              <a:lnSpc>
                <a:spcPts val="4136"/>
              </a:lnSpc>
              <a:spcBef>
                <a:spcPct val="0"/>
              </a:spcBef>
            </a:pPr>
            <a:r>
              <a:rPr lang="en-US" sz="2954">
                <a:solidFill>
                  <a:srgbClr val="F7F7F7"/>
                </a:solidFill>
                <a:latin typeface="Public Sans"/>
                <a:ea typeface="Public Sans"/>
                <a:cs typeface="Public Sans"/>
                <a:sym typeface="Public Sans"/>
              </a:rPr>
              <a:t> • Converting blank values to NaN. </a:t>
            </a:r>
          </a:p>
          <a:p>
            <a:pPr algn="ctr">
              <a:lnSpc>
                <a:spcPts val="4136"/>
              </a:lnSpc>
              <a:spcBef>
                <a:spcPct val="0"/>
              </a:spcBef>
            </a:pPr>
            <a:r>
              <a:rPr lang="en-US" sz="2954">
                <a:solidFill>
                  <a:srgbClr val="F7F7F7"/>
                </a:solidFill>
                <a:latin typeface="Public Sans"/>
                <a:ea typeface="Public Sans"/>
                <a:cs typeface="Public Sans"/>
                <a:sym typeface="Public Sans"/>
              </a:rPr>
              <a:t>• Remove instances (rows) with NaN. </a:t>
            </a:r>
          </a:p>
          <a:p>
            <a:pPr algn="ctr">
              <a:lnSpc>
                <a:spcPts val="4136"/>
              </a:lnSpc>
              <a:spcBef>
                <a:spcPct val="0"/>
              </a:spcBef>
            </a:pPr>
            <a:r>
              <a:rPr lang="en-US" sz="2954">
                <a:solidFill>
                  <a:srgbClr val="F7F7F7"/>
                </a:solidFill>
                <a:latin typeface="Public Sans"/>
                <a:ea typeface="Public Sans"/>
                <a:cs typeface="Public Sans"/>
                <a:sym typeface="Public Sans"/>
              </a:rPr>
              <a:t>• Model Training </a:t>
            </a:r>
          </a:p>
          <a:p>
            <a:pPr algn="ctr">
              <a:lnSpc>
                <a:spcPts val="4136"/>
              </a:lnSpc>
              <a:spcBef>
                <a:spcPct val="0"/>
              </a:spcBef>
            </a:pPr>
            <a:r>
              <a:rPr lang="en-US" sz="2954">
                <a:solidFill>
                  <a:srgbClr val="F7F7F7"/>
                </a:solidFill>
                <a:latin typeface="Public Sans"/>
                <a:ea typeface="Public Sans"/>
                <a:cs typeface="Public Sans"/>
                <a:sym typeface="Public Sans"/>
              </a:rPr>
              <a:t>o Supervised Machine learning approach </a:t>
            </a:r>
          </a:p>
          <a:p>
            <a:pPr algn="ctr">
              <a:lnSpc>
                <a:spcPts val="4136"/>
              </a:lnSpc>
              <a:spcBef>
                <a:spcPct val="0"/>
              </a:spcBef>
            </a:pPr>
            <a:r>
              <a:rPr lang="en-US" sz="2954">
                <a:solidFill>
                  <a:srgbClr val="F7F7F7"/>
                </a:solidFill>
                <a:latin typeface="Public Sans"/>
                <a:ea typeface="Public Sans"/>
                <a:cs typeface="Public Sans"/>
                <a:sym typeface="Public Sans"/>
              </a:rPr>
              <a:t>o Use a Regression Algorithm. </a:t>
            </a:r>
          </a:p>
          <a:p>
            <a:pPr algn="ctr">
              <a:lnSpc>
                <a:spcPts val="4136"/>
              </a:lnSpc>
              <a:spcBef>
                <a:spcPct val="0"/>
              </a:spcBef>
            </a:pPr>
            <a:r>
              <a:rPr lang="en-US" sz="2954">
                <a:solidFill>
                  <a:srgbClr val="F7F7F7"/>
                </a:solidFill>
                <a:latin typeface="Public Sans"/>
                <a:ea typeface="Public Sans"/>
                <a:cs typeface="Public Sans"/>
                <a:sym typeface="Public Sans"/>
              </a:rPr>
              <a:t>o Linear Regression</a:t>
            </a:r>
          </a:p>
          <a:p>
            <a:pPr algn="ctr">
              <a:lnSpc>
                <a:spcPts val="4136"/>
              </a:lnSpc>
              <a:spcBef>
                <a:spcPct val="0"/>
              </a:spcBef>
            </a:pPr>
            <a:r>
              <a:rPr lang="en-US" sz="2954">
                <a:solidFill>
                  <a:srgbClr val="F7F7F7"/>
                </a:solidFill>
                <a:latin typeface="Public Sans"/>
                <a:ea typeface="Public Sans"/>
                <a:cs typeface="Public Sans"/>
                <a:sym typeface="Public Sans"/>
              </a:rPr>
              <a:t> o It combines multiple decision trees to give accurate, robust predictions and identify which factors most influence outcomes.</a:t>
            </a:r>
          </a:p>
          <a:p>
            <a:pPr algn="ctr">
              <a:lnSpc>
                <a:spcPts val="4137"/>
              </a:lnSpc>
              <a:spcBef>
                <a:spcPct val="0"/>
              </a:spcBef>
            </a:pPr>
            <a:r>
              <a:rPr lang="en-US" sz="2954">
                <a:solidFill>
                  <a:srgbClr val="F7F7F7"/>
                </a:solidFill>
                <a:latin typeface="Public Sans"/>
                <a:ea typeface="Public Sans"/>
                <a:cs typeface="Public Sans"/>
                <a:sym typeface="Public Sans"/>
              </a:rPr>
              <a:t> • Train test split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6FA"/>
        </a:solidFill>
        <a:effectLst/>
      </p:bgPr>
    </p:bg>
    <p:spTree>
      <p:nvGrpSpPr>
        <p:cNvPr id="1" name=""/>
        <p:cNvGrpSpPr/>
        <p:nvPr/>
      </p:nvGrpSpPr>
      <p:grpSpPr>
        <a:xfrm>
          <a:off x="0" y="0"/>
          <a:ext cx="0" cy="0"/>
          <a:chOff x="0" y="0"/>
          <a:chExt cx="0" cy="0"/>
        </a:xfrm>
      </p:grpSpPr>
      <p:grpSp>
        <p:nvGrpSpPr>
          <p:cNvPr id="4" name="Group 4"/>
          <p:cNvGrpSpPr/>
          <p:nvPr/>
        </p:nvGrpSpPr>
        <p:grpSpPr>
          <a:xfrm>
            <a:off x="13772214" y="-12700"/>
            <a:ext cx="4511024" cy="10299701"/>
            <a:chOff x="0" y="0"/>
            <a:chExt cx="6014698" cy="13732935"/>
          </a:xfrm>
        </p:grpSpPr>
        <p:sp>
          <p:nvSpPr>
            <p:cNvPr id="5" name="Freeform 5"/>
            <p:cNvSpPr/>
            <p:nvPr/>
          </p:nvSpPr>
          <p:spPr>
            <a:xfrm>
              <a:off x="0" y="0"/>
              <a:ext cx="6014720" cy="13732890"/>
            </a:xfrm>
            <a:custGeom>
              <a:avLst/>
              <a:gdLst/>
              <a:ahLst/>
              <a:cxnLst/>
              <a:rect l="l" t="t" r="r" b="b"/>
              <a:pathLst>
                <a:path w="6014720" h="13732890">
                  <a:moveTo>
                    <a:pt x="4091051" y="0"/>
                  </a:moveTo>
                  <a:lnTo>
                    <a:pt x="6014720" y="0"/>
                  </a:lnTo>
                  <a:lnTo>
                    <a:pt x="6014720" y="13732890"/>
                  </a:lnTo>
                  <a:lnTo>
                    <a:pt x="0" y="13732890"/>
                  </a:lnTo>
                  <a:lnTo>
                    <a:pt x="4091051" y="0"/>
                  </a:lnTo>
                  <a:close/>
                </a:path>
              </a:pathLst>
            </a:custGeom>
            <a:solidFill>
              <a:srgbClr val="0B1320">
                <a:alpha val="12941"/>
              </a:srgbClr>
            </a:solidFill>
          </p:spPr>
        </p:sp>
      </p:grpSp>
      <p:grpSp>
        <p:nvGrpSpPr>
          <p:cNvPr id="6" name="Group 6"/>
          <p:cNvGrpSpPr/>
          <p:nvPr/>
        </p:nvGrpSpPr>
        <p:grpSpPr>
          <a:xfrm>
            <a:off x="14405163" y="-12700"/>
            <a:ext cx="3882837" cy="10299701"/>
            <a:chOff x="0" y="0"/>
            <a:chExt cx="5177116" cy="13732935"/>
          </a:xfrm>
        </p:grpSpPr>
        <p:sp>
          <p:nvSpPr>
            <p:cNvPr id="7" name="Freeform 7"/>
            <p:cNvSpPr/>
            <p:nvPr/>
          </p:nvSpPr>
          <p:spPr>
            <a:xfrm>
              <a:off x="0" y="0"/>
              <a:ext cx="5177155" cy="13732890"/>
            </a:xfrm>
            <a:custGeom>
              <a:avLst/>
              <a:gdLst/>
              <a:ahLst/>
              <a:cxnLst/>
              <a:rect l="l" t="t" r="r" b="b"/>
              <a:pathLst>
                <a:path w="5177155" h="13732890">
                  <a:moveTo>
                    <a:pt x="0" y="0"/>
                  </a:moveTo>
                  <a:lnTo>
                    <a:pt x="5177155" y="0"/>
                  </a:lnTo>
                  <a:lnTo>
                    <a:pt x="5177155" y="13732890"/>
                  </a:lnTo>
                  <a:lnTo>
                    <a:pt x="2418969" y="13732890"/>
                  </a:lnTo>
                  <a:lnTo>
                    <a:pt x="0" y="0"/>
                  </a:lnTo>
                  <a:close/>
                </a:path>
              </a:pathLst>
            </a:custGeom>
            <a:solidFill>
              <a:srgbClr val="0B1320">
                <a:alpha val="3922"/>
              </a:srgbClr>
            </a:solidFill>
          </p:spPr>
        </p:sp>
      </p:grpSp>
      <p:grpSp>
        <p:nvGrpSpPr>
          <p:cNvPr id="8" name="Group 8"/>
          <p:cNvGrpSpPr/>
          <p:nvPr/>
        </p:nvGrpSpPr>
        <p:grpSpPr>
          <a:xfrm>
            <a:off x="13398499" y="4572001"/>
            <a:ext cx="4889501" cy="5715000"/>
            <a:chOff x="0" y="0"/>
            <a:chExt cx="6519334" cy="7620000"/>
          </a:xfrm>
        </p:grpSpPr>
        <p:sp>
          <p:nvSpPr>
            <p:cNvPr id="9" name="Freeform 9"/>
            <p:cNvSpPr/>
            <p:nvPr/>
          </p:nvSpPr>
          <p:spPr>
            <a:xfrm>
              <a:off x="0" y="0"/>
              <a:ext cx="6519291" cy="7620000"/>
            </a:xfrm>
            <a:custGeom>
              <a:avLst/>
              <a:gdLst/>
              <a:ahLst/>
              <a:cxnLst/>
              <a:rect l="l" t="t" r="r" b="b"/>
              <a:pathLst>
                <a:path w="6519291" h="7620000">
                  <a:moveTo>
                    <a:pt x="0" y="7620000"/>
                  </a:moveTo>
                  <a:lnTo>
                    <a:pt x="6519291" y="0"/>
                  </a:lnTo>
                  <a:lnTo>
                    <a:pt x="6519291" y="7620000"/>
                  </a:lnTo>
                  <a:close/>
                </a:path>
              </a:pathLst>
            </a:custGeom>
          </p:spPr>
          <p:style>
            <a:lnRef idx="2">
              <a:schemeClr val="accent1">
                <a:shade val="50000"/>
              </a:schemeClr>
            </a:lnRef>
            <a:fillRef idx="1">
              <a:schemeClr val="accent1"/>
            </a:fillRef>
            <a:effectRef idx="0">
              <a:schemeClr val="accent1"/>
            </a:effectRef>
            <a:fontRef idx="minor">
              <a:schemeClr val="lt1"/>
            </a:fontRef>
          </p:style>
        </p:sp>
      </p:grpSp>
      <p:grpSp>
        <p:nvGrpSpPr>
          <p:cNvPr id="10" name="Group 10"/>
          <p:cNvGrpSpPr/>
          <p:nvPr/>
        </p:nvGrpSpPr>
        <p:grpSpPr>
          <a:xfrm>
            <a:off x="14001750" y="-12700"/>
            <a:ext cx="4281489" cy="10299701"/>
            <a:chOff x="0" y="0"/>
            <a:chExt cx="5708652" cy="13732935"/>
          </a:xfrm>
        </p:grpSpPr>
        <p:sp>
          <p:nvSpPr>
            <p:cNvPr id="11" name="Freeform 11"/>
            <p:cNvSpPr/>
            <p:nvPr/>
          </p:nvSpPr>
          <p:spPr>
            <a:xfrm>
              <a:off x="0" y="0"/>
              <a:ext cx="5708650" cy="13732890"/>
            </a:xfrm>
            <a:custGeom>
              <a:avLst/>
              <a:gdLst/>
              <a:ahLst/>
              <a:cxnLst/>
              <a:rect l="l" t="t" r="r" b="b"/>
              <a:pathLst>
                <a:path w="5708650" h="13732890">
                  <a:moveTo>
                    <a:pt x="0" y="0"/>
                  </a:moveTo>
                  <a:lnTo>
                    <a:pt x="5708650" y="0"/>
                  </a:lnTo>
                  <a:lnTo>
                    <a:pt x="5708650" y="13732890"/>
                  </a:lnTo>
                  <a:lnTo>
                    <a:pt x="4941443" y="13732890"/>
                  </a:lnTo>
                  <a:lnTo>
                    <a:pt x="0" y="0"/>
                  </a:lnTo>
                  <a:close/>
                </a:path>
              </a:pathLst>
            </a:custGeom>
            <a:solidFill>
              <a:srgbClr val="AFC1D0">
                <a:alpha val="24706"/>
              </a:srgbClr>
            </a:solidFill>
          </p:spPr>
        </p:sp>
      </p:grpSp>
      <p:grpSp>
        <p:nvGrpSpPr>
          <p:cNvPr id="12" name="Group 12"/>
          <p:cNvGrpSpPr/>
          <p:nvPr/>
        </p:nvGrpSpPr>
        <p:grpSpPr>
          <a:xfrm>
            <a:off x="16348095" y="-12700"/>
            <a:ext cx="1935141" cy="10299701"/>
            <a:chOff x="0" y="0"/>
            <a:chExt cx="2580188" cy="13732935"/>
          </a:xfrm>
        </p:grpSpPr>
        <p:sp>
          <p:nvSpPr>
            <p:cNvPr id="13" name="Freeform 13"/>
            <p:cNvSpPr/>
            <p:nvPr/>
          </p:nvSpPr>
          <p:spPr>
            <a:xfrm>
              <a:off x="0" y="0"/>
              <a:ext cx="2580259" cy="13732890"/>
            </a:xfrm>
            <a:custGeom>
              <a:avLst/>
              <a:gdLst/>
              <a:ahLst/>
              <a:cxnLst/>
              <a:rect l="l" t="t" r="r" b="b"/>
              <a:pathLst>
                <a:path w="2580259" h="13732890">
                  <a:moveTo>
                    <a:pt x="2039493" y="0"/>
                  </a:moveTo>
                  <a:lnTo>
                    <a:pt x="2580259" y="0"/>
                  </a:lnTo>
                  <a:lnTo>
                    <a:pt x="2580259" y="13732890"/>
                  </a:lnTo>
                  <a:lnTo>
                    <a:pt x="0" y="13732890"/>
                  </a:lnTo>
                  <a:lnTo>
                    <a:pt x="2039493" y="0"/>
                  </a:lnTo>
                  <a:close/>
                </a:path>
              </a:pathLst>
            </a:custGeom>
            <a:solidFill>
              <a:srgbClr val="F3F6FA">
                <a:alpha val="48627"/>
              </a:srgbClr>
            </a:solidFill>
          </p:spPr>
        </p:sp>
      </p:grpSp>
      <p:grpSp>
        <p:nvGrpSpPr>
          <p:cNvPr id="14" name="Group 14"/>
          <p:cNvGrpSpPr/>
          <p:nvPr/>
        </p:nvGrpSpPr>
        <p:grpSpPr>
          <a:xfrm>
            <a:off x="16408499" y="-12700"/>
            <a:ext cx="1874737" cy="10299701"/>
            <a:chOff x="0" y="0"/>
            <a:chExt cx="2499650" cy="13732935"/>
          </a:xfrm>
        </p:grpSpPr>
        <p:sp>
          <p:nvSpPr>
            <p:cNvPr id="15" name="Freeform 15"/>
            <p:cNvSpPr/>
            <p:nvPr/>
          </p:nvSpPr>
          <p:spPr>
            <a:xfrm>
              <a:off x="0" y="0"/>
              <a:ext cx="2499614" cy="13732890"/>
            </a:xfrm>
            <a:custGeom>
              <a:avLst/>
              <a:gdLst/>
              <a:ahLst/>
              <a:cxnLst/>
              <a:rect l="l" t="t" r="r" b="b"/>
              <a:pathLst>
                <a:path w="2499614" h="13732890">
                  <a:moveTo>
                    <a:pt x="0" y="0"/>
                  </a:moveTo>
                  <a:lnTo>
                    <a:pt x="2499614" y="0"/>
                  </a:lnTo>
                  <a:lnTo>
                    <a:pt x="2499614" y="13732890"/>
                  </a:lnTo>
                  <a:lnTo>
                    <a:pt x="2218817" y="13732890"/>
                  </a:lnTo>
                  <a:lnTo>
                    <a:pt x="0" y="0"/>
                  </a:lnTo>
                  <a:close/>
                </a:path>
              </a:pathLst>
            </a:custGeom>
          </p:spPr>
          <p:style>
            <a:lnRef idx="2">
              <a:schemeClr val="accent1">
                <a:shade val="50000"/>
              </a:schemeClr>
            </a:lnRef>
            <a:fillRef idx="1">
              <a:schemeClr val="accent1"/>
            </a:fillRef>
            <a:effectRef idx="0">
              <a:schemeClr val="accent1"/>
            </a:effectRef>
            <a:fontRef idx="minor">
              <a:schemeClr val="lt1"/>
            </a:fontRef>
          </p:style>
        </p:sp>
      </p:grpSp>
      <p:grpSp>
        <p:nvGrpSpPr>
          <p:cNvPr id="16" name="Group 16"/>
          <p:cNvGrpSpPr/>
          <p:nvPr/>
        </p:nvGrpSpPr>
        <p:grpSpPr>
          <a:xfrm>
            <a:off x="15557499" y="5384801"/>
            <a:ext cx="2725738" cy="4902200"/>
            <a:chOff x="0" y="0"/>
            <a:chExt cx="3634318" cy="6536266"/>
          </a:xfrm>
        </p:grpSpPr>
        <p:sp>
          <p:nvSpPr>
            <p:cNvPr id="17" name="Freeform 17"/>
            <p:cNvSpPr/>
            <p:nvPr/>
          </p:nvSpPr>
          <p:spPr>
            <a:xfrm>
              <a:off x="0" y="0"/>
              <a:ext cx="3634359" cy="6536309"/>
            </a:xfrm>
            <a:custGeom>
              <a:avLst/>
              <a:gdLst/>
              <a:ahLst/>
              <a:cxnLst/>
              <a:rect l="l" t="t" r="r" b="b"/>
              <a:pathLst>
                <a:path w="3634359" h="6536309">
                  <a:moveTo>
                    <a:pt x="0" y="6536309"/>
                  </a:moveTo>
                  <a:lnTo>
                    <a:pt x="3634359" y="0"/>
                  </a:lnTo>
                  <a:lnTo>
                    <a:pt x="3634359" y="6536309"/>
                  </a:lnTo>
                  <a:close/>
                </a:path>
              </a:pathLst>
            </a:custGeom>
            <a:solidFill>
              <a:srgbClr val="AFC1D0">
                <a:alpha val="43529"/>
              </a:srgbClr>
            </a:solidFill>
          </p:spPr>
        </p:sp>
      </p:grpSp>
      <p:grpSp>
        <p:nvGrpSpPr>
          <p:cNvPr id="18" name="Group 18"/>
          <p:cNvGrpSpPr/>
          <p:nvPr/>
        </p:nvGrpSpPr>
        <p:grpSpPr>
          <a:xfrm>
            <a:off x="0" y="6019801"/>
            <a:ext cx="673100" cy="4267200"/>
            <a:chOff x="0" y="0"/>
            <a:chExt cx="897466" cy="5689600"/>
          </a:xfrm>
        </p:grpSpPr>
        <p:sp>
          <p:nvSpPr>
            <p:cNvPr id="19" name="Freeform 19"/>
            <p:cNvSpPr/>
            <p:nvPr/>
          </p:nvSpPr>
          <p:spPr>
            <a:xfrm>
              <a:off x="0" y="0"/>
              <a:ext cx="897509" cy="5689600"/>
            </a:xfrm>
            <a:custGeom>
              <a:avLst/>
              <a:gdLst/>
              <a:ahLst/>
              <a:cxnLst/>
              <a:rect l="l" t="t" r="r" b="b"/>
              <a:pathLst>
                <a:path w="897509" h="5689600">
                  <a:moveTo>
                    <a:pt x="0" y="5689600"/>
                  </a:moveTo>
                  <a:lnTo>
                    <a:pt x="0" y="0"/>
                  </a:lnTo>
                  <a:lnTo>
                    <a:pt x="897509" y="5689600"/>
                  </a:lnTo>
                  <a:close/>
                </a:path>
              </a:pathLst>
            </a:custGeom>
          </p:spPr>
          <p:style>
            <a:lnRef idx="2">
              <a:schemeClr val="accent1">
                <a:shade val="50000"/>
              </a:schemeClr>
            </a:lnRef>
            <a:fillRef idx="1">
              <a:schemeClr val="accent1"/>
            </a:fillRef>
            <a:effectRef idx="0">
              <a:schemeClr val="accent1"/>
            </a:effectRef>
            <a:fontRef idx="minor">
              <a:schemeClr val="lt1"/>
            </a:fontRef>
          </p:style>
        </p:sp>
      </p:grpSp>
      <p:grpSp>
        <p:nvGrpSpPr>
          <p:cNvPr id="20" name="Group 20"/>
          <p:cNvGrpSpPr/>
          <p:nvPr/>
        </p:nvGrpSpPr>
        <p:grpSpPr>
          <a:xfrm>
            <a:off x="833954" y="200039"/>
            <a:ext cx="5761174" cy="1088838"/>
            <a:chOff x="0" y="0"/>
            <a:chExt cx="7681565" cy="1451784"/>
          </a:xfrm>
        </p:grpSpPr>
        <p:sp>
          <p:nvSpPr>
            <p:cNvPr id="21" name="Freeform 21"/>
            <p:cNvSpPr/>
            <p:nvPr/>
          </p:nvSpPr>
          <p:spPr>
            <a:xfrm>
              <a:off x="0" y="0"/>
              <a:ext cx="7681595" cy="1451737"/>
            </a:xfrm>
            <a:custGeom>
              <a:avLst/>
              <a:gdLst/>
              <a:ahLst/>
              <a:cxnLst/>
              <a:rect l="l" t="t" r="r" b="b"/>
              <a:pathLst>
                <a:path w="7681595" h="1451737">
                  <a:moveTo>
                    <a:pt x="0" y="0"/>
                  </a:moveTo>
                  <a:lnTo>
                    <a:pt x="7681595" y="0"/>
                  </a:lnTo>
                  <a:lnTo>
                    <a:pt x="7681595" y="1451737"/>
                  </a:lnTo>
                  <a:lnTo>
                    <a:pt x="0" y="1451737"/>
                  </a:lnTo>
                  <a:lnTo>
                    <a:pt x="0" y="0"/>
                  </a:lnTo>
                  <a:close/>
                </a:path>
              </a:pathLst>
            </a:custGeom>
            <a:blipFill>
              <a:blip r:embed="rId3"/>
              <a:stretch>
                <a:fillRect t="-2789" b="-2793"/>
              </a:stretch>
            </a:blipFill>
          </p:spPr>
        </p:sp>
      </p:grpSp>
      <p:sp>
        <p:nvSpPr>
          <p:cNvPr id="23" name="TextBox 23"/>
          <p:cNvSpPr txBox="1"/>
          <p:nvPr/>
        </p:nvSpPr>
        <p:spPr>
          <a:xfrm>
            <a:off x="5331157" y="1169883"/>
            <a:ext cx="7364760" cy="1564531"/>
          </a:xfrm>
          <a:prstGeom prst="rect">
            <a:avLst/>
          </a:prstGeom>
        </p:spPr>
        <p:txBody>
          <a:bodyPr lIns="0" tIns="0" rIns="0" bIns="0" rtlCol="0" anchor="t">
            <a:spAutoFit/>
          </a:bodyPr>
          <a:lstStyle/>
          <a:p>
            <a:pPr algn="ctr">
              <a:lnSpc>
                <a:spcPts val="6120"/>
              </a:lnSpc>
              <a:spcBef>
                <a:spcPct val="0"/>
              </a:spcBef>
            </a:pPr>
            <a:r>
              <a:rPr lang="en-US" sz="5100" b="1" u="sng" dirty="0">
                <a:solidFill>
                  <a:srgbClr val="135369"/>
                </a:solidFill>
                <a:latin typeface="Public Sans Bold"/>
                <a:ea typeface="Public Sans Bold"/>
                <a:cs typeface="Public Sans Bold"/>
                <a:sym typeface="Public Sans Bold"/>
              </a:rPr>
              <a:t> </a:t>
            </a:r>
            <a:r>
              <a:rPr lang="en-US" sz="5100" b="1" u="sng" dirty="0">
                <a:solidFill>
                  <a:srgbClr val="135369"/>
                </a:solidFill>
                <a:latin typeface="Palatino Linotype" panose="02040502050505030304" pitchFamily="18" charset="0"/>
                <a:ea typeface="Public Sans Bold"/>
                <a:cs typeface="Public Sans Bold"/>
                <a:sym typeface="Public Sans Bold"/>
              </a:rPr>
              <a:t>EVALUATION</a:t>
            </a:r>
            <a:r>
              <a:rPr lang="en-US" sz="5100" b="1" u="sng" dirty="0">
                <a:solidFill>
                  <a:srgbClr val="135369"/>
                </a:solidFill>
                <a:latin typeface="Public Sans Bold"/>
                <a:ea typeface="Public Sans Bold"/>
                <a:cs typeface="Public Sans Bold"/>
                <a:sym typeface="Public Sans Bold"/>
              </a:rPr>
              <a:t> </a:t>
            </a:r>
            <a:r>
              <a:rPr lang="en-US" sz="5100" b="1" u="sng" dirty="0">
                <a:solidFill>
                  <a:srgbClr val="135369"/>
                </a:solidFill>
                <a:latin typeface="Palatino Linotype" panose="02040502050505030304" pitchFamily="18" charset="0"/>
                <a:ea typeface="Public Sans Bold"/>
                <a:cs typeface="Public Sans Bold"/>
                <a:sym typeface="Public Sans Bold"/>
              </a:rPr>
              <a:t>METRICS</a:t>
            </a:r>
          </a:p>
        </p:txBody>
      </p:sp>
      <p:sp>
        <p:nvSpPr>
          <p:cNvPr id="24" name="TextBox 24"/>
          <p:cNvSpPr txBox="1"/>
          <p:nvPr/>
        </p:nvSpPr>
        <p:spPr>
          <a:xfrm>
            <a:off x="62097" y="3443676"/>
            <a:ext cx="3336727" cy="485775"/>
          </a:xfrm>
          <a:prstGeom prst="rect">
            <a:avLst/>
          </a:prstGeom>
        </p:spPr>
        <p:txBody>
          <a:bodyPr lIns="0" tIns="0" rIns="0" bIns="0" rtlCol="0" anchor="t">
            <a:spAutoFit/>
          </a:bodyPr>
          <a:lstStyle/>
          <a:p>
            <a:pPr algn="ctr">
              <a:lnSpc>
                <a:spcPts val="3720"/>
              </a:lnSpc>
              <a:spcBef>
                <a:spcPct val="0"/>
              </a:spcBef>
            </a:pPr>
            <a:r>
              <a:rPr lang="en-US" sz="3100" dirty="0">
                <a:solidFill>
                  <a:srgbClr val="0B1320"/>
                </a:solidFill>
                <a:latin typeface="Public Sans"/>
                <a:ea typeface="Public Sans"/>
                <a:cs typeface="Public Sans"/>
                <a:sym typeface="Public Sans"/>
              </a:rPr>
              <a:t>• Prediction Score </a:t>
            </a:r>
          </a:p>
        </p:txBody>
      </p:sp>
      <p:sp>
        <p:nvSpPr>
          <p:cNvPr id="25" name="TextBox 25"/>
          <p:cNvSpPr txBox="1"/>
          <p:nvPr/>
        </p:nvSpPr>
        <p:spPr>
          <a:xfrm>
            <a:off x="53800" y="4257816"/>
            <a:ext cx="3887986" cy="474489"/>
          </a:xfrm>
          <a:prstGeom prst="rect">
            <a:avLst/>
          </a:prstGeom>
        </p:spPr>
        <p:txBody>
          <a:bodyPr lIns="0" tIns="0" rIns="0" bIns="0" rtlCol="0" anchor="t">
            <a:spAutoFit/>
          </a:bodyPr>
          <a:lstStyle/>
          <a:p>
            <a:pPr algn="ctr">
              <a:lnSpc>
                <a:spcPts val="3720"/>
              </a:lnSpc>
              <a:spcBef>
                <a:spcPct val="0"/>
              </a:spcBef>
            </a:pPr>
            <a:r>
              <a:rPr lang="en-US" sz="3100" dirty="0">
                <a:solidFill>
                  <a:srgbClr val="000000"/>
                </a:solidFill>
                <a:latin typeface="Public Sans"/>
                <a:ea typeface="Public Sans"/>
                <a:cs typeface="Public Sans"/>
                <a:sym typeface="Public Sans"/>
              </a:rPr>
              <a:t>•Mean absolute error</a:t>
            </a:r>
          </a:p>
        </p:txBody>
      </p:sp>
      <p:sp>
        <p:nvSpPr>
          <p:cNvPr id="26" name="TextBox 26"/>
          <p:cNvSpPr txBox="1"/>
          <p:nvPr/>
        </p:nvSpPr>
        <p:spPr>
          <a:xfrm>
            <a:off x="37696" y="5086106"/>
            <a:ext cx="3642717" cy="485775"/>
          </a:xfrm>
          <a:prstGeom prst="rect">
            <a:avLst/>
          </a:prstGeom>
        </p:spPr>
        <p:txBody>
          <a:bodyPr lIns="0" tIns="0" rIns="0" bIns="0" rtlCol="0" anchor="t">
            <a:spAutoFit/>
          </a:bodyPr>
          <a:lstStyle/>
          <a:p>
            <a:pPr algn="ctr">
              <a:lnSpc>
                <a:spcPts val="3720"/>
              </a:lnSpc>
              <a:spcBef>
                <a:spcPct val="0"/>
              </a:spcBef>
            </a:pPr>
            <a:r>
              <a:rPr lang="en-US" sz="3100" dirty="0">
                <a:solidFill>
                  <a:srgbClr val="000000"/>
                </a:solidFill>
                <a:latin typeface="Public Sans"/>
                <a:ea typeface="Public Sans"/>
                <a:cs typeface="Public Sans"/>
                <a:sym typeface="Public Sans"/>
              </a:rPr>
              <a:t>• Mean square error </a:t>
            </a:r>
          </a:p>
        </p:txBody>
      </p:sp>
      <p:sp>
        <p:nvSpPr>
          <p:cNvPr id="27" name="TextBox 27"/>
          <p:cNvSpPr txBox="1"/>
          <p:nvPr/>
        </p:nvSpPr>
        <p:spPr>
          <a:xfrm>
            <a:off x="0" y="6012961"/>
            <a:ext cx="4230588" cy="485775"/>
          </a:xfrm>
          <a:prstGeom prst="rect">
            <a:avLst/>
          </a:prstGeom>
        </p:spPr>
        <p:txBody>
          <a:bodyPr lIns="0" tIns="0" rIns="0" bIns="0" rtlCol="0" anchor="t">
            <a:spAutoFit/>
          </a:bodyPr>
          <a:lstStyle/>
          <a:p>
            <a:pPr algn="ctr">
              <a:lnSpc>
                <a:spcPts val="3720"/>
              </a:lnSpc>
              <a:spcBef>
                <a:spcPct val="0"/>
              </a:spcBef>
            </a:pPr>
            <a:r>
              <a:rPr lang="en-US" sz="3100" dirty="0">
                <a:solidFill>
                  <a:srgbClr val="000000"/>
                </a:solidFill>
                <a:latin typeface="Public Sans"/>
                <a:ea typeface="Public Sans"/>
                <a:cs typeface="Public Sans"/>
                <a:sym typeface="Public Sans"/>
              </a:rPr>
              <a:t>•Median absolute error</a:t>
            </a:r>
          </a:p>
        </p:txBody>
      </p:sp>
      <p:sp>
        <p:nvSpPr>
          <p:cNvPr id="28" name="TextBox 28"/>
          <p:cNvSpPr txBox="1"/>
          <p:nvPr/>
        </p:nvSpPr>
        <p:spPr>
          <a:xfrm>
            <a:off x="0" y="7014194"/>
            <a:ext cx="4403080" cy="485775"/>
          </a:xfrm>
          <a:prstGeom prst="rect">
            <a:avLst/>
          </a:prstGeom>
        </p:spPr>
        <p:txBody>
          <a:bodyPr lIns="0" tIns="0" rIns="0" bIns="0" rtlCol="0" anchor="t">
            <a:spAutoFit/>
          </a:bodyPr>
          <a:lstStyle/>
          <a:p>
            <a:pPr algn="ctr">
              <a:lnSpc>
                <a:spcPts val="3720"/>
              </a:lnSpc>
              <a:spcBef>
                <a:spcPct val="0"/>
              </a:spcBef>
            </a:pPr>
            <a:r>
              <a:rPr lang="en-US" sz="3100" dirty="0">
                <a:solidFill>
                  <a:srgbClr val="000000"/>
                </a:solidFill>
                <a:latin typeface="Public Sans"/>
                <a:ea typeface="Public Sans"/>
                <a:cs typeface="Public Sans"/>
                <a:sym typeface="Public Sans"/>
              </a:rPr>
              <a:t>• Explain variance score </a:t>
            </a:r>
          </a:p>
        </p:txBody>
      </p:sp>
      <p:sp>
        <p:nvSpPr>
          <p:cNvPr id="29" name="TextBox 29"/>
          <p:cNvSpPr txBox="1"/>
          <p:nvPr/>
        </p:nvSpPr>
        <p:spPr>
          <a:xfrm>
            <a:off x="0" y="7929214"/>
            <a:ext cx="1875532" cy="474489"/>
          </a:xfrm>
          <a:prstGeom prst="rect">
            <a:avLst/>
          </a:prstGeom>
        </p:spPr>
        <p:txBody>
          <a:bodyPr lIns="0" tIns="0" rIns="0" bIns="0" rtlCol="0" anchor="t">
            <a:spAutoFit/>
          </a:bodyPr>
          <a:lstStyle/>
          <a:p>
            <a:pPr algn="ctr">
              <a:lnSpc>
                <a:spcPts val="3720"/>
              </a:lnSpc>
              <a:spcBef>
                <a:spcPct val="0"/>
              </a:spcBef>
            </a:pPr>
            <a:r>
              <a:rPr lang="en-US" sz="3100" dirty="0">
                <a:solidFill>
                  <a:srgbClr val="000000"/>
                </a:solidFill>
                <a:latin typeface="Public Sans"/>
                <a:ea typeface="Public Sans"/>
                <a:cs typeface="Public Sans"/>
                <a:sym typeface="Public Sans"/>
              </a:rPr>
              <a:t>• R2Score</a:t>
            </a:r>
          </a:p>
        </p:txBody>
      </p:sp>
      <p:sp>
        <p:nvSpPr>
          <p:cNvPr id="31" name="Arrow: Right 30">
            <a:extLst>
              <a:ext uri="{FF2B5EF4-FFF2-40B4-BE49-F238E27FC236}">
                <a16:creationId xmlns:a16="http://schemas.microsoft.com/office/drawing/2014/main" id="{C43268A4-2C61-497A-85B8-7372B92B837D}"/>
              </a:ext>
            </a:extLst>
          </p:cNvPr>
          <p:cNvSpPr/>
          <p:nvPr/>
        </p:nvSpPr>
        <p:spPr>
          <a:xfrm>
            <a:off x="4634662" y="3505098"/>
            <a:ext cx="978408" cy="484632"/>
          </a:xfrm>
          <a:prstGeom prst="rightArrow">
            <a:avLst/>
          </a:prstGeom>
          <a:ln>
            <a:solidFill>
              <a:srgbClr val="00B050"/>
            </a:solid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ZA"/>
          </a:p>
        </p:txBody>
      </p:sp>
      <p:sp>
        <p:nvSpPr>
          <p:cNvPr id="32" name="Arrow: Right 31">
            <a:extLst>
              <a:ext uri="{FF2B5EF4-FFF2-40B4-BE49-F238E27FC236}">
                <a16:creationId xmlns:a16="http://schemas.microsoft.com/office/drawing/2014/main" id="{0853607B-1C03-4100-B1DD-4B5E048ACBE2}"/>
              </a:ext>
            </a:extLst>
          </p:cNvPr>
          <p:cNvSpPr/>
          <p:nvPr/>
        </p:nvSpPr>
        <p:spPr>
          <a:xfrm>
            <a:off x="4629317" y="4354105"/>
            <a:ext cx="978408" cy="484632"/>
          </a:xfrm>
          <a:prstGeom prst="rightArrow">
            <a:avLst/>
          </a:prstGeom>
          <a:ln>
            <a:solidFill>
              <a:srgbClr val="00B050"/>
            </a:solid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ZA"/>
          </a:p>
        </p:txBody>
      </p:sp>
      <p:sp>
        <p:nvSpPr>
          <p:cNvPr id="33" name="Arrow: Right 32">
            <a:extLst>
              <a:ext uri="{FF2B5EF4-FFF2-40B4-BE49-F238E27FC236}">
                <a16:creationId xmlns:a16="http://schemas.microsoft.com/office/drawing/2014/main" id="{974DA4EE-5FF4-4A8B-88CE-888F08A8157D}"/>
              </a:ext>
            </a:extLst>
          </p:cNvPr>
          <p:cNvSpPr/>
          <p:nvPr/>
        </p:nvSpPr>
        <p:spPr>
          <a:xfrm>
            <a:off x="4629317" y="5183533"/>
            <a:ext cx="978408" cy="484632"/>
          </a:xfrm>
          <a:prstGeom prst="rightArrow">
            <a:avLst/>
          </a:prstGeom>
          <a:ln>
            <a:solidFill>
              <a:srgbClr val="00B050"/>
            </a:solid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ZA"/>
          </a:p>
        </p:txBody>
      </p:sp>
      <p:sp>
        <p:nvSpPr>
          <p:cNvPr id="34" name="Arrow: Right 33">
            <a:extLst>
              <a:ext uri="{FF2B5EF4-FFF2-40B4-BE49-F238E27FC236}">
                <a16:creationId xmlns:a16="http://schemas.microsoft.com/office/drawing/2014/main" id="{656DDBAB-CB75-44C8-8FA6-86411EF30907}"/>
              </a:ext>
            </a:extLst>
          </p:cNvPr>
          <p:cNvSpPr/>
          <p:nvPr/>
        </p:nvSpPr>
        <p:spPr>
          <a:xfrm>
            <a:off x="4629317" y="6012961"/>
            <a:ext cx="978408" cy="484632"/>
          </a:xfrm>
          <a:prstGeom prst="rightArrow">
            <a:avLst/>
          </a:prstGeom>
          <a:ln>
            <a:solidFill>
              <a:srgbClr val="00B050"/>
            </a:solid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ZA"/>
          </a:p>
        </p:txBody>
      </p:sp>
      <p:sp>
        <p:nvSpPr>
          <p:cNvPr id="35" name="Arrow: Right 34">
            <a:extLst>
              <a:ext uri="{FF2B5EF4-FFF2-40B4-BE49-F238E27FC236}">
                <a16:creationId xmlns:a16="http://schemas.microsoft.com/office/drawing/2014/main" id="{71FD9904-66B5-44FA-904D-5276431EE115}"/>
              </a:ext>
            </a:extLst>
          </p:cNvPr>
          <p:cNvSpPr/>
          <p:nvPr/>
        </p:nvSpPr>
        <p:spPr>
          <a:xfrm>
            <a:off x="4592705" y="7054993"/>
            <a:ext cx="978408" cy="484632"/>
          </a:xfrm>
          <a:prstGeom prst="rightArrow">
            <a:avLst/>
          </a:prstGeom>
          <a:ln>
            <a:solidFill>
              <a:srgbClr val="00B050"/>
            </a:solid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ZA"/>
          </a:p>
        </p:txBody>
      </p:sp>
      <p:sp>
        <p:nvSpPr>
          <p:cNvPr id="36" name="Arrow: Right 35">
            <a:extLst>
              <a:ext uri="{FF2B5EF4-FFF2-40B4-BE49-F238E27FC236}">
                <a16:creationId xmlns:a16="http://schemas.microsoft.com/office/drawing/2014/main" id="{ACB2B16D-5D29-4EAA-A466-723D81D7A278}"/>
              </a:ext>
            </a:extLst>
          </p:cNvPr>
          <p:cNvSpPr/>
          <p:nvPr/>
        </p:nvSpPr>
        <p:spPr>
          <a:xfrm>
            <a:off x="4592705" y="7965759"/>
            <a:ext cx="978408" cy="484632"/>
          </a:xfrm>
          <a:prstGeom prst="rightArrow">
            <a:avLst/>
          </a:prstGeom>
          <a:ln>
            <a:solidFill>
              <a:srgbClr val="00B050"/>
            </a:solid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ZA"/>
          </a:p>
        </p:txBody>
      </p:sp>
      <p:sp>
        <p:nvSpPr>
          <p:cNvPr id="37" name="Rectangle 5">
            <a:extLst>
              <a:ext uri="{FF2B5EF4-FFF2-40B4-BE49-F238E27FC236}">
                <a16:creationId xmlns:a16="http://schemas.microsoft.com/office/drawing/2014/main" id="{9A337763-6AEA-424A-99A7-11F90854DCF5}"/>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ZA"/>
          </a:p>
        </p:txBody>
      </p:sp>
      <p:sp>
        <p:nvSpPr>
          <p:cNvPr id="38" name="Rectangle 6">
            <a:extLst>
              <a:ext uri="{FF2B5EF4-FFF2-40B4-BE49-F238E27FC236}">
                <a16:creationId xmlns:a16="http://schemas.microsoft.com/office/drawing/2014/main" id="{B1FCB548-708D-4D48-AC5C-AB98424C0CCA}"/>
              </a:ext>
            </a:extLst>
          </p:cNvPr>
          <p:cNvSpPr>
            <a:spLocks noChangeArrowheads="1"/>
          </p:cNvSpPr>
          <p:nvPr/>
        </p:nvSpPr>
        <p:spPr bwMode="auto">
          <a:xfrm>
            <a:off x="152400" y="1524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ZA"/>
          </a:p>
        </p:txBody>
      </p:sp>
      <p:sp>
        <p:nvSpPr>
          <p:cNvPr id="44" name="TextBox 43">
            <a:extLst>
              <a:ext uri="{FF2B5EF4-FFF2-40B4-BE49-F238E27FC236}">
                <a16:creationId xmlns:a16="http://schemas.microsoft.com/office/drawing/2014/main" id="{944C6EE1-9AF5-4AEA-9737-078F4C92F28E}"/>
              </a:ext>
            </a:extLst>
          </p:cNvPr>
          <p:cNvSpPr txBox="1"/>
          <p:nvPr/>
        </p:nvSpPr>
        <p:spPr>
          <a:xfrm>
            <a:off x="5927217" y="3443676"/>
            <a:ext cx="9246636" cy="584775"/>
          </a:xfrm>
          <a:prstGeom prst="rect">
            <a:avLst/>
          </a:prstGeom>
          <a:noFill/>
        </p:spPr>
        <p:txBody>
          <a:bodyPr wrap="square">
            <a:spAutoFit/>
          </a:bodyPr>
          <a:lstStyle/>
          <a:p>
            <a:r>
              <a:rPr lang="en-US" sz="3200" dirty="0">
                <a:solidFill>
                  <a:srgbClr val="0B1320"/>
                </a:solidFill>
                <a:latin typeface="NSimSun" panose="02010609030101010101" pitchFamily="49" charset="-122"/>
                <a:ea typeface="NSimSun" panose="02010609030101010101" pitchFamily="49" charset="-122"/>
                <a:sym typeface="Public Sans"/>
              </a:rPr>
              <a:t>NUMERICAL OUTPUT </a:t>
            </a:r>
            <a:endParaRPr lang="en-ZA" sz="3200" dirty="0">
              <a:latin typeface="NSimSun" panose="02010609030101010101" pitchFamily="49" charset="-122"/>
              <a:ea typeface="NSimSun" panose="02010609030101010101" pitchFamily="49" charset="-122"/>
            </a:endParaRPr>
          </a:p>
        </p:txBody>
      </p:sp>
      <p:sp>
        <p:nvSpPr>
          <p:cNvPr id="46" name="TextBox 45">
            <a:extLst>
              <a:ext uri="{FF2B5EF4-FFF2-40B4-BE49-F238E27FC236}">
                <a16:creationId xmlns:a16="http://schemas.microsoft.com/office/drawing/2014/main" id="{9D380D6D-08DF-49C5-B76A-85AB73B2AA0F}"/>
              </a:ext>
            </a:extLst>
          </p:cNvPr>
          <p:cNvSpPr txBox="1"/>
          <p:nvPr/>
        </p:nvSpPr>
        <p:spPr>
          <a:xfrm>
            <a:off x="5929437" y="4306771"/>
            <a:ext cx="9258414" cy="584775"/>
          </a:xfrm>
          <a:prstGeom prst="rect">
            <a:avLst/>
          </a:prstGeom>
          <a:noFill/>
        </p:spPr>
        <p:txBody>
          <a:bodyPr wrap="square">
            <a:spAutoFit/>
          </a:bodyPr>
          <a:lstStyle/>
          <a:p>
            <a:r>
              <a:rPr lang="en-US" sz="3200" dirty="0">
                <a:solidFill>
                  <a:srgbClr val="0B1320"/>
                </a:solidFill>
                <a:latin typeface="NSimSun" panose="02010609030101010101" pitchFamily="49" charset="-122"/>
                <a:ea typeface="NSimSun" panose="02010609030101010101" pitchFamily="49" charset="-122"/>
                <a:sym typeface="Public Sans"/>
              </a:rPr>
              <a:t>QUANTIFY</a:t>
            </a:r>
            <a:r>
              <a:rPr lang="en-US" dirty="0">
                <a:solidFill>
                  <a:srgbClr val="0B1320"/>
                </a:solidFill>
                <a:latin typeface="NSimSun" panose="02010609030101010101" pitchFamily="49" charset="-122"/>
                <a:ea typeface="NSimSun" panose="02010609030101010101" pitchFamily="49" charset="-122"/>
                <a:sym typeface="Public Sans"/>
              </a:rPr>
              <a:t> </a:t>
            </a:r>
            <a:r>
              <a:rPr lang="en-US" sz="3200" dirty="0">
                <a:solidFill>
                  <a:srgbClr val="0B1320"/>
                </a:solidFill>
                <a:latin typeface="NSimSun" panose="02010609030101010101" pitchFamily="49" charset="-122"/>
                <a:ea typeface="NSimSun" panose="02010609030101010101" pitchFamily="49" charset="-122"/>
                <a:sym typeface="Public Sans"/>
              </a:rPr>
              <a:t>OUTCOME</a:t>
            </a:r>
            <a:endParaRPr lang="en-ZA" sz="3200" dirty="0">
              <a:latin typeface="NSimSun" panose="02010609030101010101" pitchFamily="49" charset="-122"/>
              <a:ea typeface="NSimSun" panose="02010609030101010101" pitchFamily="49" charset="-122"/>
            </a:endParaRPr>
          </a:p>
        </p:txBody>
      </p:sp>
      <p:sp>
        <p:nvSpPr>
          <p:cNvPr id="47" name="TextBox 46">
            <a:extLst>
              <a:ext uri="{FF2B5EF4-FFF2-40B4-BE49-F238E27FC236}">
                <a16:creationId xmlns:a16="http://schemas.microsoft.com/office/drawing/2014/main" id="{6B8B7A70-B45E-419C-8D0D-32DF16626B23}"/>
              </a:ext>
            </a:extLst>
          </p:cNvPr>
          <p:cNvSpPr txBox="1"/>
          <p:nvPr/>
        </p:nvSpPr>
        <p:spPr>
          <a:xfrm>
            <a:off x="5956882" y="5121426"/>
            <a:ext cx="9258414" cy="584775"/>
          </a:xfrm>
          <a:prstGeom prst="rect">
            <a:avLst/>
          </a:prstGeom>
          <a:noFill/>
        </p:spPr>
        <p:txBody>
          <a:bodyPr wrap="square">
            <a:spAutoFit/>
          </a:bodyPr>
          <a:lstStyle/>
          <a:p>
            <a:r>
              <a:rPr lang="en-US" sz="3200" dirty="0">
                <a:solidFill>
                  <a:srgbClr val="0B1320"/>
                </a:solidFill>
                <a:latin typeface="NSimSun" panose="02010609030101010101" pitchFamily="49" charset="-122"/>
                <a:ea typeface="NSimSun" panose="02010609030101010101" pitchFamily="49" charset="-122"/>
                <a:sym typeface="Public Sans"/>
              </a:rPr>
              <a:t>MEASURES ERRORS</a:t>
            </a:r>
            <a:endParaRPr lang="en-ZA" sz="3200" dirty="0">
              <a:latin typeface="NSimSun" panose="02010609030101010101" pitchFamily="49" charset="-122"/>
              <a:ea typeface="NSimSun" panose="02010609030101010101" pitchFamily="49" charset="-122"/>
            </a:endParaRPr>
          </a:p>
        </p:txBody>
      </p:sp>
      <p:sp>
        <p:nvSpPr>
          <p:cNvPr id="48" name="TextBox 47">
            <a:extLst>
              <a:ext uri="{FF2B5EF4-FFF2-40B4-BE49-F238E27FC236}">
                <a16:creationId xmlns:a16="http://schemas.microsoft.com/office/drawing/2014/main" id="{90CB872D-301A-461A-8510-B28C1154E256}"/>
              </a:ext>
            </a:extLst>
          </p:cNvPr>
          <p:cNvSpPr txBox="1"/>
          <p:nvPr/>
        </p:nvSpPr>
        <p:spPr>
          <a:xfrm>
            <a:off x="5921328" y="6061428"/>
            <a:ext cx="9258414" cy="584775"/>
          </a:xfrm>
          <a:prstGeom prst="rect">
            <a:avLst/>
          </a:prstGeom>
          <a:noFill/>
        </p:spPr>
        <p:txBody>
          <a:bodyPr wrap="square">
            <a:spAutoFit/>
          </a:bodyPr>
          <a:lstStyle/>
          <a:p>
            <a:r>
              <a:rPr lang="en-US" sz="3200" dirty="0">
                <a:solidFill>
                  <a:srgbClr val="0B1320"/>
                </a:solidFill>
                <a:latin typeface="NSimSun" panose="02010609030101010101" pitchFamily="49" charset="-122"/>
                <a:ea typeface="NSimSun" panose="02010609030101010101" pitchFamily="49" charset="-122"/>
                <a:sym typeface="Public Sans"/>
              </a:rPr>
              <a:t>MEASURES THE AVARAGE OF ERRORS</a:t>
            </a:r>
            <a:endParaRPr lang="en-ZA" sz="3200" dirty="0">
              <a:latin typeface="NSimSun" panose="02010609030101010101" pitchFamily="49" charset="-122"/>
              <a:ea typeface="NSimSun" panose="02010609030101010101" pitchFamily="49" charset="-122"/>
            </a:endParaRPr>
          </a:p>
        </p:txBody>
      </p:sp>
      <p:sp>
        <p:nvSpPr>
          <p:cNvPr id="49" name="TextBox 48">
            <a:extLst>
              <a:ext uri="{FF2B5EF4-FFF2-40B4-BE49-F238E27FC236}">
                <a16:creationId xmlns:a16="http://schemas.microsoft.com/office/drawing/2014/main" id="{13C5C323-A9BB-4DF6-985B-B1B3C5C4CCCF}"/>
              </a:ext>
            </a:extLst>
          </p:cNvPr>
          <p:cNvSpPr txBox="1"/>
          <p:nvPr/>
        </p:nvSpPr>
        <p:spPr>
          <a:xfrm>
            <a:off x="5912793" y="7092512"/>
            <a:ext cx="9258414" cy="584775"/>
          </a:xfrm>
          <a:prstGeom prst="rect">
            <a:avLst/>
          </a:prstGeom>
          <a:noFill/>
        </p:spPr>
        <p:txBody>
          <a:bodyPr wrap="square">
            <a:spAutoFit/>
          </a:bodyPr>
          <a:lstStyle/>
          <a:p>
            <a:r>
              <a:rPr lang="en-US" sz="3200" dirty="0">
                <a:solidFill>
                  <a:srgbClr val="0B1320"/>
                </a:solidFill>
                <a:latin typeface="NSimSun" panose="02010609030101010101" pitchFamily="49" charset="-122"/>
                <a:ea typeface="NSimSun" panose="02010609030101010101" pitchFamily="49" charset="-122"/>
                <a:sym typeface="Public Sans"/>
              </a:rPr>
              <a:t>EVALUATES THE PERFORMANCE </a:t>
            </a:r>
            <a:endParaRPr lang="en-ZA" sz="3200" dirty="0">
              <a:latin typeface="NSimSun" panose="02010609030101010101" pitchFamily="49" charset="-122"/>
              <a:ea typeface="NSimSun" panose="02010609030101010101" pitchFamily="49" charset="-122"/>
            </a:endParaRPr>
          </a:p>
        </p:txBody>
      </p:sp>
      <p:sp>
        <p:nvSpPr>
          <p:cNvPr id="50" name="TextBox 49">
            <a:extLst>
              <a:ext uri="{FF2B5EF4-FFF2-40B4-BE49-F238E27FC236}">
                <a16:creationId xmlns:a16="http://schemas.microsoft.com/office/drawing/2014/main" id="{BB7968FC-3C9A-4D66-AD22-4C052F13A4FF}"/>
              </a:ext>
            </a:extLst>
          </p:cNvPr>
          <p:cNvSpPr txBox="1"/>
          <p:nvPr/>
        </p:nvSpPr>
        <p:spPr>
          <a:xfrm>
            <a:off x="5921328" y="7992472"/>
            <a:ext cx="10838571" cy="584775"/>
          </a:xfrm>
          <a:prstGeom prst="rect">
            <a:avLst/>
          </a:prstGeom>
          <a:noFill/>
        </p:spPr>
        <p:txBody>
          <a:bodyPr wrap="square">
            <a:spAutoFit/>
          </a:bodyPr>
          <a:lstStyle/>
          <a:p>
            <a:r>
              <a:rPr lang="en-US" sz="3200" dirty="0">
                <a:solidFill>
                  <a:srgbClr val="0B1320"/>
                </a:solidFill>
                <a:latin typeface="NSimSun" panose="02010609030101010101" pitchFamily="49" charset="-122"/>
                <a:ea typeface="NSimSun" panose="02010609030101010101" pitchFamily="49" charset="-122"/>
                <a:sym typeface="Public Sans"/>
              </a:rPr>
              <a:t>MEASURES HOW WELL MODEL PREDICTS APPROXIMATE DATA</a:t>
            </a:r>
            <a:endParaRPr lang="en-ZA" sz="3200" dirty="0">
              <a:latin typeface="NSimSun" panose="02010609030101010101" pitchFamily="49" charset="-122"/>
              <a:ea typeface="NSimSun" panose="02010609030101010101" pitchFamily="49" charset="-122"/>
            </a:endParaRPr>
          </a:p>
        </p:txBody>
      </p:sp>
      <p:pic>
        <p:nvPicPr>
          <p:cNvPr id="1038" name="Picture 14" descr="Calculation - Free education icons">
            <a:extLst>
              <a:ext uri="{FF2B5EF4-FFF2-40B4-BE49-F238E27FC236}">
                <a16:creationId xmlns:a16="http://schemas.microsoft.com/office/drawing/2014/main" id="{59BE78D3-85CE-453E-B234-E80E3CE22A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26007" y="2781284"/>
            <a:ext cx="4876800" cy="4876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4791364">
            <a:off x="9738483" y="5143501"/>
            <a:ext cx="10464870" cy="0"/>
          </a:xfrm>
          <a:prstGeom prst="line">
            <a:avLst/>
          </a:prstGeom>
          <a:ln w="9525" cap="rnd">
            <a:solidFill>
              <a:srgbClr val="007744"/>
            </a:solidFill>
            <a:prstDash val="solid"/>
            <a:headEnd type="none" w="sm" len="sm"/>
            <a:tailEnd type="none" w="sm" len="sm"/>
          </a:ln>
        </p:spPr>
      </p:sp>
      <p:sp>
        <p:nvSpPr>
          <p:cNvPr id="3" name="AutoShape 3"/>
          <p:cNvSpPr/>
          <p:nvPr/>
        </p:nvSpPr>
        <p:spPr>
          <a:xfrm rot="8776573">
            <a:off x="10406482" y="7904561"/>
            <a:ext cx="8608175" cy="0"/>
          </a:xfrm>
          <a:prstGeom prst="line">
            <a:avLst/>
          </a:prstGeom>
          <a:ln w="9525" cap="rnd">
            <a:solidFill>
              <a:srgbClr val="007744"/>
            </a:solidFill>
            <a:prstDash val="solid"/>
            <a:headEnd type="none" w="sm" len="sm"/>
            <a:tailEnd type="none" w="sm" len="sm"/>
          </a:ln>
        </p:spPr>
      </p:sp>
      <p:grpSp>
        <p:nvGrpSpPr>
          <p:cNvPr id="4" name="Group 4"/>
          <p:cNvGrpSpPr/>
          <p:nvPr/>
        </p:nvGrpSpPr>
        <p:grpSpPr>
          <a:xfrm>
            <a:off x="13772214" y="-12700"/>
            <a:ext cx="4511024" cy="10299701"/>
            <a:chOff x="0" y="0"/>
            <a:chExt cx="6014698" cy="13732935"/>
          </a:xfrm>
        </p:grpSpPr>
        <p:sp>
          <p:nvSpPr>
            <p:cNvPr id="5" name="Freeform 5"/>
            <p:cNvSpPr/>
            <p:nvPr/>
          </p:nvSpPr>
          <p:spPr>
            <a:xfrm>
              <a:off x="0" y="0"/>
              <a:ext cx="6014720" cy="13732890"/>
            </a:xfrm>
            <a:custGeom>
              <a:avLst/>
              <a:gdLst/>
              <a:ahLst/>
              <a:cxnLst/>
              <a:rect l="l" t="t" r="r" b="b"/>
              <a:pathLst>
                <a:path w="6014720" h="13732890">
                  <a:moveTo>
                    <a:pt x="4091051" y="0"/>
                  </a:moveTo>
                  <a:lnTo>
                    <a:pt x="6014720" y="0"/>
                  </a:lnTo>
                  <a:lnTo>
                    <a:pt x="6014720" y="13732890"/>
                  </a:lnTo>
                  <a:lnTo>
                    <a:pt x="0" y="13732890"/>
                  </a:lnTo>
                  <a:lnTo>
                    <a:pt x="4091051" y="0"/>
                  </a:lnTo>
                  <a:close/>
                </a:path>
              </a:pathLst>
            </a:custGeom>
            <a:solidFill>
              <a:srgbClr val="007744">
                <a:alpha val="12941"/>
              </a:srgbClr>
            </a:solidFill>
          </p:spPr>
        </p:sp>
      </p:grpSp>
      <p:grpSp>
        <p:nvGrpSpPr>
          <p:cNvPr id="6" name="Group 6"/>
          <p:cNvGrpSpPr/>
          <p:nvPr/>
        </p:nvGrpSpPr>
        <p:grpSpPr>
          <a:xfrm>
            <a:off x="14405163" y="-12700"/>
            <a:ext cx="3882837" cy="10299701"/>
            <a:chOff x="0" y="0"/>
            <a:chExt cx="5177116" cy="13732935"/>
          </a:xfrm>
        </p:grpSpPr>
        <p:sp>
          <p:nvSpPr>
            <p:cNvPr id="7" name="Freeform 7"/>
            <p:cNvSpPr/>
            <p:nvPr/>
          </p:nvSpPr>
          <p:spPr>
            <a:xfrm>
              <a:off x="0" y="0"/>
              <a:ext cx="5177155" cy="13732890"/>
            </a:xfrm>
            <a:custGeom>
              <a:avLst/>
              <a:gdLst/>
              <a:ahLst/>
              <a:cxnLst/>
              <a:rect l="l" t="t" r="r" b="b"/>
              <a:pathLst>
                <a:path w="5177155" h="13732890">
                  <a:moveTo>
                    <a:pt x="0" y="0"/>
                  </a:moveTo>
                  <a:lnTo>
                    <a:pt x="5177155" y="0"/>
                  </a:lnTo>
                  <a:lnTo>
                    <a:pt x="5177155" y="13732890"/>
                  </a:lnTo>
                  <a:lnTo>
                    <a:pt x="2418969" y="13732890"/>
                  </a:lnTo>
                  <a:lnTo>
                    <a:pt x="0" y="0"/>
                  </a:lnTo>
                  <a:close/>
                </a:path>
              </a:pathLst>
            </a:custGeom>
            <a:solidFill>
              <a:srgbClr val="007744">
                <a:alpha val="3922"/>
              </a:srgbClr>
            </a:solidFill>
          </p:spPr>
        </p:sp>
      </p:grpSp>
      <p:grpSp>
        <p:nvGrpSpPr>
          <p:cNvPr id="8" name="Group 8"/>
          <p:cNvGrpSpPr/>
          <p:nvPr/>
        </p:nvGrpSpPr>
        <p:grpSpPr>
          <a:xfrm>
            <a:off x="13398499" y="4572001"/>
            <a:ext cx="4889501" cy="5715000"/>
            <a:chOff x="0" y="0"/>
            <a:chExt cx="6519334" cy="7620000"/>
          </a:xfrm>
        </p:grpSpPr>
        <p:sp>
          <p:nvSpPr>
            <p:cNvPr id="9" name="Freeform 9"/>
            <p:cNvSpPr/>
            <p:nvPr/>
          </p:nvSpPr>
          <p:spPr>
            <a:xfrm>
              <a:off x="0" y="0"/>
              <a:ext cx="6519291" cy="7620000"/>
            </a:xfrm>
            <a:custGeom>
              <a:avLst/>
              <a:gdLst/>
              <a:ahLst/>
              <a:cxnLst/>
              <a:rect l="l" t="t" r="r" b="b"/>
              <a:pathLst>
                <a:path w="6519291" h="7620000">
                  <a:moveTo>
                    <a:pt x="0" y="7620000"/>
                  </a:moveTo>
                  <a:lnTo>
                    <a:pt x="6519291" y="0"/>
                  </a:lnTo>
                  <a:lnTo>
                    <a:pt x="6519291" y="7620000"/>
                  </a:lnTo>
                  <a:close/>
                </a:path>
              </a:pathLst>
            </a:custGeom>
            <a:solidFill>
              <a:srgbClr val="66DBFF">
                <a:alpha val="43529"/>
              </a:srgbClr>
            </a:solidFill>
          </p:spPr>
        </p:sp>
      </p:grpSp>
      <p:grpSp>
        <p:nvGrpSpPr>
          <p:cNvPr id="10" name="Group 10"/>
          <p:cNvGrpSpPr/>
          <p:nvPr/>
        </p:nvGrpSpPr>
        <p:grpSpPr>
          <a:xfrm>
            <a:off x="14001750" y="-12700"/>
            <a:ext cx="4281489" cy="10299701"/>
            <a:chOff x="0" y="0"/>
            <a:chExt cx="5708652" cy="13732935"/>
          </a:xfrm>
        </p:grpSpPr>
        <p:sp>
          <p:nvSpPr>
            <p:cNvPr id="11" name="Freeform 11"/>
            <p:cNvSpPr/>
            <p:nvPr/>
          </p:nvSpPr>
          <p:spPr>
            <a:xfrm>
              <a:off x="0" y="0"/>
              <a:ext cx="5708650" cy="13732890"/>
            </a:xfrm>
            <a:custGeom>
              <a:avLst/>
              <a:gdLst/>
              <a:ahLst/>
              <a:cxnLst/>
              <a:rect l="l" t="t" r="r" b="b"/>
              <a:pathLst>
                <a:path w="5708650" h="13732890">
                  <a:moveTo>
                    <a:pt x="0" y="0"/>
                  </a:moveTo>
                  <a:lnTo>
                    <a:pt x="5708650" y="0"/>
                  </a:lnTo>
                  <a:lnTo>
                    <a:pt x="5708650" y="13732890"/>
                  </a:lnTo>
                  <a:lnTo>
                    <a:pt x="4941443" y="13732890"/>
                  </a:lnTo>
                  <a:lnTo>
                    <a:pt x="0" y="0"/>
                  </a:lnTo>
                  <a:close/>
                </a:path>
              </a:pathLst>
            </a:custGeom>
            <a:solidFill>
              <a:srgbClr val="66DBFF">
                <a:alpha val="24706"/>
              </a:srgbClr>
            </a:solidFill>
          </p:spPr>
        </p:sp>
      </p:grpSp>
      <p:grpSp>
        <p:nvGrpSpPr>
          <p:cNvPr id="12" name="Group 12"/>
          <p:cNvGrpSpPr/>
          <p:nvPr/>
        </p:nvGrpSpPr>
        <p:grpSpPr>
          <a:xfrm>
            <a:off x="16348095" y="-12700"/>
            <a:ext cx="1935141" cy="10299701"/>
            <a:chOff x="0" y="0"/>
            <a:chExt cx="2580188" cy="13732935"/>
          </a:xfrm>
        </p:grpSpPr>
        <p:sp>
          <p:nvSpPr>
            <p:cNvPr id="13" name="Freeform 13"/>
            <p:cNvSpPr/>
            <p:nvPr/>
          </p:nvSpPr>
          <p:spPr>
            <a:xfrm>
              <a:off x="0" y="0"/>
              <a:ext cx="2580259" cy="13732890"/>
            </a:xfrm>
            <a:custGeom>
              <a:avLst/>
              <a:gdLst/>
              <a:ahLst/>
              <a:cxnLst/>
              <a:rect l="l" t="t" r="r" b="b"/>
              <a:pathLst>
                <a:path w="2580259" h="13732890">
                  <a:moveTo>
                    <a:pt x="2039493" y="0"/>
                  </a:moveTo>
                  <a:lnTo>
                    <a:pt x="2580259" y="0"/>
                  </a:lnTo>
                  <a:lnTo>
                    <a:pt x="2580259" y="13732890"/>
                  </a:lnTo>
                  <a:lnTo>
                    <a:pt x="0" y="13732890"/>
                  </a:lnTo>
                  <a:lnTo>
                    <a:pt x="2039493" y="0"/>
                  </a:lnTo>
                  <a:close/>
                </a:path>
              </a:pathLst>
            </a:custGeom>
            <a:solidFill>
              <a:srgbClr val="F49728">
                <a:alpha val="48627"/>
              </a:srgbClr>
            </a:solidFill>
          </p:spPr>
        </p:sp>
      </p:grpSp>
      <p:grpSp>
        <p:nvGrpSpPr>
          <p:cNvPr id="14" name="Group 14"/>
          <p:cNvGrpSpPr/>
          <p:nvPr/>
        </p:nvGrpSpPr>
        <p:grpSpPr>
          <a:xfrm>
            <a:off x="16408499" y="-12700"/>
            <a:ext cx="1874737" cy="10299701"/>
            <a:chOff x="0" y="0"/>
            <a:chExt cx="2499650" cy="13732935"/>
          </a:xfrm>
        </p:grpSpPr>
        <p:sp>
          <p:nvSpPr>
            <p:cNvPr id="15" name="Freeform 15"/>
            <p:cNvSpPr/>
            <p:nvPr/>
          </p:nvSpPr>
          <p:spPr>
            <a:xfrm>
              <a:off x="0" y="0"/>
              <a:ext cx="2499614" cy="13732890"/>
            </a:xfrm>
            <a:custGeom>
              <a:avLst/>
              <a:gdLst/>
              <a:ahLst/>
              <a:cxnLst/>
              <a:rect l="l" t="t" r="r" b="b"/>
              <a:pathLst>
                <a:path w="2499614" h="13732890">
                  <a:moveTo>
                    <a:pt x="0" y="0"/>
                  </a:moveTo>
                  <a:lnTo>
                    <a:pt x="2499614" y="0"/>
                  </a:lnTo>
                  <a:lnTo>
                    <a:pt x="2499614" y="13732890"/>
                  </a:lnTo>
                  <a:lnTo>
                    <a:pt x="2218817" y="13732890"/>
                  </a:lnTo>
                  <a:lnTo>
                    <a:pt x="0" y="0"/>
                  </a:lnTo>
                  <a:close/>
                </a:path>
              </a:pathLst>
            </a:custGeom>
            <a:solidFill>
              <a:srgbClr val="FFFFFF">
                <a:alpha val="63922"/>
              </a:srgbClr>
            </a:solidFill>
          </p:spPr>
        </p:sp>
      </p:grpSp>
      <p:grpSp>
        <p:nvGrpSpPr>
          <p:cNvPr id="16" name="Group 16"/>
          <p:cNvGrpSpPr/>
          <p:nvPr/>
        </p:nvGrpSpPr>
        <p:grpSpPr>
          <a:xfrm>
            <a:off x="15557499" y="5384801"/>
            <a:ext cx="2725738" cy="4902200"/>
            <a:chOff x="0" y="0"/>
            <a:chExt cx="3634318" cy="6536266"/>
          </a:xfrm>
        </p:grpSpPr>
        <p:sp>
          <p:nvSpPr>
            <p:cNvPr id="17" name="Freeform 17"/>
            <p:cNvSpPr/>
            <p:nvPr/>
          </p:nvSpPr>
          <p:spPr>
            <a:xfrm>
              <a:off x="0" y="0"/>
              <a:ext cx="3634359" cy="6536309"/>
            </a:xfrm>
            <a:custGeom>
              <a:avLst/>
              <a:gdLst/>
              <a:ahLst/>
              <a:cxnLst/>
              <a:rect l="l" t="t" r="r" b="b"/>
              <a:pathLst>
                <a:path w="3634359" h="6536309">
                  <a:moveTo>
                    <a:pt x="0" y="6536309"/>
                  </a:moveTo>
                  <a:lnTo>
                    <a:pt x="3634359" y="0"/>
                  </a:lnTo>
                  <a:lnTo>
                    <a:pt x="3634359" y="6536309"/>
                  </a:lnTo>
                  <a:close/>
                </a:path>
              </a:pathLst>
            </a:custGeom>
            <a:solidFill>
              <a:srgbClr val="66DBFF">
                <a:alpha val="43529"/>
              </a:srgbClr>
            </a:solidFill>
          </p:spPr>
        </p:sp>
      </p:grpSp>
      <p:grpSp>
        <p:nvGrpSpPr>
          <p:cNvPr id="18" name="Group 18"/>
          <p:cNvGrpSpPr/>
          <p:nvPr/>
        </p:nvGrpSpPr>
        <p:grpSpPr>
          <a:xfrm>
            <a:off x="0" y="6019801"/>
            <a:ext cx="673100" cy="4267200"/>
            <a:chOff x="0" y="0"/>
            <a:chExt cx="897466" cy="5689600"/>
          </a:xfrm>
        </p:grpSpPr>
        <p:sp>
          <p:nvSpPr>
            <p:cNvPr id="19" name="Freeform 19"/>
            <p:cNvSpPr/>
            <p:nvPr/>
          </p:nvSpPr>
          <p:spPr>
            <a:xfrm>
              <a:off x="0" y="0"/>
              <a:ext cx="897509" cy="5689600"/>
            </a:xfrm>
            <a:custGeom>
              <a:avLst/>
              <a:gdLst/>
              <a:ahLst/>
              <a:cxnLst/>
              <a:rect l="l" t="t" r="r" b="b"/>
              <a:pathLst>
                <a:path w="897509" h="5689600">
                  <a:moveTo>
                    <a:pt x="0" y="5689600"/>
                  </a:moveTo>
                  <a:lnTo>
                    <a:pt x="0" y="0"/>
                  </a:lnTo>
                  <a:lnTo>
                    <a:pt x="897509" y="5689600"/>
                  </a:lnTo>
                  <a:close/>
                </a:path>
              </a:pathLst>
            </a:custGeom>
            <a:solidFill>
              <a:srgbClr val="007744">
                <a:alpha val="48627"/>
              </a:srgbClr>
            </a:solidFill>
          </p:spPr>
        </p:sp>
      </p:grpSp>
      <p:grpSp>
        <p:nvGrpSpPr>
          <p:cNvPr id="20" name="Group 20"/>
          <p:cNvGrpSpPr/>
          <p:nvPr/>
        </p:nvGrpSpPr>
        <p:grpSpPr>
          <a:xfrm>
            <a:off x="478207" y="251719"/>
            <a:ext cx="5761174" cy="1088838"/>
            <a:chOff x="0" y="0"/>
            <a:chExt cx="7681565" cy="1451784"/>
          </a:xfrm>
        </p:grpSpPr>
        <p:sp>
          <p:nvSpPr>
            <p:cNvPr id="21" name="Freeform 21"/>
            <p:cNvSpPr/>
            <p:nvPr/>
          </p:nvSpPr>
          <p:spPr>
            <a:xfrm>
              <a:off x="0" y="0"/>
              <a:ext cx="7681595" cy="1451737"/>
            </a:xfrm>
            <a:custGeom>
              <a:avLst/>
              <a:gdLst/>
              <a:ahLst/>
              <a:cxnLst/>
              <a:rect l="l" t="t" r="r" b="b"/>
              <a:pathLst>
                <a:path w="7681595" h="1451737">
                  <a:moveTo>
                    <a:pt x="0" y="0"/>
                  </a:moveTo>
                  <a:lnTo>
                    <a:pt x="7681595" y="0"/>
                  </a:lnTo>
                  <a:lnTo>
                    <a:pt x="7681595" y="1451737"/>
                  </a:lnTo>
                  <a:lnTo>
                    <a:pt x="0" y="1451737"/>
                  </a:lnTo>
                  <a:lnTo>
                    <a:pt x="0" y="0"/>
                  </a:lnTo>
                  <a:close/>
                </a:path>
              </a:pathLst>
            </a:custGeom>
            <a:blipFill>
              <a:blip r:embed="rId2"/>
              <a:stretch>
                <a:fillRect t="-2789" b="-2793"/>
              </a:stretch>
            </a:blipFill>
          </p:spPr>
        </p:sp>
      </p:grpSp>
      <p:pic>
        <p:nvPicPr>
          <p:cNvPr id="26" name="Picture 25">
            <a:extLst>
              <a:ext uri="{FF2B5EF4-FFF2-40B4-BE49-F238E27FC236}">
                <a16:creationId xmlns:a16="http://schemas.microsoft.com/office/drawing/2014/main" id="{93D17D2E-A3DC-4A0E-91D6-BE0C899ABB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208" y="1945606"/>
            <a:ext cx="16371044" cy="8089675"/>
          </a:xfrm>
          <a:prstGeom prst="rect">
            <a:avLst/>
          </a:prstGeom>
        </p:spPr>
      </p:pic>
      <p:sp>
        <p:nvSpPr>
          <p:cNvPr id="30" name="TextBox 29">
            <a:extLst>
              <a:ext uri="{FF2B5EF4-FFF2-40B4-BE49-F238E27FC236}">
                <a16:creationId xmlns:a16="http://schemas.microsoft.com/office/drawing/2014/main" id="{68066183-68F5-4E1B-83C6-563E4E096931}"/>
              </a:ext>
            </a:extLst>
          </p:cNvPr>
          <p:cNvSpPr txBox="1"/>
          <p:nvPr/>
        </p:nvSpPr>
        <p:spPr>
          <a:xfrm>
            <a:off x="5221997" y="1347246"/>
            <a:ext cx="9152964" cy="646331"/>
          </a:xfrm>
          <a:prstGeom prst="rect">
            <a:avLst/>
          </a:prstGeom>
          <a:noFill/>
        </p:spPr>
        <p:txBody>
          <a:bodyPr wrap="square">
            <a:spAutoFit/>
          </a:bodyPr>
          <a:lstStyle/>
          <a:p>
            <a:r>
              <a:rPr lang="en-US" sz="3600" b="1" dirty="0">
                <a:solidFill>
                  <a:schemeClr val="accent5">
                    <a:lumMod val="75000"/>
                  </a:schemeClr>
                </a:solidFill>
                <a:latin typeface="Public Sans Bold"/>
                <a:sym typeface="Public Sans Bold"/>
              </a:rPr>
              <a:t>Graphic</a:t>
            </a:r>
            <a:r>
              <a:rPr lang="en-US" sz="3600" b="1" dirty="0">
                <a:solidFill>
                  <a:schemeClr val="tx1">
                    <a:lumMod val="75000"/>
                    <a:lumOff val="25000"/>
                  </a:schemeClr>
                </a:solidFill>
                <a:latin typeface="Public Sans Bold"/>
                <a:sym typeface="Public Sans Bold"/>
              </a:rPr>
              <a:t> </a:t>
            </a:r>
            <a:r>
              <a:rPr lang="en-US" sz="3600" b="1" dirty="0">
                <a:solidFill>
                  <a:schemeClr val="accent5">
                    <a:lumMod val="75000"/>
                  </a:schemeClr>
                </a:solidFill>
                <a:latin typeface="Public Sans Bold"/>
                <a:sym typeface="Public Sans Bold"/>
              </a:rPr>
              <a:t>user</a:t>
            </a:r>
            <a:r>
              <a:rPr lang="en-US" sz="3600" b="1" dirty="0">
                <a:solidFill>
                  <a:schemeClr val="tx1">
                    <a:lumMod val="75000"/>
                    <a:lumOff val="25000"/>
                  </a:schemeClr>
                </a:solidFill>
                <a:latin typeface="Public Sans Bold"/>
                <a:sym typeface="Public Sans Bold"/>
              </a:rPr>
              <a:t> </a:t>
            </a:r>
            <a:r>
              <a:rPr lang="en-US" sz="3600" b="1" dirty="0">
                <a:solidFill>
                  <a:schemeClr val="accent5">
                    <a:lumMod val="75000"/>
                  </a:schemeClr>
                </a:solidFill>
                <a:latin typeface="Public Sans Bold"/>
                <a:sym typeface="Public Sans Bold"/>
              </a:rPr>
              <a:t>interface</a:t>
            </a:r>
            <a:r>
              <a:rPr lang="en-US" sz="3600" b="1" dirty="0">
                <a:solidFill>
                  <a:schemeClr val="tx1">
                    <a:lumMod val="75000"/>
                    <a:lumOff val="25000"/>
                  </a:schemeClr>
                </a:solidFill>
                <a:latin typeface="Public Sans Bold"/>
                <a:sym typeface="Public Sans Bold"/>
              </a:rPr>
              <a:t>(</a:t>
            </a:r>
            <a:r>
              <a:rPr lang="en-US" sz="3600" b="1" dirty="0">
                <a:solidFill>
                  <a:schemeClr val="accent5">
                    <a:lumMod val="75000"/>
                  </a:schemeClr>
                </a:solidFill>
                <a:latin typeface="Public Sans Bold"/>
                <a:sym typeface="Public Sans Bold"/>
              </a:rPr>
              <a:t>GUI</a:t>
            </a:r>
            <a:r>
              <a:rPr lang="en-US" sz="3600" b="1" dirty="0">
                <a:solidFill>
                  <a:schemeClr val="tx1">
                    <a:lumMod val="75000"/>
                    <a:lumOff val="25000"/>
                  </a:schemeClr>
                </a:solidFill>
                <a:latin typeface="Public Sans Bold"/>
                <a:sym typeface="Public Sans Bold"/>
              </a:rPr>
              <a:t>)</a:t>
            </a:r>
            <a:endParaRPr lang="en-ZA" sz="3600" dirty="0">
              <a:solidFill>
                <a:schemeClr val="tx1">
                  <a:lumMod val="75000"/>
                  <a:lumOff val="25000"/>
                </a:schemeClr>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4791364">
            <a:off x="9738483" y="5143501"/>
            <a:ext cx="10464870" cy="0"/>
          </a:xfrm>
          <a:prstGeom prst="line">
            <a:avLst/>
          </a:prstGeom>
          <a:ln w="9525" cap="rnd">
            <a:solidFill>
              <a:srgbClr val="007744"/>
            </a:solidFill>
            <a:prstDash val="solid"/>
            <a:headEnd type="none" w="sm" len="sm"/>
            <a:tailEnd type="none" w="sm" len="sm"/>
          </a:ln>
        </p:spPr>
      </p:sp>
      <p:sp>
        <p:nvSpPr>
          <p:cNvPr id="3" name="AutoShape 3"/>
          <p:cNvSpPr/>
          <p:nvPr/>
        </p:nvSpPr>
        <p:spPr>
          <a:xfrm rot="8776573">
            <a:off x="10406482" y="7904561"/>
            <a:ext cx="8608175" cy="0"/>
          </a:xfrm>
          <a:prstGeom prst="line">
            <a:avLst/>
          </a:prstGeom>
          <a:ln w="9525" cap="rnd">
            <a:solidFill>
              <a:srgbClr val="007744"/>
            </a:solidFill>
            <a:prstDash val="solid"/>
            <a:headEnd type="none" w="sm" len="sm"/>
            <a:tailEnd type="none" w="sm" len="sm"/>
          </a:ln>
        </p:spPr>
      </p:sp>
      <p:grpSp>
        <p:nvGrpSpPr>
          <p:cNvPr id="4" name="Group 4"/>
          <p:cNvGrpSpPr/>
          <p:nvPr/>
        </p:nvGrpSpPr>
        <p:grpSpPr>
          <a:xfrm>
            <a:off x="13772214" y="-12700"/>
            <a:ext cx="4511024" cy="10299701"/>
            <a:chOff x="0" y="0"/>
            <a:chExt cx="6014698" cy="13732935"/>
          </a:xfrm>
        </p:grpSpPr>
        <p:sp>
          <p:nvSpPr>
            <p:cNvPr id="5" name="Freeform 5"/>
            <p:cNvSpPr/>
            <p:nvPr/>
          </p:nvSpPr>
          <p:spPr>
            <a:xfrm>
              <a:off x="0" y="0"/>
              <a:ext cx="6014720" cy="13732890"/>
            </a:xfrm>
            <a:custGeom>
              <a:avLst/>
              <a:gdLst/>
              <a:ahLst/>
              <a:cxnLst/>
              <a:rect l="l" t="t" r="r" b="b"/>
              <a:pathLst>
                <a:path w="6014720" h="13732890">
                  <a:moveTo>
                    <a:pt x="4091051" y="0"/>
                  </a:moveTo>
                  <a:lnTo>
                    <a:pt x="6014720" y="0"/>
                  </a:lnTo>
                  <a:lnTo>
                    <a:pt x="6014720" y="13732890"/>
                  </a:lnTo>
                  <a:lnTo>
                    <a:pt x="0" y="13732890"/>
                  </a:lnTo>
                  <a:lnTo>
                    <a:pt x="4091051" y="0"/>
                  </a:lnTo>
                  <a:close/>
                </a:path>
              </a:pathLst>
            </a:custGeom>
            <a:solidFill>
              <a:srgbClr val="007744">
                <a:alpha val="12941"/>
              </a:srgbClr>
            </a:solidFill>
          </p:spPr>
        </p:sp>
      </p:grpSp>
      <p:grpSp>
        <p:nvGrpSpPr>
          <p:cNvPr id="6" name="Group 6"/>
          <p:cNvGrpSpPr/>
          <p:nvPr/>
        </p:nvGrpSpPr>
        <p:grpSpPr>
          <a:xfrm>
            <a:off x="14405163" y="-12700"/>
            <a:ext cx="3882837" cy="10299701"/>
            <a:chOff x="0" y="0"/>
            <a:chExt cx="5177116" cy="13732935"/>
          </a:xfrm>
        </p:grpSpPr>
        <p:sp>
          <p:nvSpPr>
            <p:cNvPr id="7" name="Freeform 7"/>
            <p:cNvSpPr/>
            <p:nvPr/>
          </p:nvSpPr>
          <p:spPr>
            <a:xfrm>
              <a:off x="0" y="0"/>
              <a:ext cx="5177155" cy="13732890"/>
            </a:xfrm>
            <a:custGeom>
              <a:avLst/>
              <a:gdLst/>
              <a:ahLst/>
              <a:cxnLst/>
              <a:rect l="l" t="t" r="r" b="b"/>
              <a:pathLst>
                <a:path w="5177155" h="13732890">
                  <a:moveTo>
                    <a:pt x="0" y="0"/>
                  </a:moveTo>
                  <a:lnTo>
                    <a:pt x="5177155" y="0"/>
                  </a:lnTo>
                  <a:lnTo>
                    <a:pt x="5177155" y="13732890"/>
                  </a:lnTo>
                  <a:lnTo>
                    <a:pt x="2418969" y="13732890"/>
                  </a:lnTo>
                  <a:lnTo>
                    <a:pt x="0" y="0"/>
                  </a:lnTo>
                  <a:close/>
                </a:path>
              </a:pathLst>
            </a:custGeom>
            <a:solidFill>
              <a:srgbClr val="007744">
                <a:alpha val="3922"/>
              </a:srgbClr>
            </a:solidFill>
          </p:spPr>
        </p:sp>
      </p:grpSp>
      <p:grpSp>
        <p:nvGrpSpPr>
          <p:cNvPr id="8" name="Group 8"/>
          <p:cNvGrpSpPr/>
          <p:nvPr/>
        </p:nvGrpSpPr>
        <p:grpSpPr>
          <a:xfrm>
            <a:off x="13398499" y="4572001"/>
            <a:ext cx="4889501" cy="5715000"/>
            <a:chOff x="0" y="0"/>
            <a:chExt cx="6519334" cy="7620000"/>
          </a:xfrm>
        </p:grpSpPr>
        <p:sp>
          <p:nvSpPr>
            <p:cNvPr id="9" name="Freeform 9"/>
            <p:cNvSpPr/>
            <p:nvPr/>
          </p:nvSpPr>
          <p:spPr>
            <a:xfrm>
              <a:off x="0" y="0"/>
              <a:ext cx="6519291" cy="7620000"/>
            </a:xfrm>
            <a:custGeom>
              <a:avLst/>
              <a:gdLst/>
              <a:ahLst/>
              <a:cxnLst/>
              <a:rect l="l" t="t" r="r" b="b"/>
              <a:pathLst>
                <a:path w="6519291" h="7620000">
                  <a:moveTo>
                    <a:pt x="0" y="7620000"/>
                  </a:moveTo>
                  <a:lnTo>
                    <a:pt x="6519291" y="0"/>
                  </a:lnTo>
                  <a:lnTo>
                    <a:pt x="6519291" y="7620000"/>
                  </a:lnTo>
                  <a:close/>
                </a:path>
              </a:pathLst>
            </a:custGeom>
            <a:solidFill>
              <a:srgbClr val="66DBFF">
                <a:alpha val="43529"/>
              </a:srgbClr>
            </a:solidFill>
          </p:spPr>
        </p:sp>
      </p:grpSp>
      <p:grpSp>
        <p:nvGrpSpPr>
          <p:cNvPr id="10" name="Group 10"/>
          <p:cNvGrpSpPr/>
          <p:nvPr/>
        </p:nvGrpSpPr>
        <p:grpSpPr>
          <a:xfrm>
            <a:off x="14001750" y="-12700"/>
            <a:ext cx="4281489" cy="10299701"/>
            <a:chOff x="0" y="0"/>
            <a:chExt cx="5708652" cy="13732935"/>
          </a:xfrm>
        </p:grpSpPr>
        <p:sp>
          <p:nvSpPr>
            <p:cNvPr id="11" name="Freeform 11"/>
            <p:cNvSpPr/>
            <p:nvPr/>
          </p:nvSpPr>
          <p:spPr>
            <a:xfrm>
              <a:off x="0" y="0"/>
              <a:ext cx="5708650" cy="13732890"/>
            </a:xfrm>
            <a:custGeom>
              <a:avLst/>
              <a:gdLst/>
              <a:ahLst/>
              <a:cxnLst/>
              <a:rect l="l" t="t" r="r" b="b"/>
              <a:pathLst>
                <a:path w="5708650" h="13732890">
                  <a:moveTo>
                    <a:pt x="0" y="0"/>
                  </a:moveTo>
                  <a:lnTo>
                    <a:pt x="5708650" y="0"/>
                  </a:lnTo>
                  <a:lnTo>
                    <a:pt x="5708650" y="13732890"/>
                  </a:lnTo>
                  <a:lnTo>
                    <a:pt x="4941443" y="13732890"/>
                  </a:lnTo>
                  <a:lnTo>
                    <a:pt x="0" y="0"/>
                  </a:lnTo>
                  <a:close/>
                </a:path>
              </a:pathLst>
            </a:custGeom>
            <a:solidFill>
              <a:srgbClr val="66DBFF">
                <a:alpha val="24706"/>
              </a:srgbClr>
            </a:solidFill>
          </p:spPr>
        </p:sp>
      </p:grpSp>
      <p:grpSp>
        <p:nvGrpSpPr>
          <p:cNvPr id="12" name="Group 12"/>
          <p:cNvGrpSpPr/>
          <p:nvPr/>
        </p:nvGrpSpPr>
        <p:grpSpPr>
          <a:xfrm>
            <a:off x="16348095" y="-12700"/>
            <a:ext cx="1935141" cy="10299701"/>
            <a:chOff x="0" y="0"/>
            <a:chExt cx="2580188" cy="13732935"/>
          </a:xfrm>
        </p:grpSpPr>
        <p:sp>
          <p:nvSpPr>
            <p:cNvPr id="13" name="Freeform 13"/>
            <p:cNvSpPr/>
            <p:nvPr/>
          </p:nvSpPr>
          <p:spPr>
            <a:xfrm>
              <a:off x="0" y="0"/>
              <a:ext cx="2580259" cy="13732890"/>
            </a:xfrm>
            <a:custGeom>
              <a:avLst/>
              <a:gdLst/>
              <a:ahLst/>
              <a:cxnLst/>
              <a:rect l="l" t="t" r="r" b="b"/>
              <a:pathLst>
                <a:path w="2580259" h="13732890">
                  <a:moveTo>
                    <a:pt x="2039493" y="0"/>
                  </a:moveTo>
                  <a:lnTo>
                    <a:pt x="2580259" y="0"/>
                  </a:lnTo>
                  <a:lnTo>
                    <a:pt x="2580259" y="13732890"/>
                  </a:lnTo>
                  <a:lnTo>
                    <a:pt x="0" y="13732890"/>
                  </a:lnTo>
                  <a:lnTo>
                    <a:pt x="2039493" y="0"/>
                  </a:lnTo>
                  <a:close/>
                </a:path>
              </a:pathLst>
            </a:custGeom>
            <a:solidFill>
              <a:srgbClr val="F49728">
                <a:alpha val="48627"/>
              </a:srgbClr>
            </a:solidFill>
          </p:spPr>
        </p:sp>
      </p:grpSp>
      <p:grpSp>
        <p:nvGrpSpPr>
          <p:cNvPr id="14" name="Group 14"/>
          <p:cNvGrpSpPr/>
          <p:nvPr/>
        </p:nvGrpSpPr>
        <p:grpSpPr>
          <a:xfrm>
            <a:off x="16408499" y="-12700"/>
            <a:ext cx="1874737" cy="10299701"/>
            <a:chOff x="0" y="0"/>
            <a:chExt cx="2499650" cy="13732935"/>
          </a:xfrm>
        </p:grpSpPr>
        <p:sp>
          <p:nvSpPr>
            <p:cNvPr id="15" name="Freeform 15"/>
            <p:cNvSpPr/>
            <p:nvPr/>
          </p:nvSpPr>
          <p:spPr>
            <a:xfrm>
              <a:off x="0" y="0"/>
              <a:ext cx="2499614" cy="13732890"/>
            </a:xfrm>
            <a:custGeom>
              <a:avLst/>
              <a:gdLst/>
              <a:ahLst/>
              <a:cxnLst/>
              <a:rect l="l" t="t" r="r" b="b"/>
              <a:pathLst>
                <a:path w="2499614" h="13732890">
                  <a:moveTo>
                    <a:pt x="0" y="0"/>
                  </a:moveTo>
                  <a:lnTo>
                    <a:pt x="2499614" y="0"/>
                  </a:lnTo>
                  <a:lnTo>
                    <a:pt x="2499614" y="13732890"/>
                  </a:lnTo>
                  <a:lnTo>
                    <a:pt x="2218817" y="13732890"/>
                  </a:lnTo>
                  <a:lnTo>
                    <a:pt x="0" y="0"/>
                  </a:lnTo>
                  <a:close/>
                </a:path>
              </a:pathLst>
            </a:custGeom>
            <a:solidFill>
              <a:srgbClr val="FFFFFF">
                <a:alpha val="63922"/>
              </a:srgbClr>
            </a:solidFill>
          </p:spPr>
        </p:sp>
      </p:grpSp>
      <p:grpSp>
        <p:nvGrpSpPr>
          <p:cNvPr id="16" name="Group 16"/>
          <p:cNvGrpSpPr/>
          <p:nvPr/>
        </p:nvGrpSpPr>
        <p:grpSpPr>
          <a:xfrm>
            <a:off x="15557499" y="5384801"/>
            <a:ext cx="2725738" cy="4902200"/>
            <a:chOff x="0" y="0"/>
            <a:chExt cx="3634318" cy="6536266"/>
          </a:xfrm>
        </p:grpSpPr>
        <p:sp>
          <p:nvSpPr>
            <p:cNvPr id="17" name="Freeform 17"/>
            <p:cNvSpPr/>
            <p:nvPr/>
          </p:nvSpPr>
          <p:spPr>
            <a:xfrm>
              <a:off x="0" y="0"/>
              <a:ext cx="3634359" cy="6536309"/>
            </a:xfrm>
            <a:custGeom>
              <a:avLst/>
              <a:gdLst/>
              <a:ahLst/>
              <a:cxnLst/>
              <a:rect l="l" t="t" r="r" b="b"/>
              <a:pathLst>
                <a:path w="3634359" h="6536309">
                  <a:moveTo>
                    <a:pt x="0" y="6536309"/>
                  </a:moveTo>
                  <a:lnTo>
                    <a:pt x="3634359" y="0"/>
                  </a:lnTo>
                  <a:lnTo>
                    <a:pt x="3634359" y="6536309"/>
                  </a:lnTo>
                  <a:close/>
                </a:path>
              </a:pathLst>
            </a:custGeom>
            <a:solidFill>
              <a:srgbClr val="66DBFF">
                <a:alpha val="43529"/>
              </a:srgbClr>
            </a:solidFill>
          </p:spPr>
        </p:sp>
      </p:grpSp>
      <p:grpSp>
        <p:nvGrpSpPr>
          <p:cNvPr id="18" name="Group 18"/>
          <p:cNvGrpSpPr/>
          <p:nvPr/>
        </p:nvGrpSpPr>
        <p:grpSpPr>
          <a:xfrm>
            <a:off x="0" y="6019801"/>
            <a:ext cx="673100" cy="4267200"/>
            <a:chOff x="0" y="0"/>
            <a:chExt cx="897466" cy="5689600"/>
          </a:xfrm>
        </p:grpSpPr>
        <p:sp>
          <p:nvSpPr>
            <p:cNvPr id="19" name="Freeform 19"/>
            <p:cNvSpPr/>
            <p:nvPr/>
          </p:nvSpPr>
          <p:spPr>
            <a:xfrm>
              <a:off x="0" y="0"/>
              <a:ext cx="897509" cy="5689600"/>
            </a:xfrm>
            <a:custGeom>
              <a:avLst/>
              <a:gdLst/>
              <a:ahLst/>
              <a:cxnLst/>
              <a:rect l="l" t="t" r="r" b="b"/>
              <a:pathLst>
                <a:path w="897509" h="5689600">
                  <a:moveTo>
                    <a:pt x="0" y="5689600"/>
                  </a:moveTo>
                  <a:lnTo>
                    <a:pt x="0" y="0"/>
                  </a:lnTo>
                  <a:lnTo>
                    <a:pt x="897509" y="5689600"/>
                  </a:lnTo>
                  <a:close/>
                </a:path>
              </a:pathLst>
            </a:custGeom>
            <a:solidFill>
              <a:srgbClr val="007744">
                <a:alpha val="48627"/>
              </a:srgbClr>
            </a:solidFill>
          </p:spPr>
        </p:sp>
      </p:grpSp>
      <p:grpSp>
        <p:nvGrpSpPr>
          <p:cNvPr id="20" name="Group 20"/>
          <p:cNvGrpSpPr/>
          <p:nvPr/>
        </p:nvGrpSpPr>
        <p:grpSpPr>
          <a:xfrm>
            <a:off x="478207" y="251719"/>
            <a:ext cx="5761174" cy="1088838"/>
            <a:chOff x="0" y="0"/>
            <a:chExt cx="7681565" cy="1451784"/>
          </a:xfrm>
        </p:grpSpPr>
        <p:sp>
          <p:nvSpPr>
            <p:cNvPr id="21" name="Freeform 21"/>
            <p:cNvSpPr/>
            <p:nvPr/>
          </p:nvSpPr>
          <p:spPr>
            <a:xfrm>
              <a:off x="0" y="0"/>
              <a:ext cx="7681595" cy="1451737"/>
            </a:xfrm>
            <a:custGeom>
              <a:avLst/>
              <a:gdLst/>
              <a:ahLst/>
              <a:cxnLst/>
              <a:rect l="l" t="t" r="r" b="b"/>
              <a:pathLst>
                <a:path w="7681595" h="1451737">
                  <a:moveTo>
                    <a:pt x="0" y="0"/>
                  </a:moveTo>
                  <a:lnTo>
                    <a:pt x="7681595" y="0"/>
                  </a:lnTo>
                  <a:lnTo>
                    <a:pt x="7681595" y="1451737"/>
                  </a:lnTo>
                  <a:lnTo>
                    <a:pt x="0" y="1451737"/>
                  </a:lnTo>
                  <a:lnTo>
                    <a:pt x="0" y="0"/>
                  </a:lnTo>
                  <a:close/>
                </a:path>
              </a:pathLst>
            </a:custGeom>
            <a:blipFill>
              <a:blip r:embed="rId2"/>
              <a:stretch>
                <a:fillRect t="-2789" b="-2793"/>
              </a:stretch>
            </a:blipFill>
          </p:spPr>
        </p:sp>
      </p:grpSp>
      <p:sp>
        <p:nvSpPr>
          <p:cNvPr id="22" name="Freeform 22"/>
          <p:cNvSpPr/>
          <p:nvPr/>
        </p:nvSpPr>
        <p:spPr>
          <a:xfrm>
            <a:off x="5968520" y="4314055"/>
            <a:ext cx="5970671" cy="5970671"/>
          </a:xfrm>
          <a:custGeom>
            <a:avLst/>
            <a:gdLst/>
            <a:ahLst/>
            <a:cxnLst/>
            <a:rect l="l" t="t" r="r" b="b"/>
            <a:pathLst>
              <a:path w="5970671" h="5970671">
                <a:moveTo>
                  <a:pt x="0" y="0"/>
                </a:moveTo>
                <a:lnTo>
                  <a:pt x="5970671" y="0"/>
                </a:lnTo>
                <a:lnTo>
                  <a:pt x="5970671" y="5970671"/>
                </a:lnTo>
                <a:lnTo>
                  <a:pt x="0" y="5970671"/>
                </a:lnTo>
                <a:lnTo>
                  <a:pt x="0" y="0"/>
                </a:lnTo>
                <a:close/>
              </a:path>
            </a:pathLst>
          </a:custGeom>
          <a:blipFill>
            <a:blip r:embed="rId3"/>
            <a:stretch>
              <a:fillRect/>
            </a:stretch>
          </a:blipFill>
        </p:spPr>
      </p:sp>
      <p:sp>
        <p:nvSpPr>
          <p:cNvPr id="23" name="TextBox 23"/>
          <p:cNvSpPr txBox="1"/>
          <p:nvPr/>
        </p:nvSpPr>
        <p:spPr>
          <a:xfrm>
            <a:off x="5647818" y="2205365"/>
            <a:ext cx="6992364" cy="1862137"/>
          </a:xfrm>
          <a:prstGeom prst="rect">
            <a:avLst/>
          </a:prstGeom>
        </p:spPr>
        <p:txBody>
          <a:bodyPr lIns="0" tIns="0" rIns="0" bIns="0" rtlCol="0" anchor="t">
            <a:spAutoFit/>
          </a:bodyPr>
          <a:lstStyle/>
          <a:p>
            <a:pPr algn="l">
              <a:lnSpc>
                <a:spcPts val="7200"/>
              </a:lnSpc>
            </a:pPr>
            <a:r>
              <a:rPr lang="en-US" sz="6000" b="1" u="sng">
                <a:solidFill>
                  <a:srgbClr val="007744"/>
                </a:solidFill>
                <a:latin typeface="Public Sans Bold"/>
                <a:ea typeface="Public Sans Bold"/>
                <a:cs typeface="Public Sans Bold"/>
                <a:sym typeface="Public Sans Bold"/>
              </a:rPr>
              <a:t>Any questions about Earnalytics?</a:t>
            </a:r>
          </a:p>
        </p:txBody>
      </p:sp>
      <p:sp>
        <p:nvSpPr>
          <p:cNvPr id="24" name="TextBox 24"/>
          <p:cNvSpPr txBox="1"/>
          <p:nvPr/>
        </p:nvSpPr>
        <p:spPr>
          <a:xfrm>
            <a:off x="5647818" y="4505326"/>
            <a:ext cx="6992364" cy="507841"/>
          </a:xfrm>
          <a:prstGeom prst="rect">
            <a:avLst/>
          </a:prstGeom>
        </p:spPr>
        <p:txBody>
          <a:bodyPr lIns="0" tIns="0" rIns="0" bIns="0" rtlCol="0" anchor="t">
            <a:spAutoFit/>
          </a:bodyPr>
          <a:lstStyle/>
          <a:p>
            <a:pPr algn="l">
              <a:lnSpc>
                <a:spcPts val="3640"/>
              </a:lnSpc>
            </a:pPr>
            <a:r>
              <a:rPr lang="en-US" sz="2600">
                <a:solidFill>
                  <a:srgbClr val="007744"/>
                </a:solidFill>
                <a:latin typeface="Public Sans"/>
                <a:ea typeface="Public Sans"/>
                <a:cs typeface="Public Sans"/>
                <a:sym typeface="Public Sans"/>
              </a:rPr>
              <a:t>We’d love to hear your thoughts and insights!</a:t>
            </a:r>
          </a:p>
        </p:txBody>
      </p:sp>
    </p:spTree>
    <p:extLst>
      <p:ext uri="{BB962C8B-B14F-4D97-AF65-F5344CB8AC3E}">
        <p14:creationId xmlns:p14="http://schemas.microsoft.com/office/powerpoint/2010/main" val="4008920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682</TotalTime>
  <Words>632</Words>
  <Application>Microsoft Office PowerPoint</Application>
  <PresentationFormat>Custom</PresentationFormat>
  <Paragraphs>91</Paragraphs>
  <Slides>13</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Didact Gothic</vt:lpstr>
      <vt:lpstr>Palatino Linotype</vt:lpstr>
      <vt:lpstr>Arial</vt:lpstr>
      <vt:lpstr>Public Sans Bold</vt:lpstr>
      <vt:lpstr>NSimSun</vt:lpstr>
      <vt:lpstr>Calibri</vt:lpstr>
      <vt:lpstr>Public Sans</vt:lpstr>
      <vt:lpstr>Cardo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Earnalytics.pptx</dc:title>
  <cp:lastModifiedBy>user</cp:lastModifiedBy>
  <cp:revision>7</cp:revision>
  <dcterms:created xsi:type="dcterms:W3CDTF">2006-08-16T00:00:00Z</dcterms:created>
  <dcterms:modified xsi:type="dcterms:W3CDTF">2025-10-20T13:03:01Z</dcterms:modified>
  <dc:identifier>DAG2RkdYa1M</dc:identifier>
</cp:coreProperties>
</file>